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0.xml"/><Relationship Id="rId5" Type="http://schemas.openxmlformats.org/officeDocument/2006/relationships/slide" Target="slide26.xml"/><Relationship Id="rId6" Type="http://schemas.openxmlformats.org/officeDocument/2006/relationships/slide" Target="slide34.xml"/><Relationship Id="rId7" Type="http://schemas.openxmlformats.org/officeDocument/2006/relationships/slide" Target="slide37.xml"/><Relationship Id="rId8" Type="http://schemas.openxmlformats.org/officeDocument/2006/relationships/slide" Target="slide45.xml"/><Relationship Id="rId9" Type="http://schemas.openxmlformats.org/officeDocument/2006/relationships/slide" Target="slide49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6.png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7.png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9.png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0.xml"/><Relationship Id="rId5" Type="http://schemas.openxmlformats.org/officeDocument/2006/relationships/slide" Target="slide26.xml"/><Relationship Id="rId6" Type="http://schemas.openxmlformats.org/officeDocument/2006/relationships/slide" Target="slide34.xml"/><Relationship Id="rId7" Type="http://schemas.openxmlformats.org/officeDocument/2006/relationships/slide" Target="slide37.xml"/><Relationship Id="rId8" Type="http://schemas.openxmlformats.org/officeDocument/2006/relationships/slide" Target="slide45.xml"/><Relationship Id="rId9" Type="http://schemas.openxmlformats.org/officeDocument/2006/relationships/slide" Target="slide49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0.png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9.xml"/><Relationship Id="rId5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1.png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1.xml"/><Relationship Id="rId5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2.png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3.xml"/><Relationship Id="rId5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3.png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4.png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5.png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6.png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7.png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4.xml"/><Relationship Id="rId7" Type="http://schemas.openxmlformats.org/officeDocument/2006/relationships/slide" Target="slide37.xml"/><Relationship Id="rId8" Type="http://schemas.openxmlformats.org/officeDocument/2006/relationships/slide" Target="slide45.xml"/><Relationship Id="rId9" Type="http://schemas.openxmlformats.org/officeDocument/2006/relationships/slide" Target="slide49.xml"/><Relationship Id="rId10" Type="http://schemas.openxmlformats.org/officeDocument/2006/relationships/slide" Target="slide19.xml"/><Relationship Id="rId11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8.png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9.png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0.png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1.png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2.png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34.xml"/><Relationship Id="rId7" Type="http://schemas.openxmlformats.org/officeDocument/2006/relationships/slide" Target="slide37.xml"/><Relationship Id="rId8" Type="http://schemas.openxmlformats.org/officeDocument/2006/relationships/slide" Target="slide45.xml"/><Relationship Id="rId9" Type="http://schemas.openxmlformats.org/officeDocument/2006/relationships/slide" Target="slide49.xml"/><Relationship Id="rId10" Type="http://schemas.openxmlformats.org/officeDocument/2006/relationships/slide" Target="slide25.xml"/><Relationship Id="rId11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3.png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4.png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5.png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6.png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7.png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8.png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6.xml"/><Relationship Id="rId7" Type="http://schemas.openxmlformats.org/officeDocument/2006/relationships/slide" Target="slide37.xml"/><Relationship Id="rId8" Type="http://schemas.openxmlformats.org/officeDocument/2006/relationships/slide" Target="slide45.xml"/><Relationship Id="rId9" Type="http://schemas.openxmlformats.org/officeDocument/2006/relationships/slide" Target="slide49.xml"/><Relationship Id="rId10" Type="http://schemas.openxmlformats.org/officeDocument/2006/relationships/slide" Target="slide33.xml"/><Relationship Id="rId11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9.png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0.png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6.xml"/><Relationship Id="rId7" Type="http://schemas.openxmlformats.org/officeDocument/2006/relationships/slide" Target="slide34.xml"/><Relationship Id="rId8" Type="http://schemas.openxmlformats.org/officeDocument/2006/relationships/slide" Target="slide45.xml"/><Relationship Id="rId9" Type="http://schemas.openxmlformats.org/officeDocument/2006/relationships/slide" Target="slide49.xml"/><Relationship Id="rId10" Type="http://schemas.openxmlformats.org/officeDocument/2006/relationships/slide" Target="slide36.xml"/><Relationship Id="rId11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1.png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2.png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3.png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4.png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5.png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6.png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7.png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6.xml"/><Relationship Id="rId7" Type="http://schemas.openxmlformats.org/officeDocument/2006/relationships/slide" Target="slide34.xml"/><Relationship Id="rId8" Type="http://schemas.openxmlformats.org/officeDocument/2006/relationships/slide" Target="slide37.xml"/><Relationship Id="rId9" Type="http://schemas.openxmlformats.org/officeDocument/2006/relationships/slide" Target="slide49.xml"/><Relationship Id="rId10" Type="http://schemas.openxmlformats.org/officeDocument/2006/relationships/slide" Target="slide44.xml"/><Relationship Id="rId11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8.png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9.png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0.png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6.xml"/><Relationship Id="rId7" Type="http://schemas.openxmlformats.org/officeDocument/2006/relationships/slide" Target="slide34.xml"/><Relationship Id="rId8" Type="http://schemas.openxmlformats.org/officeDocument/2006/relationships/slide" Target="slide37.xml"/><Relationship Id="rId9" Type="http://schemas.openxmlformats.org/officeDocument/2006/relationships/slide" Target="slide45.xml"/><Relationship Id="rId10" Type="http://schemas.openxmlformats.org/officeDocument/2006/relationships/slide" Target="slide48.xml"/><Relationship Id="rId11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1.png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2.png"/><Relationship Id="rId5" Type="http://schemas.openxmlformats.org/officeDocument/2006/relationships/slide" Target="slide50.xml"/><Relationship Id="rId6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3.png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Calibri"/>
              </a:rPr>
              <a:t>PROTEZIONE CIVILE — GENZANO DI ROMA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Il sito istituzionale:
struttura e contenuti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Calibri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Calibri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01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02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03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04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05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06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07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Un'estensione digitale del Servizio Nazionale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Calibri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inoculars-fill_003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Calibri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Scenari e monitoraggio del rischio.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hield-check_1580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Calibri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Riduzione del rischio e autoprotezione.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rt-pulse-fill_b45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Calibri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Supporto alla popolazione durante l'evento.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arrow-repeat_0759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Calibri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Assistenza e ripristino dopo l'evento.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Riferimenti: D.Lgs. 1/2018 · Direttiva PCM 30 aprile 2021.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8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Una piattaforma per l'intera comunità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Famiglie e cittadini; anziani e persone fragili.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Persone con disabilità sensoriali, cognitive e motorie.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Scuole e studenti; volontari e operatori.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Progettazione mobile-first: consultabile in movimento e in condizioni critiche.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Principi guida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Affidabilità e correttezza istituzionale prima di tutto.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Accessibilità universale, con le WCAG 2.2 AA come soglia minima.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Chiarezza per il cittadino e sobrietà del linguaggio.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Ogni dato è verificato e accompagnato dalla sua fonte.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Conformità e standard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Linee guida di design AgID e design system Bootstrap Italia / Designers Italia.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Accessibilità WCAG 2.2 AA; Legge Stanca (L. 4/2004) e D.Lgs. 106/2018.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Codice della Protezione Civile e direttive 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Standard internazionali ISO per la gestione delle emergenze e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AgID · W3C · DPC · ISO/TC 292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Architettura dell'informazione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Sette aree principali: Per il Cittadino, Per le Scuole, Accessibilità e Supporti.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Volontariato, Risorse, Comunicazioni, Contatti.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Struttura piatta: ogni risorsa critica raggiungibile in pochi clic.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Ricerca interna, mappa del sito e codici QR per l'accesso rapido.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01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Cosa fare adesso e assistente guidato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Pagina d'ingresso rapida alle azioni di autoprotezione.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Assistente guidato a domande e risposte predefinite, lungo un percorso a scelte.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Indirizza al comportamento corretto in pochi passaggi.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Sempre il richiamo al 112 per le emergenze reali.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Allerte meteo e codici colore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Calibri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Nessuna allerta — situazione ordinaria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Calibri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Calibri"/>
              </a:rPr>
              <a:t>Allerta ordinaria — fenomeni di intensità moderata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Allerta elevata — fenomeni intensi, effetti rilevanti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Allerta massima — fenomeni molto intensi, rischio elevato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Fonte: Centro Funzionale Regionale del Lazio · standard ISO 22324.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4" action="ppaction://hlinksldjump"/>
              </a:rPr>
              <a:t>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Modalità emergenza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 emergenza il sito mostra un avviso ben visibile su ogni pagina.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Pagina di emergenza ultraleggera per rete debole o congestionata.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Informazioni essenziali e numeri utili messi in primo piano.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Progettata per i momenti di reale criticità.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Cruscotto del territorio — dati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Calibri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INGV (sismica, vulcani)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Calibri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ItaliaMeteo, EUMETSAT, Copernicus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Calibri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DPC, ARPA Lazio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Calibri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Calibri"/>
              </a:rPr>
              <a:t>Dati aperti (CC BY 4.0)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Verde — nessuna allerta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Calibri"/>
              </a:rPr>
              <a:t>Giallo — ordinaria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Arancione — elevata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Rosso — massima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Fonti: INGV · DPC · ItaliaMeteo · EUMETSAT · Copernicus · ARPA Lazio. Codici colore: Centro Funzionale Regionale del Lazio (ISO 22324).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4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Cruscotto — le fonti dei dati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INGV per la sismicità e i vulcani; Dipartimento della Protezione Civile per il radar pioggia.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ItaliaMeteo (modello ICON-2I) ed EUMETSAT per previsioni e satellite.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EFFIS / Copernicus per gli incendi; ARPA Lazio per la qualità dell'aria.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Rischio sismico comunale dalla piattaforma SicuroPiù.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INGV · DPC · ItaliaMeteo · EUMETSAT · Copernicus · ARPA Lazio · EUCENTRE/ReLUIS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Rischi e prevenzione — copertura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Calibri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06040"/>
            <a:ext cx="2606040" cy="132588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Sismico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2606040"/>
            <a:ext cx="2606040" cy="1325880"/>
          </a:xfrm>
          <a:prstGeom prst="roundRect">
            <a:avLst/>
          </a:prstGeom>
          <a:solidFill>
            <a:srgbClr val="0369A1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Idrogeologico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2606040"/>
            <a:ext cx="2606040" cy="1325880"/>
          </a:xfrm>
          <a:prstGeom prst="roundRect">
            <a:avLst/>
          </a:prstGeom>
          <a:solidFill>
            <a:srgbClr val="C1121F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Incendi boschivi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9136" y="2606040"/>
            <a:ext cx="2606040" cy="132588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Ondate di calore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06240"/>
            <a:ext cx="2606040" cy="1325880"/>
          </a:xfrm>
          <a:prstGeom prst="roundRect">
            <a:avLst/>
          </a:prstGeom>
          <a:solidFill>
            <a:srgbClr val="0E7490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Vento forte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4206240"/>
            <a:ext cx="2606040" cy="13258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Temporali intensi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4206240"/>
            <a:ext cx="2606040" cy="13258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Blackout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4206240"/>
            <a:ext cx="2606040" cy="1325880"/>
          </a:xfrm>
          <a:prstGeom prst="roundRect">
            <a:avLst/>
          </a:prstGeom>
          <a:solidFill>
            <a:srgbClr val="7F1D1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Vulcanico (Colli Albani)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Fonti: DPC «Io non rischio» · INGV · ISPRA · CNR.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4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Cartografia e aree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Mappa delle aree di attesa e di emergenza comunali.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Riferimento diretto al Piano di Emergenza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Orientamento immediato per il cittadino.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Numeri utili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Numero Unico di Emergenza 112 sempre in evidenza.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Numeri di servizio per le segnalazioni non urgenti.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Indicazioni chiare su quando e chi chiamare.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Piano familiare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Guida passo-passo per preparare il nucleo domestico.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Versione compilabile e stampabile.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Punti di ritrovo, contatti e kit essenziale.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Kit pronti per situazioni vulnerabili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Materiali stampabili pronti all'uso.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Riferimenti a standard internazionali di assistenza umanitaria.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IFRC · WHO · Sphere Handbook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Storia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Cronologia degli eventi rilevanti dei Castelli Romani.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Ogni voce è corredata da fonte istituzionale.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La memoria come strumento di consapevolezza del rischio.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02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Kit didattici per fascia scolastica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Materiali per infanzia, primaria, secondaria di primo e di secondo grado.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Linguaggio e attività calibrati per ogni età.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Coerenti con l'insegnamento dell'Educazione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Percorsi didattici ed Educazione Civica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Percorsi pronti all'uso per i docenti.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Collegamento esplicito all'Educazione Civica.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Obiettivo: cultura della prevenzione fin da piccoli.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Schede didattiche stampabili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Schede fotocopiabili per le attività in classe.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Organizzate per livello scolastico.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Pronte all'uso, scaricabili e riproducibili liberamente.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Storie e racconti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Narrazioni illustrate sulla sicurezza per i più piccoli.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Disponibili in lettura accessibile e in 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Avvicinano i bambini ai comportamenti corretti con il racconto.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Giochi della sicurezza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Giochi educativi divisi per fascia d'età.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 comportamenti corretti si imparano attraverso il gioco.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Supporto e teoria di rinforzo integrati.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03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Conformità WCAG 2.2 AA e barra strumenti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Sito conforme alle WCAG 2.2 di livello AA.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Barra strumenti di lettura: dimensione del testo, contrasti, caratteri ad alta leggibilità.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Pausa delle animazioni, spaziatura ampia, modalità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W3C WCAG 2.2 · Legge Stanca (L. 4/2004)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Lettura facilitata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Lettura ad alta voce dei contenuti.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Tempo di lettura stimato e sillabazione automatica.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Glossario esplicativo a comparsa sui termini tecnici e le sigle.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Pittogrammi standardizzati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Simboli ISO 7010 per la segnaletica di sicurezza.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Pittogrammi ARASAAC per la comprensione cognitiva.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Supporto a bambini, anziani e persone con difficoltà di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ISO 7010 · ARASAAC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Versione in italiano semplice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Riscrittura dei contenuti in linguaggio piano (livello A2).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 parlanti italiano come seconda lingua e per la lettura facilitata.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Sempre affiancata all'articolo completo.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Contenuti in Lingua dei Segni (LIS)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Glossari e contenuti in Lingua dei Segni Italiana.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 canale di accesso dedicato alle persone sorde.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Termini chiave del rischio spiegati in forma visiva.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Versione in Braille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Versione stampabile in Braille degli articoli.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Compatibile con le stampanti braille (formato BRF).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 canale dedicato a persone cieche e ipovedenti.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Versioni in più lingue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Contenuti chiave tradotti in più lingue.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 residenti stranieri e visitatori.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Lingua dichiarata correttamente anche per gli assistenti vocali.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04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Diventa volontario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Come unirsi al Gruppo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Attività, formazione e impegno richiesto.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 valore del volontariato per la comunità.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Chi siamo nel sistema di Protezione Civile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Calibri"/>
              </a:rPr>
              <a:t>D.Lgs. 1/2018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Calibri"/>
              </a:rPr>
              <a:t>Federazione Pronto Intervento Volontariato ODV — volontariato di PC del Lazio</a:t>
            </a:r>
          </a:p>
        </p:txBody>
      </p:sp>
      <p:pic>
        <p:nvPicPr>
          <p:cNvPr id="14" name="Picture 13" descr="logo-fepiv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5" name="Down Arrow 14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Calibri"/>
              </a:rPr>
              <a:t>Sede operativa: Via Sicilia 13-15</a:t>
            </a:r>
          </a:p>
        </p:txBody>
      </p:sp>
      <p:pic>
        <p:nvPicPr>
          <p:cNvPr id="17" name="Picture 16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05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FAQ e Glossario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Risposte alle domande frequenti dei cittadini.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Glossario dei termini e delle sigle della Protezione Civile.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Definizioni chiare, anche a comparsa sui termini tecnici nelle pagine.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Normativa e Standard 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Raccolta della normativa nazionale, regionale e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Schede degli standard internazionali ISO rilevanti per la materia.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Dalla legge nazionale fino al livello comunale e internazionale.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Normattiva · BURL Lazio · ISO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Area download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Documenti ufficiali e modulistica scaricabili.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 ogni file sono indicati formato e dimensione (accessibilità).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 punto unico per atti, piani e materiali del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Strumenti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Hub dei servizi di monitoraggio del territorio.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Meteo, sismico, idrogeologico, incendi, qualità dell'aria, viabilità.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Collegamenti diretti alle fonti ufficiali aggiornate.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Audio e podcast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Contenuti ascoltabili per chi preferisce l'ascolto.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Maggiore accessibilità all'informazione.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Utili per anziani, ipovedenti e chi è in movimento.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Open data e stato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Dati aperti riutilizzabili dalla cittadinanza.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Pagina di trasparenza sullo stato tecnico del sito.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Riuso libero, secondo il principio di trasparenza della PA.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Pagine legali e trasparenza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Privacy, note legali, dichiarazione di accessibilità, social media policy.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Data di revisione sempre indicata.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Conformità agli obblighi di trasparenza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06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Comunicazioni e notizie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Sezione informativa costantemente aggiornata.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Distinzione chiara tra informazione, prevenzione, allerta ed emergenza.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Ogni avviso rimanda alla fonte ufficiale di riferimento.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Comunicazione di crisi e social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Social media policy pubblica.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Struttura dei messaggi secondo standard internazionali.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Contrasto alla disinformazione con fonti ufficiali.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ISO 22329 · CWA CEN/CENELEC · EENA (112)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Canali di aggiornamento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Feed RSS per ogni sezione.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Codici QR sugli articoli per l'accesso rapido.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Condivisione semplice e senza tracciamento.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07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Infrastruttura, sicurezza e prestazioni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Sito statico ad alte prestazioni, servito in HTTPS.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Nessun cookie di profilazione: approccio privacy-first.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Pubblicazione su doppio ambiente per la continuità del servizio.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Contenuti documentabili anche in caso di audit esterno.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Fonti e dati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Istituzioni: DPC, INGV, ISPRA, CNR, ItaliaMeteo, EUMETSAT, Copernicus, ARPA Lazio, ASL Roma 6.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Standard: WCAG 2.2; ISO 22320, 22324, 22329, 31000, 7010, 14090.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Normativa: D.Lgs. 1/2018, Direttiva PCM 30/4/2021, Circolare DPC 6/8/2018, Legge Stanca.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Design e linguaggio: AgID, Designers Italia, Bootstrap Italia.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Punti di forza in sintesi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Accessibilità reale e multicanale: vista, udito, lingua, cognizione.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Dati sempre verificati e con fonte dichiarata.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Coerenza con le prassi ufficiali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Uno strumento di servizio pubblico, sobrio e affidabile.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Calibri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Calibri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Calibri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