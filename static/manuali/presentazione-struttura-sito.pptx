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8.xml"/><Relationship Id="rId4" Type="http://schemas.openxmlformats.org/officeDocument/2006/relationships/slide" Target="slide27.xml"/><Relationship Id="rId5" Type="http://schemas.openxmlformats.org/officeDocument/2006/relationships/slide" Target="slide38.xml"/><Relationship Id="rId6" Type="http://schemas.openxmlformats.org/officeDocument/2006/relationships/slide" Target="slide46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1.xml"/><Relationship Id="rId11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slide" Target="slide2.xml"/><Relationship Id="rId5" Type="http://schemas.openxmlformats.org/officeDocument/2006/relationships/slide" Target="slide3.xml"/><Relationship Id="rId6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slide" Target="slide2.xml"/><Relationship Id="rId5" Type="http://schemas.openxmlformats.org/officeDocument/2006/relationships/slide" Target="slide4.xml"/><Relationship Id="rId6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5.xml"/><Relationship Id="rId6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6.xml"/><Relationship Id="rId6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27.xml"/><Relationship Id="rId5" Type="http://schemas.openxmlformats.org/officeDocument/2006/relationships/slide" Target="slide38.xml"/><Relationship Id="rId6" Type="http://schemas.openxmlformats.org/officeDocument/2006/relationships/slide" Target="slide46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7.xml"/><Relationship Id="rId11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slide" Target="slide2.xml"/><Relationship Id="rId5" Type="http://schemas.openxmlformats.org/officeDocument/2006/relationships/slide" Target="slide8.xml"/><Relationship Id="rId6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slide" Target="slide2.xml"/><Relationship Id="rId5" Type="http://schemas.openxmlformats.org/officeDocument/2006/relationships/slide" Target="slide9.xml"/><Relationship Id="rId6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10.xml"/><Relationship Id="rId6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11.xml"/><Relationship Id="rId6" Type="http://schemas.openxmlformats.org/officeDocument/2006/relationships/slide" Target="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Relationship Id="rId4" Type="http://schemas.openxmlformats.org/officeDocument/2006/relationships/slide" Target="slide2.xml"/><Relationship Id="rId5" Type="http://schemas.openxmlformats.org/officeDocument/2006/relationships/slide" Target="slide12.xml"/><Relationship Id="rId6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slide" Target="slide2.xml"/><Relationship Id="rId5" Type="http://schemas.openxmlformats.org/officeDocument/2006/relationships/slide" Target="slide13.xml"/><Relationship Id="rId6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4.xml"/><Relationship Id="rId6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slide" Target="slide2.xml"/><Relationship Id="rId5" Type="http://schemas.openxmlformats.org/officeDocument/2006/relationships/slide" Target="slide15.xml"/><Relationship Id="rId6" Type="http://schemas.openxmlformats.org/officeDocument/2006/relationships/slide" Target="slide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Relationship Id="rId4" Type="http://schemas.openxmlformats.org/officeDocument/2006/relationships/slide" Target="slide2.xml"/><Relationship Id="rId5" Type="http://schemas.openxmlformats.org/officeDocument/2006/relationships/slide" Target="slide16.xml"/><Relationship Id="rId6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Relationship Id="rId4" Type="http://schemas.openxmlformats.org/officeDocument/2006/relationships/slide" Target="slide2.xml"/><Relationship Id="rId5" Type="http://schemas.openxmlformats.org/officeDocument/2006/relationships/slide" Target="slide17.xml"/><Relationship Id="rId6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slide" Target="slide2.xml"/><Relationship Id="rId5" Type="http://schemas.openxmlformats.org/officeDocument/2006/relationships/slide" Target="slide18.xml"/><Relationship Id="rId6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slide" Target="slide2.xml"/><Relationship Id="rId5" Type="http://schemas.openxmlformats.org/officeDocument/2006/relationships/slide" Target="slide19.xml"/><Relationship Id="rId6" Type="http://schemas.openxmlformats.org/officeDocument/2006/relationships/slide" Target="slide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slide" Target="slide2.xml"/><Relationship Id="rId5" Type="http://schemas.openxmlformats.org/officeDocument/2006/relationships/slide" Target="slide20.xml"/><Relationship Id="rId6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slide" Target="slide2.xml"/><Relationship Id="rId5" Type="http://schemas.openxmlformats.org/officeDocument/2006/relationships/slide" Target="slide21.xml"/><Relationship Id="rId6" Type="http://schemas.openxmlformats.org/officeDocument/2006/relationships/slide" Target="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2.xml"/><Relationship Id="rId6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Relationship Id="rId4" Type="http://schemas.openxmlformats.org/officeDocument/2006/relationships/slide" Target="slide2.xml"/><Relationship Id="rId5" Type="http://schemas.openxmlformats.org/officeDocument/2006/relationships/slide" Target="slide23.xml"/><Relationship Id="rId6" Type="http://schemas.openxmlformats.org/officeDocument/2006/relationships/slide" Target="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24.xml"/><Relationship Id="rId6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Relationship Id="rId4" Type="http://schemas.openxmlformats.org/officeDocument/2006/relationships/slide" Target="slide2.xml"/><Relationship Id="rId5" Type="http://schemas.openxmlformats.org/officeDocument/2006/relationships/slide" Target="slide25.xml"/><Relationship Id="rId6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38.xml"/><Relationship Id="rId6" Type="http://schemas.openxmlformats.org/officeDocument/2006/relationships/slide" Target="slide46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26.xml"/><Relationship Id="rId11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Relationship Id="rId4" Type="http://schemas.openxmlformats.org/officeDocument/2006/relationships/slide" Target="slide2.xml"/><Relationship Id="rId5" Type="http://schemas.openxmlformats.org/officeDocument/2006/relationships/slide" Target="slide27.xml"/><Relationship Id="rId6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Relationship Id="rId4" Type="http://schemas.openxmlformats.org/officeDocument/2006/relationships/slide" Target="slide2.xml"/><Relationship Id="rId5" Type="http://schemas.openxmlformats.org/officeDocument/2006/relationships/slide" Target="slide28.xml"/><Relationship Id="rId6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Relationship Id="rId4" Type="http://schemas.openxmlformats.org/officeDocument/2006/relationships/slide" Target="slide2.xml"/><Relationship Id="rId5" Type="http://schemas.openxmlformats.org/officeDocument/2006/relationships/slide" Target="slide29.xml"/><Relationship Id="rId6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slide" Target="slide2.xml"/><Relationship Id="rId5" Type="http://schemas.openxmlformats.org/officeDocument/2006/relationships/slide" Target="slide30.xml"/><Relationship Id="rId6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1.xml"/><Relationship Id="rId6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Relationship Id="rId4" Type="http://schemas.openxmlformats.org/officeDocument/2006/relationships/slide" Target="slide2.xml"/><Relationship Id="rId5" Type="http://schemas.openxmlformats.org/officeDocument/2006/relationships/slide" Target="slide32.xml"/><Relationship Id="rId6" Type="http://schemas.openxmlformats.org/officeDocument/2006/relationships/slide" Target="slide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3.xml"/><Relationship Id="rId6" Type="http://schemas.openxmlformats.org/officeDocument/2006/relationships/slide" Target="slide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4.xml"/><Relationship Id="rId6" Type="http://schemas.openxmlformats.org/officeDocument/2006/relationships/slide" Target="slide3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5.xml"/><Relationship Id="rId6" Type="http://schemas.openxmlformats.org/officeDocument/2006/relationships/slide" Target="slide3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36.xml"/><Relationship Id="rId6" Type="http://schemas.openxmlformats.org/officeDocument/2006/relationships/slide" Target="slide3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46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37.xml"/><Relationship Id="rId11" Type="http://schemas.openxmlformats.org/officeDocument/2006/relationships/slide" Target="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38.xml"/><Relationship Id="rId6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Relationship Id="rId4" Type="http://schemas.openxmlformats.org/officeDocument/2006/relationships/slide" Target="slide2.xml"/><Relationship Id="rId5" Type="http://schemas.openxmlformats.org/officeDocument/2006/relationships/slide" Target="slide39.xml"/><Relationship Id="rId6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Relationship Id="rId4" Type="http://schemas.openxmlformats.org/officeDocument/2006/relationships/slide" Target="slide2.xml"/><Relationship Id="rId5" Type="http://schemas.openxmlformats.org/officeDocument/2006/relationships/slide" Target="slide40.xml"/><Relationship Id="rId6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Relationship Id="rId4" Type="http://schemas.openxmlformats.org/officeDocument/2006/relationships/slide" Target="slide2.xml"/><Relationship Id="rId5" Type="http://schemas.openxmlformats.org/officeDocument/2006/relationships/slide" Target="slide41.xml"/><Relationship Id="rId6" Type="http://schemas.openxmlformats.org/officeDocument/2006/relationships/slide" Target="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slide" Target="slide2.xml"/><Relationship Id="rId5" Type="http://schemas.openxmlformats.org/officeDocument/2006/relationships/slide" Target="slide42.xml"/><Relationship Id="rId6" Type="http://schemas.openxmlformats.org/officeDocument/2006/relationships/slide" Target="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Relationship Id="rId4" Type="http://schemas.openxmlformats.org/officeDocument/2006/relationships/slide" Target="slide2.xml"/><Relationship Id="rId5" Type="http://schemas.openxmlformats.org/officeDocument/2006/relationships/slide" Target="slide43.xml"/><Relationship Id="rId6" Type="http://schemas.openxmlformats.org/officeDocument/2006/relationships/slide" Target="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Relationship Id="rId4" Type="http://schemas.openxmlformats.org/officeDocument/2006/relationships/slide" Target="slide2.xml"/><Relationship Id="rId5" Type="http://schemas.openxmlformats.org/officeDocument/2006/relationships/slide" Target="slide44.xml"/><Relationship Id="rId6" Type="http://schemas.openxmlformats.org/officeDocument/2006/relationships/slide" Target="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8.xml"/><Relationship Id="rId7" Type="http://schemas.openxmlformats.org/officeDocument/2006/relationships/slide" Target="slide52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45.xml"/><Relationship Id="rId11" Type="http://schemas.openxmlformats.org/officeDocument/2006/relationships/slide" Target="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Relationship Id="rId4" Type="http://schemas.openxmlformats.org/officeDocument/2006/relationships/slide" Target="slide2.xml"/><Relationship Id="rId5" Type="http://schemas.openxmlformats.org/officeDocument/2006/relationships/slide" Target="slide46.xml"/><Relationship Id="rId6" Type="http://schemas.openxmlformats.org/officeDocument/2006/relationships/slide" Target="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Relationship Id="rId4" Type="http://schemas.openxmlformats.org/officeDocument/2006/relationships/slide" Target="slide2.xml"/><Relationship Id="rId5" Type="http://schemas.openxmlformats.org/officeDocument/2006/relationships/slide" Target="slide47.xml"/><Relationship Id="rId6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slide" Target="slide2.xml"/><Relationship Id="rId5" Type="http://schemas.openxmlformats.org/officeDocument/2006/relationships/slide" Target="slide48.xml"/><Relationship Id="rId6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49.xml"/><Relationship Id="rId6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image" Target="../media/image38.png"/><Relationship Id="rId6" Type="http://schemas.openxmlformats.org/officeDocument/2006/relationships/slide" Target="slide50.xml"/><Relationship Id="rId7" Type="http://schemas.openxmlformats.org/officeDocument/2006/relationships/slide" Target="slide5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8.xml"/><Relationship Id="rId7" Type="http://schemas.openxmlformats.org/officeDocument/2006/relationships/slide" Target="slide46.xml"/><Relationship Id="rId8" Type="http://schemas.openxmlformats.org/officeDocument/2006/relationships/slide" Target="slide64.xml"/><Relationship Id="rId9" Type="http://schemas.openxmlformats.org/officeDocument/2006/relationships/slide" Target="slide68.xml"/><Relationship Id="rId10" Type="http://schemas.openxmlformats.org/officeDocument/2006/relationships/slide" Target="slide51.xml"/><Relationship Id="rId11" Type="http://schemas.openxmlformats.org/officeDocument/2006/relationships/slide" Target="slide5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2.xml"/><Relationship Id="rId6" Type="http://schemas.openxmlformats.org/officeDocument/2006/relationships/slide" Target="slide5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Relationship Id="rId4" Type="http://schemas.openxmlformats.org/officeDocument/2006/relationships/slide" Target="slide2.xml"/><Relationship Id="rId5" Type="http://schemas.openxmlformats.org/officeDocument/2006/relationships/slide" Target="slide53.xml"/><Relationship Id="rId6" Type="http://schemas.openxmlformats.org/officeDocument/2006/relationships/slide" Target="slide5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Relationship Id="rId4" Type="http://schemas.openxmlformats.org/officeDocument/2006/relationships/slide" Target="slide2.xml"/><Relationship Id="rId5" Type="http://schemas.openxmlformats.org/officeDocument/2006/relationships/slide" Target="slide54.xml"/><Relationship Id="rId6" Type="http://schemas.openxmlformats.org/officeDocument/2006/relationships/slide" Target="slide5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slide" Target="slide2.xml"/><Relationship Id="rId5" Type="http://schemas.openxmlformats.org/officeDocument/2006/relationships/slide" Target="slide55.xml"/><Relationship Id="rId6" Type="http://schemas.openxmlformats.org/officeDocument/2006/relationships/slide" Target="slide5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Relationship Id="rId4" Type="http://schemas.openxmlformats.org/officeDocument/2006/relationships/slide" Target="slide2.xml"/><Relationship Id="rId5" Type="http://schemas.openxmlformats.org/officeDocument/2006/relationships/slide" Target="slide56.xml"/><Relationship Id="rId6" Type="http://schemas.openxmlformats.org/officeDocument/2006/relationships/slide" Target="slide58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Relationship Id="rId4" Type="http://schemas.openxmlformats.org/officeDocument/2006/relationships/slide" Target="slide2.xml"/><Relationship Id="rId5" Type="http://schemas.openxmlformats.org/officeDocument/2006/relationships/slide" Target="slide57.xml"/><Relationship Id="rId6" Type="http://schemas.openxmlformats.org/officeDocument/2006/relationships/slide" Target="slide5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Relationship Id="rId4" Type="http://schemas.openxmlformats.org/officeDocument/2006/relationships/slide" Target="slide2.xml"/><Relationship Id="rId5" Type="http://schemas.openxmlformats.org/officeDocument/2006/relationships/slide" Target="slide58.xml"/><Relationship Id="rId6" Type="http://schemas.openxmlformats.org/officeDocument/2006/relationships/slide" Target="slide6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slide" Target="slide2.xml"/><Relationship Id="rId5" Type="http://schemas.openxmlformats.org/officeDocument/2006/relationships/slide" Target="slide59.xml"/><Relationship Id="rId6" Type="http://schemas.openxmlformats.org/officeDocument/2006/relationships/slide" Target="slide6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slide" Target="slide2.xml"/><Relationship Id="rId5" Type="http://schemas.openxmlformats.org/officeDocument/2006/relationships/slide" Target="slide60.xml"/><Relationship Id="rId6" Type="http://schemas.openxmlformats.org/officeDocument/2006/relationships/slide" Target="slide6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slide" Target="slide2.xml"/><Relationship Id="rId5" Type="http://schemas.openxmlformats.org/officeDocument/2006/relationships/slide" Target="slide61.xml"/><Relationship Id="rId6" Type="http://schemas.openxmlformats.org/officeDocument/2006/relationships/slide" Target="slide6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Relationship Id="rId4" Type="http://schemas.openxmlformats.org/officeDocument/2006/relationships/slide" Target="slide2.xml"/><Relationship Id="rId5" Type="http://schemas.openxmlformats.org/officeDocument/2006/relationships/slide" Target="slide62.xml"/><Relationship Id="rId6" Type="http://schemas.openxmlformats.org/officeDocument/2006/relationships/slide" Target="slide64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8.xml"/><Relationship Id="rId7" Type="http://schemas.openxmlformats.org/officeDocument/2006/relationships/slide" Target="slide46.xml"/><Relationship Id="rId8" Type="http://schemas.openxmlformats.org/officeDocument/2006/relationships/slide" Target="slide52.xml"/><Relationship Id="rId9" Type="http://schemas.openxmlformats.org/officeDocument/2006/relationships/slide" Target="slide68.xml"/><Relationship Id="rId10" Type="http://schemas.openxmlformats.org/officeDocument/2006/relationships/slide" Target="slide63.xml"/><Relationship Id="rId11" Type="http://schemas.openxmlformats.org/officeDocument/2006/relationships/slide" Target="slide65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Relationship Id="rId4" Type="http://schemas.openxmlformats.org/officeDocument/2006/relationships/slide" Target="slide2.xml"/><Relationship Id="rId5" Type="http://schemas.openxmlformats.org/officeDocument/2006/relationships/slide" Target="slide64.xml"/><Relationship Id="rId6" Type="http://schemas.openxmlformats.org/officeDocument/2006/relationships/slide" Target="slide6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slide" Target="slide2.xml"/><Relationship Id="rId5" Type="http://schemas.openxmlformats.org/officeDocument/2006/relationships/slide" Target="slide65.xml"/><Relationship Id="rId6" Type="http://schemas.openxmlformats.org/officeDocument/2006/relationships/slide" Target="slide6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Relationship Id="rId4" Type="http://schemas.openxmlformats.org/officeDocument/2006/relationships/slide" Target="slide2.xml"/><Relationship Id="rId5" Type="http://schemas.openxmlformats.org/officeDocument/2006/relationships/slide" Target="slide66.xml"/><Relationship Id="rId6" Type="http://schemas.openxmlformats.org/officeDocument/2006/relationships/slide" Target="slide68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Relationship Id="rId4" Type="http://schemas.openxmlformats.org/officeDocument/2006/relationships/slide" Target="slide8.xml"/><Relationship Id="rId5" Type="http://schemas.openxmlformats.org/officeDocument/2006/relationships/slide" Target="slide27.xml"/><Relationship Id="rId6" Type="http://schemas.openxmlformats.org/officeDocument/2006/relationships/slide" Target="slide38.xml"/><Relationship Id="rId7" Type="http://schemas.openxmlformats.org/officeDocument/2006/relationships/slide" Target="slide46.xml"/><Relationship Id="rId8" Type="http://schemas.openxmlformats.org/officeDocument/2006/relationships/slide" Target="slide52.xml"/><Relationship Id="rId9" Type="http://schemas.openxmlformats.org/officeDocument/2006/relationships/slide" Target="slide64.xml"/><Relationship Id="rId10" Type="http://schemas.openxmlformats.org/officeDocument/2006/relationships/slide" Target="slide67.xml"/><Relationship Id="rId11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Relationship Id="rId4" Type="http://schemas.openxmlformats.org/officeDocument/2006/relationships/slide" Target="slide2.xml"/><Relationship Id="rId5" Type="http://schemas.openxmlformats.org/officeDocument/2006/relationships/slide" Target="slide68.xml"/><Relationship Id="rId6" Type="http://schemas.openxmlformats.org/officeDocument/2006/relationships/slide" Target="slide70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Relationship Id="rId4" Type="http://schemas.openxmlformats.org/officeDocument/2006/relationships/slide" Target="slide2.xml"/><Relationship Id="rId5" Type="http://schemas.openxmlformats.org/officeDocument/2006/relationships/slide" Target="slide69.xml"/><Relationship Id="rId6" Type="http://schemas.openxmlformats.org/officeDocument/2006/relationships/slide" Target="slide71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png"/><Relationship Id="rId4" Type="http://schemas.openxmlformats.org/officeDocument/2006/relationships/slide" Target="slide2.xml"/><Relationship Id="rId5" Type="http://schemas.openxmlformats.org/officeDocument/2006/relationships/slide" Target="slide70.xml"/><Relationship Id="rId6" Type="http://schemas.openxmlformats.org/officeDocument/2006/relationships/slide" Target="slide7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A33"/>
              </a:gs>
              <a:gs pos="100000">
                <a:srgbClr val="003366"/>
              </a:gs>
            </a:gsLst>
            <a:lin ang="69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955279" y="3108960"/>
            <a:ext cx="6583680" cy="6583680"/>
          </a:xfrm>
          <a:prstGeom prst="ellipse">
            <a:avLst/>
          </a:prstGeom>
          <a:solidFill>
            <a:srgbClr val="075985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784080" y="-1645920"/>
            <a:ext cx="3840480" cy="3840480"/>
          </a:xfrm>
          <a:prstGeom prst="ellipse">
            <a:avLst/>
          </a:prstGeom>
          <a:solidFill>
            <a:srgbClr val="FFBE2E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1143000" cy="1143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1828800"/>
            <a:ext cx="1033272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1" i="0">
                <a:solidFill>
                  <a:srgbClr val="FFBE2E"/>
                </a:solidFill>
                <a:latin typeface="Titillium Web"/>
              </a:rPr>
              <a:t>PROTEZIONE CIVILE — GENZANO DI ROMA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1033272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Titillium Web"/>
              </a:rPr>
              <a:t>Il sito istituzionale:
struttura e contenuti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297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526280"/>
            <a:ext cx="1033272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000" b="0" i="0">
                <a:solidFill>
                  <a:srgbClr val="CFDDEC"/>
                </a:solidFill>
                <a:latin typeface="Titillium Web"/>
              </a:rPr>
              <a:t>Gruppo Comunale Volontari di Protezione Civile di Genzano di Roma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02920"/>
            <a:ext cx="96926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2800" b="1" i="0">
                <a:solidFill>
                  <a:srgbClr val="003366"/>
                </a:solidFill>
                <a:latin typeface="Titillium Web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20116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0" i="1">
                <a:solidFill>
                  <a:srgbClr val="5A6B7B"/>
                </a:solidFill>
                <a:latin typeface="Titillium Web"/>
              </a:rPr>
              <a:t>Le voci sono cliccabili: portano alla sezione corrispondente. Da ogni slide il piè di pagina riporta qui con «Torna all'agenda».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77724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01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77724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02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77724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03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777240" y="4901184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04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355080" y="1993392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05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355080" y="2962656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06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355080" y="3931920"/>
            <a:ext cx="5074920" cy="786384"/>
          </a:xfrm>
          <a:prstGeom prst="roundRect">
            <a:avLst/>
          </a:prstGeom>
          <a:solidFill>
            <a:srgbClr val="003366"/>
          </a:solidFill>
          <a:ln w="15875">
            <a:solidFill>
              <a:srgbClr val="FFBE2E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37160" tIns="18288" bIns="18288"/>
          <a:lstStyle/>
          <a:p>
            <a:pPr algn="l"/>
            <a:r>
              <a:rPr sz="1600" b="1" i="0">
                <a:solidFill>
                  <a:srgbClr val="FFBE2E"/>
                </a:solidFill>
                <a:latin typeface="Titillium Web"/>
              </a:rPr>
              <a:t>07   </a:t>
            </a:r>
            <a:r>
              <a:rPr sz="15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901184"/>
            <a:ext cx="5074920" cy="786384"/>
          </a:xfrm>
          <a:prstGeom prst="roundRect">
            <a:avLst/>
          </a:prstGeom>
          <a:solidFill>
            <a:srgbClr val="E7F0FA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Un'estensione digitale del Servizio Nazionale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500" b="0" i="0">
                <a:solidFill>
                  <a:srgbClr val="1A1A1A"/>
                </a:solidFill>
                <a:latin typeface="Titillium Web"/>
              </a:rPr>
              <a:t>Il Gruppo opera nelle quattro funzioni del Servizio Nazionale della Protezione Civile (D.Lgs. 1/2018).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2560320"/>
            <a:ext cx="2606040" cy="128016"/>
          </a:xfrm>
          <a:prstGeom prst="rect">
            <a:avLst/>
          </a:prstGeom>
          <a:gradFill>
            <a:gsLst>
              <a:gs pos="0">
                <a:srgbClr val="003870"/>
              </a:gs>
              <a:gs pos="100000">
                <a:srgbClr val="002B56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inoculars-fill_0033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6212" y="2971800"/>
            <a:ext cx="768096" cy="7680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03366"/>
                </a:solidFill>
                <a:latin typeface="Titillium Web"/>
              </a:rPr>
              <a:t>Previsione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Scenari e monitoraggio del rischio.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47872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547872" y="2560320"/>
            <a:ext cx="2606040" cy="128016"/>
          </a:xfrm>
          <a:prstGeom prst="rect">
            <a:avLst/>
          </a:prstGeom>
          <a:gradFill>
            <a:gsLst>
              <a:gs pos="0">
                <a:srgbClr val="178C43"/>
              </a:gs>
              <a:gs pos="100000">
                <a:srgbClr val="116C33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hield-check_1580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6844" y="2971800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47872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15803D"/>
                </a:solidFill>
                <a:latin typeface="Titillium Web"/>
              </a:rPr>
              <a:t>Prevenzione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Riduzione del rischio e autoprotezione.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8504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18504" y="2560320"/>
            <a:ext cx="2606040" cy="128016"/>
          </a:xfrm>
          <a:prstGeom prst="rect">
            <a:avLst/>
          </a:prstGeom>
          <a:gradFill>
            <a:gsLst>
              <a:gs pos="0">
                <a:srgbClr val="C65B09"/>
              </a:gs>
              <a:gs pos="100000">
                <a:srgbClr val="994607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rt-pulse-fill_b4530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37476" y="2971800"/>
            <a:ext cx="768096" cy="76809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318504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B45309"/>
                </a:solidFill>
                <a:latin typeface="Titillium Web"/>
              </a:rPr>
              <a:t>Soccorso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Supporto alla popolazione durante l'evento.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89136" y="2560320"/>
            <a:ext cx="2606040" cy="278892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89136" y="2560320"/>
            <a:ext cx="2606040" cy="128016"/>
          </a:xfrm>
          <a:prstGeom prst="rect">
            <a:avLst/>
          </a:prstGeom>
          <a:gradFill>
            <a:gsLst>
              <a:gs pos="0">
                <a:srgbClr val="076192"/>
              </a:gs>
              <a:gs pos="100000">
                <a:srgbClr val="054B71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arrow-repeat_07598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8108" y="2971800"/>
            <a:ext cx="768096" cy="7680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089136" y="3931920"/>
            <a:ext cx="2606040" cy="12801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700" b="1" i="0">
                <a:solidFill>
                  <a:srgbClr val="075985"/>
                </a:solidFill>
                <a:latin typeface="Titillium Web"/>
              </a:rPr>
              <a:t>Superamento</a:t>
            </a:r>
          </a:p>
          <a:p>
            <a:pPr algn="ctr">
              <a:lnSpc>
                <a:spcPct val="110000"/>
              </a:lnSpc>
              <a:spcBef>
                <a:spcPts val="800"/>
              </a:spcBef>
            </a:pPr>
            <a:r>
              <a:rPr sz="1250" b="0" i="0">
                <a:solidFill>
                  <a:srgbClr val="1A1A1A"/>
                </a:solidFill>
                <a:latin typeface="Titillium Web"/>
              </a:rPr>
              <a:t>Assistenza e ripristino dopo l'evento.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7150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Riferimenti: D.Lgs. 1/2018 · Direttiva PCM 30 aprile 2021.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9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Una piattaforma per l'intera comunità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Famiglie e cittadini; anziani e persone fragili.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Persone con disabilità sensoriali, cognitive e motorie.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Scuole e studenti; volontari e operatori.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Progettazione mobile-first: consultabile in movimento e in condizioni critiche.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eop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Principi guida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Affidabilità e correttezza istituzionale prima di tutto.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universale, con le WCAG 2.2 AA come soglia minima.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Chiarezza per il cittadino e sobrietà del linguaggio.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dato è verificato e accompagnato dalla sua fonte.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compas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e standard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Linee guida di design AgID e design system Bootstrap Italia / Designers Italia.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WCAG 2.2 AA; Legge Stanca (L. 4/2004) e D.Lgs. 106/2018.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della Protezione Civile e direttive nazionali.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 internazionali ISO per la gestione delle emergenze e del rischio.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AgID · W3C · DPC · ISO/TC 292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Architettura dell'informazione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Sette aree principali: Per il Cittadino, Per le Scuole, Accessibilità e Supporti.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Volontariato, Risorse, Comunicazioni, Contatti.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piatta: ogni risorsa critica raggiungibile in pochi clic.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Ricerca interna, mappa del sito e codici QR per l'accesso rapido.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01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4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fare adesso e assistente guidato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d'ingresso rapida alle azioni di autoprotezione.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Assistente guidato a domande e risposte predefinite, lungo un percorso a scelte.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Indirizza al comportamento corretto in pochi passaggi.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il richiamo al 112 per le emergenze reali.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ignpost-2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ud-lightning-rai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Allerte meteo e codici colore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Quattro livelli ufficiali del Centro Funzionale Regionale del Lazio. La previsione (allerta) è distinta dall'evento in corso (emergenza).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31720"/>
            <a:ext cx="10607040" cy="713232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VERDE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Nessuna allerta — nessun fenomeno significativo previsto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227832"/>
            <a:ext cx="10607040" cy="713232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001A33"/>
                </a:solidFill>
                <a:latin typeface="Titillium Web"/>
              </a:rPr>
              <a:t>GIALLO    </a:t>
            </a:r>
            <a:r>
              <a:rPr sz="1300" b="0" i="0">
                <a:solidFill>
                  <a:srgbClr val="001A33"/>
                </a:solidFill>
                <a:latin typeface="Titillium Web"/>
              </a:rPr>
              <a:t>Criticità ordinaria — fenomeni localizzati di intensità moderata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23944"/>
            <a:ext cx="10607040" cy="713232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ARANCIONE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moderata — fenomeni diffusi e potenzialmente pericolosi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5020056"/>
            <a:ext cx="10607040" cy="713232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109728" tIns="36576" bIns="36576"/>
          <a:lstStyle/>
          <a:p>
            <a:pPr algn="l"/>
            <a:r>
              <a:rPr sz="1600" b="1" i="0">
                <a:solidFill>
                  <a:srgbClr val="FFFFFF"/>
                </a:solidFill>
                <a:latin typeface="Titillium Web"/>
              </a:rPr>
              <a:t>ROSSO    </a:t>
            </a:r>
            <a:r>
              <a:rPr sz="1300" b="0" i="0">
                <a:solidFill>
                  <a:srgbClr val="FFFFFF"/>
                </a:solidFill>
                <a:latin typeface="Titillium Web"/>
              </a:rPr>
              <a:t>Criticità elevata — fenomeni molto intensi, danni gravi probabili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Fonte: Centro Funzionale Regionale del Lazio · standard ISO 22324.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Allerta meteo: cosa significa a Genzano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colore — verde, giallo, arancione, rosso — cosa cambia concretamente sul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zone più delicate, cosa fa il cittadino e cosa fa il Comune con il Gruppo.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Genzano rientra nella zona di allerta F — Bacini Costieri Sud.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Cosa succede quando scatta un'allerta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percorso completo, in linguaggio semplice: dal bollettino nazionale fino al cittadino.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Chi decide il livello, chi attiva il Centro Operativo Comunale, chi comunica.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Cosa fare e cosa non aspettarsi dal volontariato: educazione civica per ridurre richieste improprie.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Centro Funzionale Regionale del Lazio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emergenza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 emergenza il sito mostra un avviso ben visibile su ogni pagina.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emergenza ultraleggera per rete debole o congestionata.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Informazioni essenziali e numeri utili messi in primo piano.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Progettata per i momenti di reale criticità.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exclamation-octagon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Modalità Lanterna — strumenti per il buio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ultraleggera pensata per poca batteria, rete debole e ore notturne.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Torcia, bussola e schermo sempre acceso, direttamente sul dispositivo.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numero 112 sempre a portata di mano.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lightbul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del territorio — dati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14884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Scientifiche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INGV (sismica, vulcani)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114800" y="241858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38328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Meteo e satellite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ItaliaMeteo, EUMETSAT, ECMWF, Copernicus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14800" y="3653027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4617720"/>
            <a:ext cx="3200400" cy="8686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CBD7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03366"/>
                </a:solidFill>
                <a:latin typeface="Titillium Web"/>
              </a:rPr>
              <a:t>Istituzionali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1A1A1A"/>
                </a:solidFill>
                <a:latin typeface="Titillium Web"/>
              </a:rPr>
              <a:t>DPC, ARPA Lazio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4114800" y="4887468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864608" y="2468880"/>
            <a:ext cx="2788920" cy="2377440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Cruscotto del territorio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Aggregazione privacy-first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Ogni scheda spiegata a parole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CFDDEC"/>
                </a:solidFill>
                <a:latin typeface="Titillium Web"/>
              </a:rPr>
              <a:t>Fonte dichiarata per ogni scheda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772400" y="3520440"/>
            <a:ext cx="566928" cy="329184"/>
          </a:xfrm>
          <a:prstGeom prst="right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49640" y="2194560"/>
            <a:ext cx="3017520" cy="566928"/>
          </a:xfrm>
          <a:prstGeom prst="roundRect">
            <a:avLst/>
          </a:prstGeom>
          <a:gradFill>
            <a:gsLst>
              <a:gs pos="0">
                <a:srgbClr val="219351"/>
              </a:gs>
              <a:gs pos="100000">
                <a:srgbClr val="186C3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Verde — nessuna allerta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49640" y="2962656"/>
            <a:ext cx="3017520" cy="566928"/>
          </a:xfrm>
          <a:prstGeom prst="roundRect">
            <a:avLst/>
          </a:prstGeom>
          <a:gradFill>
            <a:gsLst>
              <a:gs pos="0">
                <a:srgbClr val="FFDB10"/>
              </a:gs>
              <a:gs pos="100000">
                <a:srgbClr val="C5A00C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001A33"/>
                </a:solidFill>
                <a:latin typeface="Titillium Web"/>
              </a:rPr>
              <a:t>Giallo — criticità ordinaria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3730752"/>
            <a:ext cx="3017520" cy="566928"/>
          </a:xfrm>
          <a:prstGeom prst="roundRect">
            <a:avLst/>
          </a:prstGeom>
          <a:gradFill>
            <a:gsLst>
              <a:gs pos="0">
                <a:srgbClr val="FF8D26"/>
              </a:gs>
              <a:gs pos="100000">
                <a:srgbClr val="BC671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Arancione — criticità moderata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49640" y="4498848"/>
            <a:ext cx="3017520" cy="566928"/>
          </a:xfrm>
          <a:prstGeom prst="roundRect">
            <a:avLst/>
          </a:prstGeom>
          <a:gradFill>
            <a:gsLst>
              <a:gs pos="0">
                <a:srgbClr val="D73F30"/>
              </a:gs>
              <a:gs pos="100000">
                <a:srgbClr val="9D2E23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Titillium Web"/>
              </a:rPr>
              <a:t>Rosso — criticità elevata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INGV · DPC · ItaliaMeteo · CIMA · EUMETSAT · ECMWF · Copernicus · ARPA Lazio. Codici colore: Centro Funzionale Regionale del Lazio (ISO 22324).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Cruscotto — le fonti dei dati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6231" y="1965960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INGV per la sismicità e i vulcani; Dipartimento della Protezione Civile per il radar pioggia.</a:t>
            </a:r>
          </a:p>
        </p:txBody>
      </p:sp>
      <p:sp>
        <p:nvSpPr>
          <p:cNvPr id="17" name="Oval 16"/>
          <p:cNvSpPr/>
          <p:nvPr/>
        </p:nvSpPr>
        <p:spPr>
          <a:xfrm>
            <a:off x="1069848" y="2011680"/>
            <a:ext cx="512064" cy="51206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124334"/>
            <a:ext cx="286755" cy="28675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77240" y="2752344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56231" y="2752344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ItaliaMeteo (modello ICON-2I) ed EUMETSAT per previsioni e satellite.</a:t>
            </a:r>
          </a:p>
        </p:txBody>
      </p:sp>
      <p:sp>
        <p:nvSpPr>
          <p:cNvPr id="21" name="Oval 20"/>
          <p:cNvSpPr/>
          <p:nvPr/>
        </p:nvSpPr>
        <p:spPr>
          <a:xfrm>
            <a:off x="1069848" y="2798063"/>
            <a:ext cx="512064" cy="51206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2910718"/>
            <a:ext cx="286755" cy="28675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538727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56231" y="3538727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EFFIS / Copernicus per gli incendi; ARPA Lazio per la qualità dell'aria regionale; Copernicus CAMS per la qualità dell'aria su scala europea.</a:t>
            </a:r>
          </a:p>
        </p:txBody>
      </p:sp>
      <p:sp>
        <p:nvSpPr>
          <p:cNvPr id="25" name="Oval 24"/>
          <p:cNvSpPr/>
          <p:nvPr/>
        </p:nvSpPr>
        <p:spPr>
          <a:xfrm>
            <a:off x="1069848" y="3584447"/>
            <a:ext cx="512064" cy="51206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3697102"/>
            <a:ext cx="286755" cy="286755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777240" y="4325112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856231" y="4325112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Copernicus EMS Rapid Mapping per le attivazioni di mappatura emergenze in Europa.</a:t>
            </a:r>
          </a:p>
        </p:txBody>
      </p:sp>
      <p:sp>
        <p:nvSpPr>
          <p:cNvPr id="29" name="Oval 28"/>
          <p:cNvSpPr/>
          <p:nvPr/>
        </p:nvSpPr>
        <p:spPr>
          <a:xfrm>
            <a:off x="1069848" y="4370831"/>
            <a:ext cx="512064" cy="51206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4483486"/>
            <a:ext cx="286755" cy="286755"/>
          </a:xfrm>
          <a:prstGeom prst="rect">
            <a:avLst/>
          </a:prstGeom>
        </p:spPr>
      </p:pic>
      <p:sp>
        <p:nvSpPr>
          <p:cNvPr id="31" name="Rounded Rectangle 30"/>
          <p:cNvSpPr/>
          <p:nvPr/>
        </p:nvSpPr>
        <p:spPr>
          <a:xfrm>
            <a:off x="777240" y="5111496"/>
            <a:ext cx="10607040" cy="603503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856231" y="5111496"/>
            <a:ext cx="9372600" cy="60350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0" i="0">
                <a:solidFill>
                  <a:srgbClr val="1A1A1A"/>
                </a:solidFill>
                <a:latin typeface="Titillium Web"/>
              </a:rPr>
              <a:t>Rischio sismico comunale dalla piattaforma SicuroPiù.</a:t>
            </a:r>
          </a:p>
        </p:txBody>
      </p:sp>
      <p:sp>
        <p:nvSpPr>
          <p:cNvPr id="33" name="Oval 32"/>
          <p:cNvSpPr/>
          <p:nvPr/>
        </p:nvSpPr>
        <p:spPr>
          <a:xfrm>
            <a:off x="1069848" y="5157216"/>
            <a:ext cx="512064" cy="512064"/>
          </a:xfrm>
          <a:prstGeom prst="ellipse">
            <a:avLst/>
          </a:prstGeom>
          <a:gradFill>
            <a:gsLst>
              <a:gs pos="0">
                <a:srgbClr val="7C3AED"/>
              </a:gs>
              <a:gs pos="100000">
                <a:srgbClr val="4A228E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4" name="Picture 33" descr="database-fill-gea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2502" y="5269870"/>
            <a:ext cx="286755" cy="28675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INGV · DPC · ItaliaMeteo · EUMETSAT · Copernicus (CAMS · EMS · EFFIS) · ARPA Lazio · EUCENTRE/ReLUIS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exclamation-triang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Rischi e prevenzione — copertura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1691640"/>
            <a:ext cx="1088136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400" b="0" i="0">
                <a:solidFill>
                  <a:srgbClr val="1A1A1A"/>
                </a:solidFill>
                <a:latin typeface="Titillium Web"/>
              </a:rPr>
              <a:t>Il sito tratta sistematicamente i rischi dei Castelli Romani. Ogni scheda segue la stessa struttura: prima, durante, dopo, cosa non fare, chi chiamare.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2395728"/>
            <a:ext cx="2606040" cy="1005840"/>
          </a:xfrm>
          <a:prstGeom prst="roundRect">
            <a:avLst/>
          </a:prstGeom>
          <a:gradFill>
            <a:gsLst>
              <a:gs pos="0">
                <a:srgbClr val="D0600A"/>
              </a:gs>
              <a:gs pos="100000">
                <a:srgbClr val="853D0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Sismico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2395728"/>
            <a:ext cx="2606040" cy="1005840"/>
          </a:xfrm>
          <a:prstGeom prst="roundRect">
            <a:avLst/>
          </a:prstGeom>
          <a:gradFill>
            <a:gsLst>
              <a:gs pos="0">
                <a:srgbClr val="0379BA"/>
              </a:gs>
              <a:gs pos="100000">
                <a:srgbClr val="024D7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Idrogeologico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18504" y="2395728"/>
            <a:ext cx="2606040" cy="1005840"/>
          </a:xfrm>
          <a:prstGeom prst="roundRect">
            <a:avLst/>
          </a:prstGeom>
          <a:gradFill>
            <a:gsLst>
              <a:gs pos="0">
                <a:srgbClr val="DF1423"/>
              </a:gs>
              <a:gs pos="100000">
                <a:srgbClr val="8E0D16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Incendi boschivi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395728"/>
            <a:ext cx="2606040" cy="1005840"/>
          </a:xfrm>
          <a:prstGeom prst="roundRect">
            <a:avLst/>
          </a:prstGeom>
          <a:gradFill>
            <a:gsLst>
              <a:gs pos="0">
                <a:srgbClr val="FF660D"/>
              </a:gs>
              <a:gs pos="100000">
                <a:srgbClr val="AD410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Ondate di calore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66160"/>
            <a:ext cx="2606040" cy="1005840"/>
          </a:xfrm>
          <a:prstGeom prst="roundRect">
            <a:avLst/>
          </a:prstGeom>
          <a:gradFill>
            <a:gsLst>
              <a:gs pos="0">
                <a:srgbClr val="1086A7"/>
              </a:gs>
              <a:gs pos="100000">
                <a:srgbClr val="0A556A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Vento forte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47872" y="3566160"/>
            <a:ext cx="2606040" cy="1005840"/>
          </a:xfrm>
          <a:prstGeom prst="roundRect">
            <a:avLst/>
          </a:prstGeom>
          <a:gradFill>
            <a:gsLst>
              <a:gs pos="0">
                <a:srgbClr val="4D40EA"/>
              </a:gs>
              <a:gs pos="100000">
                <a:srgbClr val="31299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Temporali intensi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3566160"/>
            <a:ext cx="2606040" cy="1005840"/>
          </a:xfrm>
          <a:prstGeom prst="roundRect">
            <a:avLst/>
          </a:prstGeom>
          <a:gradFill>
            <a:gsLst>
              <a:gs pos="0">
                <a:srgbClr val="526279"/>
              </a:gs>
              <a:gs pos="100000">
                <a:srgbClr val="343E4D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Blackout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89136" y="3566160"/>
            <a:ext cx="2606040" cy="1005840"/>
          </a:xfrm>
          <a:prstGeom prst="roundRect">
            <a:avLst/>
          </a:prstGeom>
          <a:gradFill>
            <a:gsLst>
              <a:gs pos="0">
                <a:srgbClr val="932121"/>
              </a:gs>
              <a:gs pos="100000">
                <a:srgbClr val="5D151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Vulcanico (Colli Albani)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736592"/>
            <a:ext cx="2606040" cy="1005840"/>
          </a:xfrm>
          <a:prstGeom prst="roundRect">
            <a:avLst/>
          </a:prstGeom>
          <a:gradFill>
            <a:gsLst>
              <a:gs pos="0">
                <a:srgbClr val="187D9D"/>
              </a:gs>
              <a:gs pos="100000">
                <a:srgbClr val="0F4F64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Maremoto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47872" y="4736592"/>
            <a:ext cx="2606040" cy="1005840"/>
          </a:xfrm>
          <a:prstGeom prst="roundRect">
            <a:avLst/>
          </a:prstGeom>
          <a:gradFill>
            <a:gsLst>
              <a:gs pos="0">
                <a:srgbClr val="7C5111"/>
              </a:gs>
              <a:gs pos="100000">
                <a:srgbClr val="4F330B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Chimico-industriale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18504" y="4736592"/>
            <a:ext cx="2606040" cy="1005840"/>
          </a:xfrm>
          <a:prstGeom prst="roundRect">
            <a:avLst/>
          </a:prstGeom>
          <a:gradFill>
            <a:gsLst>
              <a:gs pos="0">
                <a:srgbClr val="62600B"/>
              </a:gs>
              <a:gs pos="100000">
                <a:srgbClr val="3E3D07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Nucleare-radiologico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89136" y="4736592"/>
            <a:ext cx="2606040" cy="1005840"/>
          </a:xfrm>
          <a:prstGeom prst="roundRect">
            <a:avLst/>
          </a:prstGeom>
          <a:gradFill>
            <a:gsLst>
              <a:gs pos="0">
                <a:srgbClr val="BA7108"/>
              </a:gs>
              <a:gs pos="100000">
                <a:srgbClr val="774805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Titillium Web"/>
              </a:rPr>
              <a:t>Siccità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870448"/>
            <a:ext cx="106070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100" b="0" i="1">
                <a:solidFill>
                  <a:srgbClr val="5A6B7B"/>
                </a:solidFill>
                <a:latin typeface="Titillium Web"/>
              </a:rPr>
              <a:t>Fonti: DPC «Io non rischio» · INGV · ISPRA · CNR-IRPI · ReLUIS · Vigili del Fuoco.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Cartografia e aree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Mappa delle aree di attesa e di emergenza comunali.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Riferimento diretto al Piano di Emergenza Comunale.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Orientamento immediato per il cittadino.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eo-al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Numeri utili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Numero Unico di Emergenza 112 sempre in evidenza.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Numeri di servizio per le segnalazioni non urgenti.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Indicazioni chiare su quando e chi chiamare.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ele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Piano familiare di emergenza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Guida passo-passo per preparare il nucleo domestico.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compilabile e stampabile.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Punti di ritrovo, contatti e kit essenziale.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ouse-he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Quanto sei preparato — autovalutazione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Quiz non giudicante: le domande si adattano alla tua situazione (solo o in famiglia, casa o appartamento, animali).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Alla fine, un profilo di preparazione e un piano d'azione su misura.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risposta inviata o salvata online: tutto resta sul tuo dispositivo.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ipboard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Un minuto per proteggerti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Sei micro-schede di autoprotezione: torcia, 112, punto di ritrovo, kit auto, terremoto per bambini, documenti.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Azioni concrete che si fanno in un minuto, una per volta, senza spese.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Stampabili in formato A5 per casa, sede, bacheche scolastiche e banchetti informativi.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opwatch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Prevenzione tutto l'anno e nuovi residenti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Calendario della prevenzione: un gesto al mese e le date fisse, anche nel calendario del telefono.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Accordo di aiuto fra vicini: un foglio da compilare insieme per sapere chi aiuta chi; i dati restano sulla carta.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«Vivo qui da poco»: rischi del territorio, avvisi, aree di attesa e numeri da salvare per chi è appena arrivato.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pronti per situazioni vulnerabili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operative per le categorie fragili: anziani, bambini, persone con disabilità, caregiver e altre.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stampabili pronti all'uso.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Riferimenti a standard internazionali di assistenza umanitaria.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ckpa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IFRC · WHO · Sphere Handbook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per le organizzazioni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per chi gestisce un luogo o un gruppo di persone: attività commerciali, condomìni, associazioni, organizzatori di eventi.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uniforme: cosa fare prima, durante e dopo terremoto, incendio, allerta meteo e blackout.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gli eventi pubblici, il ruolo del volontariato nei limiti delle regole vigenti: nessun compito di viabilità.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Codice della Strada artt. 11-12 · Circolare DPC 6/8/2018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Storia del territorio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Cronologia degli eventi rilevanti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voce è corredata da fonte istituzionale.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memoria come strumento di consapevolezza del rischio.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lock-history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02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5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Kit didattici per fascia scolastica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Materiali per infanzia, primaria, secondaria di primo e di secondo grado.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Linguaggio e attività calibrati per ogni età.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Coerenti con l'insegnamento dell'Educazione Civica.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ortarboard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Percorsi didattici ed Educazione Civica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Percorsi pronti all'uso per i docenti, collegati all'Educazione Civica.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Settimana della protezione civile a scuola: un tema al giorno per tutto l'istituto e la prova di evacuazione del venerdì.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Obiettivo: cultura della prevenzione fin da piccoli.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bookma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Schede didattiche stampabili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fotocopiabili per le attività in classe.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Organizzate per livello scolastico.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Pronte all'uso, scaricabili e riproducibili liberamente.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rinter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Storie e racconti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Narrazioni illustrate sulla sicurezza per i più piccoli.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Disponibili in lettura accessibile e in ascolto.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Avvicinano i bambini ai comportamenti corretti con il racconto.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-half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Giochi della sicurezza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Giochi educativi divisi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 comportamenti corretti si imparano attraverso il gioco.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e teoria di rinforzo integrati.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Catalogo informativo dei giochi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scheda dedicata per ogni gioco, divisa per fascia d'età.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gioco: obiettivo didattico, durata, accessibilità e versione interattiva.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Pensato per docenti, genitori, motori di ricerca e lettori di schermo.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troller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D.M. 183/2024 (Educazione Civica)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Laboratorio meteo — esplorare i dati del clima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Strumento interattivo: si scelgono luogo, periodo e variabile e si costruisce il grafico.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storici dei Castelli Romani (rianalisi ERA5-Land ed ERA5, serie omogenea) ed esempi già pronti.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grafico ha spiegazione a parole, tabella dati, stampa, download (CSV e immagine) e link condivisibile.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ERA5-Land · ERA5 · Copernicus Climate Change Service · Open-Meteo (CC BY 4.0)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Il libro che si esplora — autoprotezione in 3D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libro aperto in 3D: per ogni capitolo una situazione, una domanda e un modellino da muovere.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 fa la previsione, si prova sulla pagina e si alza il lembo per vedere la risposta e il perché.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Quindici capitoli, dal terremoto alla siccità, con i testi delle pagine rischio e una versione testuale accessibile.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Pagine rischio del sito · DPC «Io non rischio» · WCAG 2.2 AA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Dossier interattivi — racconti visivi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Storie che si leggono scorrendo: immagini a tutto schermo, dati animati e mappe da esplorare.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Qualità da rivista digitale, ma interamente accessibile (WCAG 2.2 AA) e senza servizi di terzi.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è condivisibile; il primo dossier racconta la Terra vista dai satelliti.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Immagini con licenza aperta: NASA · Copernicus / ESA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Crea la mia lezione e Modalità Aula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docente sceglie classe, minuti e argomento: il sito compone la lezione con schede, storie, giochi ed esperimenti già pubblicati.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 alunni con bisogni educativi speciali si aggiungono versioni facilitate, tabelle CAA, LIS e pittogrammi.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Modalità Aula: ogni pagina diventa una sequenza di schermate a testo grande, da proiettare in classe.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Materiali del sito · D.M. 183/2024 (Educazione Civica)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03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Conformità WCAG 2.2 AA e barra strumenti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39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conforme alle WCAG 2.2 di livello AA.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Barra strumenti di lettura: dimensione del testo, contrasti, caratteri ad alta leggibilità.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Pausa delle animazioni, spaziatura ampia, modalità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W3C WCAG 2.2 · Legge Stanca (L. 4/2004)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Lettura facilitata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Lettura ad alta voce dei contenuti.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Tempo di lettura stimato e sillabazione automatica.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esplicativo a comparsa sui termini tecnici e le sigle.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volume-u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Pittogrammi standardizzati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Simboli ISO 7010 per la segnaletica di sicurezza.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Pittogrammi ARASAAC per la comprensione cognitiva.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Supporto a bambini, anziani e persone con difficoltà di lettura.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mag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7010 · ARASAAC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italiano semplice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Riscrittura dei contenuti in linguaggio piano (livello A2).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parlanti italiano come seconda lingua e per la lettura facilitata.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Sempre affiancata all'articolo completo.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hat-left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Contenuti in Lingua dei Segni (LIS)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 e contenuti in Lingua dei Segni Italiana.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di accesso dedicato alle persone sorde.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Termini chiave del rischio spiegati in forma visiva.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and-index-thumb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Versione in Braille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Versione stampabile in Braille degli articoli.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Compatibile con le stampanti braille (formato BRF).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canale dedicato a persone cieche e ipovedenti.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grid-3x3-gap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Versioni in più lingue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chiave tradotti in più lingue.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residenti stranieri e visitatori.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Poster «In emergenza chiama il 112» in otto lingue, da stampare e affiggere.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Lingua dichiarata correttamente anche per gli assistenti vocali.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translat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04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Diventa volontario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Come unirsi al Gruppo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Attività, formazione e impegno richiesto.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valore del volontariato per la comunità.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erson-plu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Addestramento e buone pratiche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L'addestramento è una pratica continua, non un evento occasionale.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Turni operativi, prove sui mezzi ed esercitazioni programmate con altri Gruppi e Coordinamenti.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Una vetrina educativa di come ci si prepara, non un diario operativo.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ne-stripe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Per gli enti e le scuole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dedicata a scuole, enti e altri gruppi di protezione civile dei Castelli Romani.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Cultura del rischio nelle scuole di ogni ordine e grado, anche nell'Educazione Civica.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Collaborazione con il Comune e con la rete del volontariato del territorio.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iagram-3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Affiliazioni e riconoscimenti europei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Quality Label del Corpo europeo di solidarietà (European Solidarity Corps) — Commissione europea.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Codice di accreditamento dell'organizzazione: E10435833 (sempre accanto al logo, Reg. UE 2021/888).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Servizio Nazionale di Protezione Civile (D.Lgs. 1/2018) — iscrizione al Registro Regionale del Volontariato.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Coordinamento FEPIVOL — Federazione Pronto Intervento Volontariato ODV.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European Solidarity Corps · DPC · Registro Regionale Lazio · FEPIVOL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Chi siamo nel sistema di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21127" y="2011680"/>
            <a:ext cx="6949440" cy="1078992"/>
          </a:xfrm>
          <a:prstGeom prst="roundRect">
            <a:avLst/>
          </a:prstGeom>
          <a:solidFill>
            <a:srgbClr val="003366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Servizio Nazionale della Protezione Civile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D.Lgs. 1/2018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5912967" y="3118103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21127" y="3547872"/>
            <a:ext cx="6949440" cy="1078992"/>
          </a:xfrm>
          <a:prstGeom prst="roundRect">
            <a:avLst/>
          </a:prstGeom>
          <a:solidFill>
            <a:srgbClr val="075985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Coordinamento Regionale FE.PI.VOL.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Federazione Pronto Intervento Volontariato ODV — volontariato di PC del Lazio</a:t>
            </a:r>
          </a:p>
        </p:txBody>
      </p:sp>
      <p:pic>
        <p:nvPicPr>
          <p:cNvPr id="18" name="Picture 17" descr="logo-fepivo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3611879"/>
            <a:ext cx="950976" cy="950976"/>
          </a:xfrm>
          <a:prstGeom prst="rect">
            <a:avLst/>
          </a:prstGeom>
        </p:spPr>
      </p:pic>
      <p:sp>
        <p:nvSpPr>
          <p:cNvPr id="19" name="Down Arrow 18"/>
          <p:cNvSpPr/>
          <p:nvPr/>
        </p:nvSpPr>
        <p:spPr>
          <a:xfrm>
            <a:off x="5912967" y="4654296"/>
            <a:ext cx="365760" cy="365760"/>
          </a:xfrm>
          <a:prstGeom prst="downArrow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621127" y="5084064"/>
            <a:ext cx="6949440" cy="1078992"/>
          </a:xfrm>
          <a:prstGeom prst="roundRect">
            <a:avLst/>
          </a:prstGeom>
          <a:solidFill>
            <a:srgbClr val="15803D"/>
          </a:soli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CFDDEC"/>
                </a:solidFill>
                <a:latin typeface="Titillium Web"/>
              </a:rPr>
              <a:t>Sede operativa: Via Sicilia 13-15</a:t>
            </a:r>
          </a:p>
        </p:txBody>
      </p:sp>
      <p:pic>
        <p:nvPicPr>
          <p:cNvPr id="21" name="Picture 20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5148072"/>
            <a:ext cx="950976" cy="9509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7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05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8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Conoscere la Protezione Civile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dottrinale: storia, Servizio Nazionale e le quattro fasi (previsione, prevenzione, soccorso, superamento).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La scienza del rischio e i Centri di competenza; la dimensione internazionale del sistema e l'Agenda 2030.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Il catalogo dei rischi e il vulcanismo dei Colli Albani (Vulcano Laziale).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Le telecomunicazioni in emergenza: capire come funziona la rete radio.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CNR-IRPI · CIMA · CMCC · ISS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FAQ e Glossario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Risposte alle domande frequenti dei cittadini.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Glossario dei termini e delle sigle della Protezione Civile.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Definizioni chiare, anche a comparsa sui termini tecnici nelle pagine.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question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Normativa e Standard ISO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Raccolta della normativa nazionale, regionale e comunale.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Schede degli standard internazionali ISO rilevanti per la materia.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Dalla legge nazionale fino al livello comunale e internazionale.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journal-tex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Normattiva · BURL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Area download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Documenti ufficiali e modulistica scaricabili.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Per ogni file sono indicati formato e dimensione (accessibilità).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 punto unico per atti, piani e materiali del Gruppo.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download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Materiali pronti da scaricare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Podcast, infografiche, quiz e flashcard sui rischi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Prodotti a partire da fonti istituzionali e verificati prima della pubblicazione.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Liberamente scaricabili e riutilizzabili per scuola, formazione e divulgazione.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collection-play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DPC · INGV · ISPRA · Centro Funzionale Regionale del Lazio · ISO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Strumenti in tempo reale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Hub dei servizi di monitoraggio del territorio.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Meteo, sismico, idrogeologico, incendi, qualità dell'aria, viabilità.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Collegamenti diretti alle fonti ufficiali aggiornate.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peedometer2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Audio e podcast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ascoltabili per chi preferisce l'ascolto.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Maggiore accessibilità all'informazione.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Utili per anziani, ipovedenti e chi è in movimento.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eadphone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 miei contenuti — le pagine che servono, sempre a portata di mano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pagina si può salvare con un pulsante e ritrovare in un elenco personale.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Nessuna registrazione: l'elenco resta solo nel browser di chi lo usa.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Utile all'anziano che salva tre pagine come al docente che ne salva venti.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info-circl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Open data, Open Kit e stato del sito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aperti riutilizzabili da chiunque, anche per scopi commerciali (CC BY 4.0).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28307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41584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1965960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2959729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Open Kit: i componenti del sito, con licenza EUPL 1.2, a disposizione di altri gruppi e Comuni.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28307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41584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Pagina di trasparenza sullo stato tecnico del sito.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313041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445812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3995927"/>
            <a:ext cx="5221224" cy="1719072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4989697"/>
            <a:ext cx="4764024" cy="58814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Testi, foto, video, kit e schede riusabili per scopi non commerciali, citando la fonte (CC BY-NC-SA 4.0).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313041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ar-char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445812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CC BY-NC-SA 4.0 · CC BY 4.0 per i dati · EUPL 1.2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Metodo editoriale — come scriviamo e verifichiamo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Fonti ufficiali sempre citate; ogni dato è verificabile da cittadini ed enti.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Controllo della vigenza delle norme e frequenza di aggiornamento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Correzioni tracciate: la trasparenza del metodo è parte della qualità.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patch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Pagine legali e trasparenza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Privacy, note legali, dichiarazione di accessibilità, social media policy.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Data di revisione sempre indicata.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Conformità agli obblighi di trasparenza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file-earmark-text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06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>
            <a:hlinkClick action="ppaction://hlinksldjump" r:id="rId9"/>
          </p:cNvPr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07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Comunicazioni e notizie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Sezione informativa costantemente aggiornata, che distingue informazione, prevenzione, allerta ed emergenza.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Ogni avviso rimanda alla fonte ufficiale di riferimento.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Sala stampa: contatti per i giornalisti, comunicati stampa con PDF da scaricare, dati, foto, logo e regole di citazione.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megaphone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Comunicazione di crisi e social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Social media policy pubblica.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16108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29385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Struttura dei messaggi secondo standard internazionali.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16108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29385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491739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383773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Contrasto alla disinformazione con fonti ufficiali.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16108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roadcas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29385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" y="5806440"/>
            <a:ext cx="10607040" cy="4114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200" b="1" i="0">
                <a:solidFill>
                  <a:srgbClr val="003366"/>
                </a:solidFill>
                <a:latin typeface="Titillium Web"/>
              </a:rPr>
              <a:t>Fonti e standard: </a:t>
            </a:r>
            <a:r>
              <a:rPr sz="1200" b="0" i="1">
                <a:solidFill>
                  <a:srgbClr val="5A6B7B"/>
                </a:solidFill>
                <a:latin typeface="Titillium Web"/>
              </a:rPr>
              <a:t>ISO 22329 · CWA CEN/CENELEC · EENA (112)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Canali di aggiornamento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Feed RSS per ogni sezione.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2182367" y="3366820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5138" y="3499591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37388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0248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Codici QR sugli articoli per l'accesso rapido.</a:t>
            </a:r>
          </a:p>
        </p:txBody>
      </p:sp>
      <p:sp>
        <p:nvSpPr>
          <p:cNvPr id="21" name="Oval 20"/>
          <p:cNvSpPr/>
          <p:nvPr/>
        </p:nvSpPr>
        <p:spPr>
          <a:xfrm>
            <a:off x="5779007" y="3366820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1778" y="3499591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970520" y="2697480"/>
            <a:ext cx="3413759" cy="2697480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9120" y="4043476"/>
            <a:ext cx="2956559" cy="1214323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Condivisione semplice e senza tracciamento.</a:t>
            </a:r>
          </a:p>
        </p:txBody>
      </p:sp>
      <p:sp>
        <p:nvSpPr>
          <p:cNvPr id="25" name="Oval 24"/>
          <p:cNvSpPr/>
          <p:nvPr/>
        </p:nvSpPr>
        <p:spPr>
          <a:xfrm>
            <a:off x="9375648" y="3366820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rss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8418" y="3499591"/>
            <a:ext cx="337962" cy="33796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001021"/>
              </a:gs>
              <a:gs pos="100000">
                <a:srgbClr val="003366"/>
              </a:gs>
            </a:gsLst>
            <a:lin ang="72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383280"/>
            <a:ext cx="5486400" cy="5486400"/>
          </a:xfrm>
          <a:prstGeom prst="ellipse">
            <a:avLst/>
          </a:prstGeom>
          <a:solidFill>
            <a:srgbClr val="07598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65815" y="502920"/>
            <a:ext cx="868680" cy="8686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743200"/>
            <a:ext cx="2194560" cy="50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5029200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3200" b="1" i="0">
                <a:solidFill>
                  <a:srgbClr val="FFFFFF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300" b="1" i="0">
                <a:solidFill>
                  <a:srgbClr val="FFBE2E"/>
                </a:solidFill>
                <a:latin typeface="Titillium Web"/>
              </a:rPr>
              <a:t>SEZIONE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334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9DB0C2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9DB0C2"/>
                </a:solidFill>
                <a:latin typeface="Titillium Web"/>
              </a:rPr>
              <a:t>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« Torna all'agenda</a:t>
            </a:r>
          </a:p>
        </p:txBody>
      </p:sp>
      <p:sp>
        <p:nvSpPr>
          <p:cNvPr id="12" name="Rounded Rectangle 11">
            <a:hlinkClick action="ppaction://hlinksldjump" r:id="rId4"/>
          </p:cNvPr>
          <p:cNvSpPr/>
          <p:nvPr/>
        </p:nvSpPr>
        <p:spPr>
          <a:xfrm>
            <a:off x="6446520" y="14813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01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il Cittadino</a:t>
            </a:r>
          </a:p>
        </p:txBody>
      </p:sp>
      <p:sp>
        <p:nvSpPr>
          <p:cNvPr id="13" name="Rounded Rectangle 12">
            <a:hlinkClick action="ppaction://hlinksldjump" r:id="rId5"/>
          </p:cNvPr>
          <p:cNvSpPr/>
          <p:nvPr/>
        </p:nvSpPr>
        <p:spPr>
          <a:xfrm>
            <a:off x="6446520" y="202996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02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Per le Scuole</a:t>
            </a:r>
          </a:p>
        </p:txBody>
      </p:sp>
      <p:sp>
        <p:nvSpPr>
          <p:cNvPr id="14" name="Rounded Rectangle 13">
            <a:hlinkClick action="ppaction://hlinksldjump" r:id="rId6"/>
          </p:cNvPr>
          <p:cNvSpPr/>
          <p:nvPr/>
        </p:nvSpPr>
        <p:spPr>
          <a:xfrm>
            <a:off x="6446520" y="257860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03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Accessibilità e inclusione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6446520" y="312724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04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Volontariato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6446520" y="3675887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05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Risorse e trasparenza</a:t>
            </a:r>
          </a:p>
        </p:txBody>
      </p:sp>
      <p:sp>
        <p:nvSpPr>
          <p:cNvPr id="17" name="Rounded Rectangle 16">
            <a:hlinkClick action="ppaction://hlinksldjump" r:id="rId9"/>
          </p:cNvPr>
          <p:cNvSpPr/>
          <p:nvPr/>
        </p:nvSpPr>
        <p:spPr>
          <a:xfrm>
            <a:off x="6446520" y="4224528"/>
            <a:ext cx="4983480" cy="457200"/>
          </a:xfrm>
          <a:prstGeom prst="roundRect">
            <a:avLst/>
          </a:prstGeom>
          <a:solidFill>
            <a:srgbClr val="003366"/>
          </a:solidFill>
          <a:ln w="9525">
            <a:solidFill>
              <a:srgbClr val="4A6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FFBE2E"/>
                </a:solidFill>
                <a:latin typeface="Titillium Web"/>
              </a:rPr>
              <a:t>06  </a:t>
            </a:r>
            <a:r>
              <a:rPr sz="1100" b="0" i="0">
                <a:solidFill>
                  <a:srgbClr val="FFFFFF"/>
                </a:solidFill>
                <a:latin typeface="Titillium Web"/>
              </a:rPr>
              <a:t>Comunicazione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773168"/>
            <a:ext cx="4983480" cy="457200"/>
          </a:xfrm>
          <a:prstGeom prst="round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9144" bIns="9144"/>
          <a:lstStyle/>
          <a:p>
            <a:pPr algn="l"/>
            <a:r>
              <a:rPr sz="1100" b="1" i="0">
                <a:solidFill>
                  <a:srgbClr val="001A33"/>
                </a:solidFill>
                <a:latin typeface="Titillium Web"/>
              </a:rPr>
              <a:t>07  </a:t>
            </a:r>
            <a:r>
              <a:rPr sz="1100" b="1" i="0">
                <a:solidFill>
                  <a:srgbClr val="001A33"/>
                </a:solidFill>
                <a:latin typeface="Titillium Web"/>
              </a:rPr>
              <a:t>Infrastruttura, fonti e sicurezza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0" action="ppaction://hlinksldjump"/>
              </a:rPr>
              <a:t>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11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Infrastruttura, sicurezza e prestazioni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Sito statico ad alte prestazioni, servito in HTTPS.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Nessun cookie di profilazione: approccio privacy-first.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Pubblicazione su doppio ambiente per la continuità del servizio.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Contenuti documentabili anche in caso di audit esterno.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hdd-networ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Fonti e dati di riferimento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Istituzioni: DPC, INGV, ISPRA, CNR, ItaliaMeteo, EUMETSAT, Copernicus, ARPA Lazio, ASL Roma 6.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Standard: WCAG 2.2; ISO 22320, 22324, 22329, 31000, 7010, 14090.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Normativa: D.Lgs. 1/2018, Direttiva PCM 30/4/2021, Circolare DPC 6/8/2018, Legge Stanca.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Design e linguaggio: AgID, Designers Italia, Bootstrap Italia.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bookmark-check-fill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01168" y="0"/>
            <a:ext cx="11990527" cy="1591056"/>
          </a:xfrm>
          <a:prstGeom prst="rect">
            <a:avLst/>
          </a:prstGeom>
          <a:gradFill>
            <a:gsLst>
              <a:gs pos="0">
                <a:srgbClr val="FFFFFF"/>
              </a:gs>
              <a:gs pos="100000">
                <a:srgbClr val="ECF1F8"/>
              </a:gs>
            </a:gsLst>
            <a:lin ang="54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591056"/>
            <a:ext cx="10817352" cy="11430"/>
          </a:xfrm>
          <a:prstGeom prst="rect">
            <a:avLst/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gradFill>
            <a:gsLst>
              <a:gs pos="0">
                <a:srgbClr val="003366"/>
              </a:gs>
              <a:gs pos="100000">
                <a:srgbClr val="07598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6127" y="411480"/>
            <a:ext cx="658368" cy="6583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475488"/>
            <a:ext cx="841248" cy="841248"/>
          </a:xfrm>
          <a:prstGeom prst="roundRect">
            <a:avLst/>
          </a:prstGeom>
          <a:gradFill>
            <a:gsLst>
              <a:gs pos="0">
                <a:srgbClr val="075985"/>
              </a:gs>
              <a:gs pos="100000">
                <a:srgbClr val="001A33"/>
              </a:gs>
            </a:gsLst>
            <a:lin ang="7200000" scaled="1"/>
          </a:gradFill>
          <a:ln>
            <a:noFill/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8" name="Picture 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694944"/>
            <a:ext cx="402336" cy="4023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64208" y="457200"/>
            <a:ext cx="8686800" cy="89611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700" b="1" i="0">
                <a:solidFill>
                  <a:srgbClr val="003366"/>
                </a:solidFill>
                <a:latin typeface="Titillium Web"/>
              </a:rPr>
              <a:t>Punti di forza in sintesi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64208" y="1417320"/>
            <a:ext cx="2011680" cy="40640"/>
          </a:xfrm>
          <a:prstGeom prst="rect">
            <a:avLst/>
          </a:prstGeom>
          <a:gradFill>
            <a:gsLst>
              <a:gs pos="0">
                <a:srgbClr val="FFBE2E"/>
              </a:gs>
              <a:gs pos="100000">
                <a:srgbClr val="E09010"/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6419088"/>
            <a:ext cx="11091672" cy="1524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55664"/>
            <a:ext cx="4114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900" b="0" i="0">
                <a:solidFill>
                  <a:srgbClr val="5A6B7B"/>
                </a:solidFill>
                <a:latin typeface="Titillium Web"/>
              </a:rPr>
              <a:t>Gruppo Comunale Volontari di PC · Genzano di Roma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55664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/>
            <a:r>
              <a:rPr sz="900" b="1" i="0">
                <a:solidFill>
                  <a:srgbClr val="5A6B7B"/>
                </a:solidFill>
                <a:latin typeface="Titillium Web"/>
              </a:rPr>
              <a:t>71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6428232"/>
            <a:ext cx="2743200" cy="32918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003366"/>
                </a:solidFill>
                <a:latin typeface="Titillium Web"/>
                <a:hlinkClick r:id="rId4" action="ppaction://hlinksldjump"/>
              </a:rPr>
              <a:t>« Torna all'agenda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Accessibilità reale e multicanale: vista, udito, lingua, cognizione.</a:t>
            </a:r>
          </a:p>
        </p:txBody>
      </p:sp>
      <p:sp>
        <p:nvSpPr>
          <p:cNvPr id="17" name="Oval 16"/>
          <p:cNvSpPr/>
          <p:nvPr/>
        </p:nvSpPr>
        <p:spPr>
          <a:xfrm>
            <a:off x="3086100" y="2406883"/>
            <a:ext cx="603504" cy="603504"/>
          </a:xfrm>
          <a:prstGeom prst="ellipse">
            <a:avLst/>
          </a:prstGeom>
          <a:gradFill>
            <a:gsLst>
              <a:gs pos="0">
                <a:srgbClr val="003366"/>
              </a:gs>
              <a:gs pos="100000">
                <a:srgbClr val="001E3D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18" name="Picture 17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2539654"/>
            <a:ext cx="337962" cy="33796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163055" y="2043684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1655" y="3083539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Dati sempre verificati e con fonte dichiarata.</a:t>
            </a:r>
          </a:p>
        </p:txBody>
      </p:sp>
      <p:sp>
        <p:nvSpPr>
          <p:cNvPr id="21" name="Oval 20"/>
          <p:cNvSpPr/>
          <p:nvPr/>
        </p:nvSpPr>
        <p:spPr>
          <a:xfrm>
            <a:off x="8471915" y="2406883"/>
            <a:ext cx="603504" cy="603504"/>
          </a:xfrm>
          <a:prstGeom prst="ellipse">
            <a:avLst/>
          </a:prstGeom>
          <a:gradFill>
            <a:gsLst>
              <a:gs pos="0">
                <a:srgbClr val="15803D"/>
              </a:gs>
              <a:gs pos="100000">
                <a:srgbClr val="0C4C24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2" name="Picture 21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2539654"/>
            <a:ext cx="337962" cy="337962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777240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Coerenza con le prassi ufficiali della Pubblica Amministrazione.</a:t>
            </a:r>
          </a:p>
        </p:txBody>
      </p:sp>
      <p:sp>
        <p:nvSpPr>
          <p:cNvPr id="25" name="Oval 24"/>
          <p:cNvSpPr/>
          <p:nvPr/>
        </p:nvSpPr>
        <p:spPr>
          <a:xfrm>
            <a:off x="3086100" y="4564867"/>
            <a:ext cx="603504" cy="603504"/>
          </a:xfrm>
          <a:prstGeom prst="ellipse">
            <a:avLst/>
          </a:prstGeom>
          <a:gradFill>
            <a:gsLst>
              <a:gs pos="0">
                <a:srgbClr val="B45309"/>
              </a:gs>
              <a:gs pos="100000">
                <a:srgbClr val="6C3105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26" name="Picture 25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870" y="4697638"/>
            <a:ext cx="337962" cy="337962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6163055" y="4201668"/>
            <a:ext cx="5221224" cy="1847088"/>
          </a:xfrm>
          <a:prstGeom prst="roundRect">
            <a:avLst/>
          </a:prstGeom>
          <a:gradFill>
            <a:gsLst>
              <a:gs pos="0">
                <a:srgbClr val="FFFFFF"/>
              </a:gs>
              <a:gs pos="100000">
                <a:srgbClr val="EAF0F7"/>
              </a:gs>
            </a:gsLst>
            <a:lin ang="5400000" scaled="1"/>
          </a:gradFill>
          <a:ln w="12700">
            <a:solidFill>
              <a:srgbClr val="D8DEE4"/>
            </a:solidFill>
          </a:ln>
          <a:effectLst>
            <a:outerShdw blurRad="69850" dist="34290" dir="5400000" rotWithShape="0">
              <a:srgbClr val="001A33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91655" y="5241523"/>
            <a:ext cx="4764024" cy="67007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8000"/>
              </a:lnSpc>
            </a:pPr>
            <a:r>
              <a:rPr sz="1500" b="0" i="0">
                <a:solidFill>
                  <a:srgbClr val="1A1A1A"/>
                </a:solidFill>
                <a:latin typeface="Titillium Web"/>
              </a:rPr>
              <a:t>Uno strumento di servizio pubblico, sobrio e affidabile.</a:t>
            </a:r>
          </a:p>
        </p:txBody>
      </p:sp>
      <p:sp>
        <p:nvSpPr>
          <p:cNvPr id="29" name="Oval 28"/>
          <p:cNvSpPr/>
          <p:nvPr/>
        </p:nvSpPr>
        <p:spPr>
          <a:xfrm>
            <a:off x="8471915" y="4564867"/>
            <a:ext cx="603504" cy="603504"/>
          </a:xfrm>
          <a:prstGeom prst="ellipse">
            <a:avLst/>
          </a:prstGeom>
          <a:gradFill>
            <a:gsLst>
              <a:gs pos="0">
                <a:srgbClr val="075985"/>
              </a:gs>
              <a:gs pos="100000">
                <a:srgbClr val="04354F"/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36576"/>
          <a:lstStyle/>
          <a:p>
            <a:pPr algn="ctr"/>
          </a:p>
        </p:txBody>
      </p:sp>
      <p:pic>
        <p:nvPicPr>
          <p:cNvPr id="30" name="Picture 29" descr="stars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4686" y="4697638"/>
            <a:ext cx="337962" cy="3379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5" action="ppaction://hlinksldjump"/>
              </a:rPr>
              <a:t>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03366"/>
                </a:solidFill>
                <a:latin typeface="Titillium Web"/>
                <a:hlinkClick r:id="rId6" action="ppaction://hlinksldjump"/>
              </a:rPr>
              <a:t>›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pc-genz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1051560" cy="1051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tillium Web"/>
              </a:rPr>
              <a:t>Grazie per l'attenzione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3154680"/>
            <a:ext cx="2926080" cy="381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7498079" cy="2468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Titillium Web"/>
              </a:rPr>
              <a:t>Gruppo Comunale Volontari di Protezione Civile di Genzano di Roma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Sede: Via Sicilia, 13-15 — 00045 Genzano di Roma (RM)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Segreteria: +39 06 9362600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Email: segreteria@protezionecivilegenzano.it</a:t>
            </a:r>
          </a:p>
          <a:p>
            <a:pPr>
              <a:lnSpc>
                <a:spcPct val="105000"/>
              </a:lnSpc>
              <a:spcBef>
                <a:spcPts val="600"/>
              </a:spcBef>
            </a:pPr>
            <a:r>
              <a:rPr sz="1400" b="0" i="0">
                <a:solidFill>
                  <a:srgbClr val="CFDDEC"/>
                </a:solidFill>
                <a:latin typeface="Titillium Web"/>
              </a:rPr>
              <a:t>www.protezionecivilegenzano.it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solidFill>
            <a:srgbClr val="FFB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0" y="3611880"/>
            <a:ext cx="2377440" cy="1828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4600" b="1" i="0">
                <a:solidFill>
                  <a:srgbClr val="001A33"/>
                </a:solidFill>
                <a:latin typeface="Titillium Web"/>
              </a:rPr>
              <a:t>112</a:t>
            </a:r>
          </a:p>
          <a:p>
            <a:pPr algn="ctr"/>
            <a:r>
              <a:rPr sz="1300" b="1" i="0">
                <a:solidFill>
                  <a:srgbClr val="001A33"/>
                </a:solidFill>
                <a:latin typeface="Titillium Web"/>
              </a:rPr>
              <a:t>In emergenza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57232" y="6373368"/>
            <a:ext cx="329184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FFBE2E"/>
                </a:solidFill>
                <a:latin typeface="Titillium Web"/>
                <a:hlinkClick r:id="rId3" action="ppaction://hlinksldjump"/>
              </a:rPr>
              <a:t>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