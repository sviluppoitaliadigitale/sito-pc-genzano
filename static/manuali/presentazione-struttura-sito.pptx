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7.xml"/><Relationship Id="rId5" Type="http://schemas.openxmlformats.org/officeDocument/2006/relationships/slide" Target="slide3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7.xml"/><Relationship Id="rId5" Type="http://schemas.openxmlformats.org/officeDocument/2006/relationships/slide" Target="slide3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19.xml"/><Relationship Id="rId6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3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26.xml"/><Relationship Id="rId11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45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36.xml"/><Relationship Id="rId11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51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44.xml"/><Relationship Id="rId11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48.xml"/><Relationship Id="rId6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image" Target="../media/image38.png"/><Relationship Id="rId6" Type="http://schemas.openxmlformats.org/officeDocument/2006/relationships/slide" Target="slide49.xml"/><Relationship Id="rId7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45.xml"/><Relationship Id="rId8" Type="http://schemas.openxmlformats.org/officeDocument/2006/relationships/slide" Target="slide63.xml"/><Relationship Id="rId9" Type="http://schemas.openxmlformats.org/officeDocument/2006/relationships/slide" Target="slide67.xml"/><Relationship Id="rId10" Type="http://schemas.openxmlformats.org/officeDocument/2006/relationships/slide" Target="slide50.xml"/><Relationship Id="rId11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6.xml"/><Relationship Id="rId6" Type="http://schemas.openxmlformats.org/officeDocument/2006/relationships/slide" Target="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7.xml"/><Relationship Id="rId6" Type="http://schemas.openxmlformats.org/officeDocument/2006/relationships/slide" Target="slide5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8.xml"/><Relationship Id="rId6" Type="http://schemas.openxmlformats.org/officeDocument/2006/relationships/slide" Target="slide6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59.xml"/><Relationship Id="rId6" Type="http://schemas.openxmlformats.org/officeDocument/2006/relationships/slide" Target="slide6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60.xml"/><Relationship Id="rId6" Type="http://schemas.openxmlformats.org/officeDocument/2006/relationships/slide" Target="slide6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61.xml"/><Relationship Id="rId6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45.xml"/><Relationship Id="rId8" Type="http://schemas.openxmlformats.org/officeDocument/2006/relationships/slide" Target="slide51.xml"/><Relationship Id="rId9" Type="http://schemas.openxmlformats.org/officeDocument/2006/relationships/slide" Target="slide67.xml"/><Relationship Id="rId10" Type="http://schemas.openxmlformats.org/officeDocument/2006/relationships/slide" Target="slide62.xml"/><Relationship Id="rId11" Type="http://schemas.openxmlformats.org/officeDocument/2006/relationships/slide" Target="slide6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slide" Target="slide2.xml"/><Relationship Id="rId5" Type="http://schemas.openxmlformats.org/officeDocument/2006/relationships/slide" Target="slide63.xml"/><Relationship Id="rId6" Type="http://schemas.openxmlformats.org/officeDocument/2006/relationships/slide" Target="slide6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64.xml"/><Relationship Id="rId6" Type="http://schemas.openxmlformats.org/officeDocument/2006/relationships/slide" Target="slide6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.png"/><Relationship Id="rId4" Type="http://schemas.openxmlformats.org/officeDocument/2006/relationships/slide" Target="slide2.xml"/><Relationship Id="rId5" Type="http://schemas.openxmlformats.org/officeDocument/2006/relationships/slide" Target="slide65.xml"/><Relationship Id="rId6" Type="http://schemas.openxmlformats.org/officeDocument/2006/relationships/slide" Target="slide6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7.xml"/><Relationship Id="rId7" Type="http://schemas.openxmlformats.org/officeDocument/2006/relationships/slide" Target="slide45.xml"/><Relationship Id="rId8" Type="http://schemas.openxmlformats.org/officeDocument/2006/relationships/slide" Target="slide51.xml"/><Relationship Id="rId9" Type="http://schemas.openxmlformats.org/officeDocument/2006/relationships/slide" Target="slide63.xml"/><Relationship Id="rId10" Type="http://schemas.openxmlformats.org/officeDocument/2006/relationships/slide" Target="slide66.xml"/><Relationship Id="rId11" Type="http://schemas.openxmlformats.org/officeDocument/2006/relationships/slide" Target="slide6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.png"/><Relationship Id="rId4" Type="http://schemas.openxmlformats.org/officeDocument/2006/relationships/slide" Target="slide2.xml"/><Relationship Id="rId5" Type="http://schemas.openxmlformats.org/officeDocument/2006/relationships/slide" Target="slide67.xml"/><Relationship Id="rId6" Type="http://schemas.openxmlformats.org/officeDocument/2006/relationships/slide" Target="slide6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Relationship Id="rId4" Type="http://schemas.openxmlformats.org/officeDocument/2006/relationships/slide" Target="slide2.xml"/><Relationship Id="rId5" Type="http://schemas.openxmlformats.org/officeDocument/2006/relationships/slide" Target="slide68.xml"/><Relationship Id="rId6" Type="http://schemas.openxmlformats.org/officeDocument/2006/relationships/slide" Target="slide7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png"/><Relationship Id="rId4" Type="http://schemas.openxmlformats.org/officeDocument/2006/relationships/slide" Target="slide2.xml"/><Relationship Id="rId5" Type="http://schemas.openxmlformats.org/officeDocument/2006/relationships/slide" Target="slide69.xml"/><Relationship Id="rId6" Type="http://schemas.openxmlformats.org/officeDocument/2006/relationships/slide" Target="slide7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7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Titillium Web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Titillium Web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Titillium Web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Titillium Web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Titillium Web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01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02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03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04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05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06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07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Titillium Web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Titillium Web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Titillium Web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Titillium Web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Titillium Web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01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Nessuna allerta — nessun fenomeno significativo previsto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Titillium Web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Titillium Web"/>
              </a:rPr>
              <a:t>Criticità ordinaria — fenomeni localizzati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Criticità moderata — fenomeni diffusi e potenzialmente pericolosi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Criticità elevata — fenomeni molto intensi, danni gravi probabili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Allerta meteo: cosa significa a Genzano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colore — verde, giallo, arancione, rosso — cosa cambia concretamente sul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zone più delicate, cosa fa il cittadino e cosa fa il Comune con il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Genzano rientra nella zona di allerta F — Bacini Costieri Sud.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succede quando scatta un'allerta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percorso completo, in linguaggio semplice: dal bollettino nazionale fino al cittadino.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 decide il livello, chi attiva il Centro Operativo Comunale, chi comunica.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Cosa fare e cosa non aspettarsi dal volontariato: educazione civica per ridurre richieste improprie.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Lanterna — strumenti per il buio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ultraleggera pensata per poca batteria, rete debole e ore notturne.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Torcia, bussola e schermo sempre acceso, direttamente sul dispositivo.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numero 112 sempre a portata di mano.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Ogni scheda spiegata a parole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Fonte dichiarata per ogni scheda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Titillium Web"/>
              </a:rPr>
              <a:t>Giallo — criticità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Arancione — criticità moderata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Rosso — criticità elevata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95728"/>
            <a:ext cx="2606040" cy="100584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395728"/>
            <a:ext cx="2606040" cy="100584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395728"/>
            <a:ext cx="2606040" cy="100584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395728"/>
            <a:ext cx="2606040" cy="100584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2606040" cy="100584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3566160"/>
            <a:ext cx="2606040" cy="100584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3566160"/>
            <a:ext cx="2606040" cy="100584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3566160"/>
            <a:ext cx="2606040" cy="100584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Vulcanico (Colli Albani)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36592"/>
            <a:ext cx="2606040" cy="1005840"/>
          </a:xfrm>
          <a:prstGeom prst="roundRect">
            <a:avLst/>
          </a:prstGeom>
          <a:gradFill>
            <a:gsLst>
              <a:gs pos="0">
                <a:srgbClr val="187D9D"/>
              </a:gs>
              <a:gs pos="100000">
                <a:srgbClr val="0F4F64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Maremoto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47872" y="4736592"/>
            <a:ext cx="2606040" cy="1005840"/>
          </a:xfrm>
          <a:prstGeom prst="roundRect">
            <a:avLst/>
          </a:prstGeom>
          <a:gradFill>
            <a:gsLst>
              <a:gs pos="0">
                <a:srgbClr val="7C5111"/>
              </a:gs>
              <a:gs pos="100000">
                <a:srgbClr val="4F330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Chimico-industriale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736592"/>
            <a:ext cx="2606040" cy="1005840"/>
          </a:xfrm>
          <a:prstGeom prst="roundRect">
            <a:avLst/>
          </a:prstGeom>
          <a:gradFill>
            <a:gsLst>
              <a:gs pos="0">
                <a:srgbClr val="62600B"/>
              </a:gs>
              <a:gs pos="100000">
                <a:srgbClr val="3E3D0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Nucleare-radiologico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9136" y="4736592"/>
            <a:ext cx="2606040" cy="1005840"/>
          </a:xfrm>
          <a:prstGeom prst="roundRect">
            <a:avLst/>
          </a:prstGeom>
          <a:gradFill>
            <a:gsLst>
              <a:gs pos="0">
                <a:srgbClr val="BA7108"/>
              </a:gs>
              <a:gs pos="100000">
                <a:srgbClr val="77480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Siccità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DPC «Io non rischio» · INGV · ISPRA · CNR-IRPI · ReLUIS · Vigili del Fuoco.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Quanto sei preparato — autovalutazione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Quiz non giudicante: le domande si adattano alla tua situazione (solo o in famiglia, casa o appartamento, animali).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Alla fine, un profilo di preparazione e un piano d'azione su misura.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risposta inviata o salvata online: tutto resta sul tuo dispositivo.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 minuto per proteggerti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Sei micro-schede di autoprotezione: torcia, 112, punto di ritrovo, kit auto, terremoto per bambini, documenti.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Azioni concrete che si fanno in un minuto, una per volta, senza spese.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Stampabili in formato A5 per casa, sede, bacheche scolastiche e banchetti informativi.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Prevenzione tutto l'anno e nuovi residenti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Calendario della prevenzione: un gesto al mese e le date fisse, anche nel calendario del telefono.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Accordo di aiuto fra vicini: un foglio da compilare insieme per sapere chi aiuta chi; i dati restano sulla carta.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«Vivo qui da poco»: rischi del territorio, avvisi, aree di attesa e numeri da salvare per chi è appena arrivato.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per le organizzazioni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per chi gestisce un luogo o un gruppo di persone: attività commerciali, condomìni, associazioni, organizzatori di eventi.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uniforme: cosa fare prima, durante e dopo terremoto, incendio, allerta meteo e blackout.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gli eventi pubblici, il ruolo del volontariato nei limiti delle regole vigenti: nessun compito di viabilità.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Codice della Strada artt. 11-12 · Circolare DPC 6/8/2018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02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Percorsi pronti all'uso per i docenti, collegati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Settimana della protezione civile a scuola: un tema al giorno per tutto l'istituto e la prova di evacuazione del venerdì.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storici dei Castelli Romani (rianalisi ERA5-Land ed ERA5, serie omogenea) ed esempi già pronti.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grafico ha spiegazione a parole, tabella dati, stampa, download (CSV e immagine) e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ERA5-Land · ERA5 · Copernicus Climate Change Service · Open-Meteo (CC BY 4.0)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Dossier interattivi — racconti visivi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Storie che si leggono scorrendo: immagini a tutto schermo, dati animati e mappe da esplorare.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Qualità da rivista digitale, ma interamente accessibile (WCAG 2.2 AA) e senza servizi di terzi.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è condivisibile; il primo dossier racconta la Terra vista dai satelliti.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Immagini con licenza aperta: NASA · Copernicus / ESA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Crea la mia lezione e Modalità Aula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docente sceglie classe, minuti e argomento: il sito compone la lezione con schede, storie, giochi ed esperimenti già pubblicati.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 alunni con bisogni educativi speciali si aggiungono versioni facilitate, tabelle CAA, LIS e pittogrammi.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Modalità Aula: ogni pagina diventa una sequenza di schermate a testo grande, da proiettare in classe.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Materiali del sito · D.M. 183/2024 (Educazione Civica)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03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Poster «In emergenza chiama il 112» in otto lingue, da stampare e affiggere.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 dichiarata correttamente anche per gli assistenti vocali.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04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Addestramento e buone pratiche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L'addestramento è una pratica continua, non un evento occasionale.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Turni operativi, prove sui mezzi ed esercitazioni programmate con altri Gruppi e Coordinamenti.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vetrina educativa di come ci si prepara, non un diario operativo.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 gli enti e le scuole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dedicata a scuole, enti e altri gruppi di protezione civile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Cultura del rischio nelle scuole di ogni ordine e grado, anche nell'Educazione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Collaborazione con il Comune e con la rete del volontariato del territorio.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05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scienza del rischio e i Centri di competenza; la dimensione internazionale del sistema e l'Agenda 2030.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Materiali pronti da scaricare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Podcast, infografiche, quiz e flashcard sui rischi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Prodotti a partire da fonti istituzionali e verificati prima della pubblicazione.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Liberamente scaricabili e riutilizzabili per scuola, formazione e divulgazione.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Centro Funzionale Regionale del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 miei contenuti — le pagine che servono, sempre a portata di mano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si può salvare con un pulsante e ritrovare in un elenco personale.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registrazione: l'elenco resta solo nel browser di chi lo usa.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Utile all'anziano che salva tre pagine come al docente che ne salva venti.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Open data, Open Kit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aperti riutilizzabili da chiunque, anche per scopi commerciali (CC BY 4.0).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Open Kit: i componenti del sito, con licenza EUPL 1.2, a disposizione di altri gruppi e Comuni.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trasparenza sullo stato tecnico del sito.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Testi, foto, video, kit e schede riusabili per scopi non commerciali, citando la fonte (CC BY-NC-SA 4.0).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CC BY-NC-SA 4.0 · CC BY 4.0 per i dati · EUPL 1.2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Metodo editoriale — come scriviamo e verifichiamo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Fonti ufficiali sempre citate; ogni dato è verificabile da cittadini ed 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Controllo della vigenza delle norme e frequenza di aggiornamento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Correzioni tracciate: la trasparenza del metodo è parte della qualità.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06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informativa costantemente aggiornata, che distingue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Sala stampa: contatti per i giornalisti, comunicati stampa con PDF da scaricare, dati, foto, logo e regole di citazione.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07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tillium Web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Titillium Web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Titillium Web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