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8.xml"/><Relationship Id="rId4" Type="http://schemas.openxmlformats.org/officeDocument/2006/relationships/slide" Target="slide20.xml"/><Relationship Id="rId5" Type="http://schemas.openxmlformats.org/officeDocument/2006/relationships/slide" Target="slide28.xml"/><Relationship Id="rId6" Type="http://schemas.openxmlformats.org/officeDocument/2006/relationships/slide" Target="slide36.xml"/><Relationship Id="rId7" Type="http://schemas.openxmlformats.org/officeDocument/2006/relationships/slide" Target="slide40.xml"/><Relationship Id="rId8" Type="http://schemas.openxmlformats.org/officeDocument/2006/relationships/slide" Target="slide49.xml"/><Relationship Id="rId9" Type="http://schemas.openxmlformats.org/officeDocument/2006/relationships/slide" Target="slide53.xml"/><Relationship Id="rId10" Type="http://schemas.openxmlformats.org/officeDocument/2006/relationships/slide" Target="slide1.xml"/><Relationship Id="rId11" Type="http://schemas.openxmlformats.org/officeDocument/2006/relationships/slide" Target="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slide" Target="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6.png"/><Relationship Id="rId5" Type="http://schemas.openxmlformats.org/officeDocument/2006/relationships/slide" Target="slide3.xml"/><Relationship Id="rId6" Type="http://schemas.openxmlformats.org/officeDocument/2006/relationships/slide" Target="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7.png"/><Relationship Id="rId5" Type="http://schemas.openxmlformats.org/officeDocument/2006/relationships/slide" Target="slide4.xml"/><Relationship Id="rId6" Type="http://schemas.openxmlformats.org/officeDocument/2006/relationships/slide" Target="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8.png"/><Relationship Id="rId5" Type="http://schemas.openxmlformats.org/officeDocument/2006/relationships/slide" Target="slide5.xml"/><Relationship Id="rId6" Type="http://schemas.openxmlformats.org/officeDocument/2006/relationships/slide" Target="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9.png"/><Relationship Id="rId5" Type="http://schemas.openxmlformats.org/officeDocument/2006/relationships/slide" Target="slide6.xml"/><Relationship Id="rId6" Type="http://schemas.openxmlformats.org/officeDocument/2006/relationships/slide" Target="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20.xml"/><Relationship Id="rId5" Type="http://schemas.openxmlformats.org/officeDocument/2006/relationships/slide" Target="slide28.xml"/><Relationship Id="rId6" Type="http://schemas.openxmlformats.org/officeDocument/2006/relationships/slide" Target="slide36.xml"/><Relationship Id="rId7" Type="http://schemas.openxmlformats.org/officeDocument/2006/relationships/slide" Target="slide40.xml"/><Relationship Id="rId8" Type="http://schemas.openxmlformats.org/officeDocument/2006/relationships/slide" Target="slide49.xml"/><Relationship Id="rId9" Type="http://schemas.openxmlformats.org/officeDocument/2006/relationships/slide" Target="slide53.xml"/><Relationship Id="rId10" Type="http://schemas.openxmlformats.org/officeDocument/2006/relationships/slide" Target="slide7.xml"/><Relationship Id="rId11" Type="http://schemas.openxmlformats.org/officeDocument/2006/relationships/slide" Target="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0.png"/><Relationship Id="rId5" Type="http://schemas.openxmlformats.org/officeDocument/2006/relationships/slide" Target="slide8.xml"/><Relationship Id="rId6" Type="http://schemas.openxmlformats.org/officeDocument/2006/relationships/slide" Target="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9.xml"/><Relationship Id="rId5" Type="http://schemas.openxmlformats.org/officeDocument/2006/relationships/slide" Target="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1.png"/><Relationship Id="rId5" Type="http://schemas.openxmlformats.org/officeDocument/2006/relationships/slide" Target="slide10.xml"/><Relationship Id="rId6" Type="http://schemas.openxmlformats.org/officeDocument/2006/relationships/slide" Target="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11.xml"/><Relationship Id="rId5" Type="http://schemas.openxmlformats.org/officeDocument/2006/relationships/slide" Target="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2.png"/><Relationship Id="rId5" Type="http://schemas.openxmlformats.org/officeDocument/2006/relationships/slide" Target="slide12.xml"/><Relationship Id="rId6" Type="http://schemas.openxmlformats.org/officeDocument/2006/relationships/slide" Target="slide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13.xml"/><Relationship Id="rId5" Type="http://schemas.openxmlformats.org/officeDocument/2006/relationships/slide" Target="slide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3.png"/><Relationship Id="rId5" Type="http://schemas.openxmlformats.org/officeDocument/2006/relationships/slide" Target="slide14.xml"/><Relationship Id="rId6" Type="http://schemas.openxmlformats.org/officeDocument/2006/relationships/slide" Target="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4.png"/><Relationship Id="rId5" Type="http://schemas.openxmlformats.org/officeDocument/2006/relationships/slide" Target="slide15.xml"/><Relationship Id="rId6" Type="http://schemas.openxmlformats.org/officeDocument/2006/relationships/slide" Target="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5.png"/><Relationship Id="rId5" Type="http://schemas.openxmlformats.org/officeDocument/2006/relationships/slide" Target="slide16.xml"/><Relationship Id="rId6" Type="http://schemas.openxmlformats.org/officeDocument/2006/relationships/slide" Target="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6.png"/><Relationship Id="rId5" Type="http://schemas.openxmlformats.org/officeDocument/2006/relationships/slide" Target="slide17.xml"/><Relationship Id="rId6" Type="http://schemas.openxmlformats.org/officeDocument/2006/relationships/slide" Target="slide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7.png"/><Relationship Id="rId5" Type="http://schemas.openxmlformats.org/officeDocument/2006/relationships/slide" Target="slide18.xml"/><Relationship Id="rId6" Type="http://schemas.openxmlformats.org/officeDocument/2006/relationships/slide" Target="slide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8.xml"/><Relationship Id="rId6" Type="http://schemas.openxmlformats.org/officeDocument/2006/relationships/slide" Target="slide36.xml"/><Relationship Id="rId7" Type="http://schemas.openxmlformats.org/officeDocument/2006/relationships/slide" Target="slide40.xml"/><Relationship Id="rId8" Type="http://schemas.openxmlformats.org/officeDocument/2006/relationships/slide" Target="slide49.xml"/><Relationship Id="rId9" Type="http://schemas.openxmlformats.org/officeDocument/2006/relationships/slide" Target="slide53.xml"/><Relationship Id="rId10" Type="http://schemas.openxmlformats.org/officeDocument/2006/relationships/slide" Target="slide19.xml"/><Relationship Id="rId11" Type="http://schemas.openxmlformats.org/officeDocument/2006/relationships/slide" Target="slide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8.png"/><Relationship Id="rId5" Type="http://schemas.openxmlformats.org/officeDocument/2006/relationships/slide" Target="slide20.xml"/><Relationship Id="rId6" Type="http://schemas.openxmlformats.org/officeDocument/2006/relationships/slide" Target="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9.png"/><Relationship Id="rId5" Type="http://schemas.openxmlformats.org/officeDocument/2006/relationships/slide" Target="slide21.xml"/><Relationship Id="rId6" Type="http://schemas.openxmlformats.org/officeDocument/2006/relationships/slide" Target="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0.png"/><Relationship Id="rId5" Type="http://schemas.openxmlformats.org/officeDocument/2006/relationships/slide" Target="slide22.xml"/><Relationship Id="rId6" Type="http://schemas.openxmlformats.org/officeDocument/2006/relationships/slide" Target="slide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1.png"/><Relationship Id="rId5" Type="http://schemas.openxmlformats.org/officeDocument/2006/relationships/slide" Target="slide23.xml"/><Relationship Id="rId6" Type="http://schemas.openxmlformats.org/officeDocument/2006/relationships/slide" Target="slide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2.png"/><Relationship Id="rId5" Type="http://schemas.openxmlformats.org/officeDocument/2006/relationships/slide" Target="slide24.xml"/><Relationship Id="rId6" Type="http://schemas.openxmlformats.org/officeDocument/2006/relationships/slide" Target="slide2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2.png"/><Relationship Id="rId5" Type="http://schemas.openxmlformats.org/officeDocument/2006/relationships/slide" Target="slide25.xml"/><Relationship Id="rId6" Type="http://schemas.openxmlformats.org/officeDocument/2006/relationships/slide" Target="slide2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3.png"/><Relationship Id="rId5" Type="http://schemas.openxmlformats.org/officeDocument/2006/relationships/slide" Target="slide26.xml"/><Relationship Id="rId6" Type="http://schemas.openxmlformats.org/officeDocument/2006/relationships/slide" Target="slide2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0.xml"/><Relationship Id="rId6" Type="http://schemas.openxmlformats.org/officeDocument/2006/relationships/slide" Target="slide36.xml"/><Relationship Id="rId7" Type="http://schemas.openxmlformats.org/officeDocument/2006/relationships/slide" Target="slide40.xml"/><Relationship Id="rId8" Type="http://schemas.openxmlformats.org/officeDocument/2006/relationships/slide" Target="slide49.xml"/><Relationship Id="rId9" Type="http://schemas.openxmlformats.org/officeDocument/2006/relationships/slide" Target="slide53.xml"/><Relationship Id="rId10" Type="http://schemas.openxmlformats.org/officeDocument/2006/relationships/slide" Target="slide27.xml"/><Relationship Id="rId11" Type="http://schemas.openxmlformats.org/officeDocument/2006/relationships/slide" Target="slide2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8.png"/><Relationship Id="rId5" Type="http://schemas.openxmlformats.org/officeDocument/2006/relationships/slide" Target="slide28.xml"/><Relationship Id="rId6" Type="http://schemas.openxmlformats.org/officeDocument/2006/relationships/slide" Target="slide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4.png"/><Relationship Id="rId5" Type="http://schemas.openxmlformats.org/officeDocument/2006/relationships/slide" Target="slide29.xml"/><Relationship Id="rId6" Type="http://schemas.openxmlformats.org/officeDocument/2006/relationships/slide" Target="slide3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5.png"/><Relationship Id="rId5" Type="http://schemas.openxmlformats.org/officeDocument/2006/relationships/slide" Target="slide30.xml"/><Relationship Id="rId6" Type="http://schemas.openxmlformats.org/officeDocument/2006/relationships/slide" Target="slide3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6.png"/><Relationship Id="rId5" Type="http://schemas.openxmlformats.org/officeDocument/2006/relationships/slide" Target="slide31.xml"/><Relationship Id="rId6" Type="http://schemas.openxmlformats.org/officeDocument/2006/relationships/slide" Target="slide3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7.png"/><Relationship Id="rId5" Type="http://schemas.openxmlformats.org/officeDocument/2006/relationships/slide" Target="slide32.xml"/><Relationship Id="rId6" Type="http://schemas.openxmlformats.org/officeDocument/2006/relationships/slide" Target="slide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8.png"/><Relationship Id="rId5" Type="http://schemas.openxmlformats.org/officeDocument/2006/relationships/slide" Target="slide33.xml"/><Relationship Id="rId6" Type="http://schemas.openxmlformats.org/officeDocument/2006/relationships/slide" Target="slide3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9.png"/><Relationship Id="rId5" Type="http://schemas.openxmlformats.org/officeDocument/2006/relationships/slide" Target="slide34.xml"/><Relationship Id="rId6" Type="http://schemas.openxmlformats.org/officeDocument/2006/relationships/slide" Target="slide3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0.xml"/><Relationship Id="rId6" Type="http://schemas.openxmlformats.org/officeDocument/2006/relationships/slide" Target="slide28.xml"/><Relationship Id="rId7" Type="http://schemas.openxmlformats.org/officeDocument/2006/relationships/slide" Target="slide40.xml"/><Relationship Id="rId8" Type="http://schemas.openxmlformats.org/officeDocument/2006/relationships/slide" Target="slide49.xml"/><Relationship Id="rId9" Type="http://schemas.openxmlformats.org/officeDocument/2006/relationships/slide" Target="slide53.xml"/><Relationship Id="rId10" Type="http://schemas.openxmlformats.org/officeDocument/2006/relationships/slide" Target="slide35.xml"/><Relationship Id="rId11" Type="http://schemas.openxmlformats.org/officeDocument/2006/relationships/slide" Target="slide3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0.png"/><Relationship Id="rId5" Type="http://schemas.openxmlformats.org/officeDocument/2006/relationships/slide" Target="slide36.xml"/><Relationship Id="rId6" Type="http://schemas.openxmlformats.org/officeDocument/2006/relationships/slide" Target="slide3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3.png"/><Relationship Id="rId5" Type="http://schemas.openxmlformats.org/officeDocument/2006/relationships/slide" Target="slide37.xml"/><Relationship Id="rId6" Type="http://schemas.openxmlformats.org/officeDocument/2006/relationships/slide" Target="slide3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1.png"/><Relationship Id="rId5" Type="http://schemas.openxmlformats.org/officeDocument/2006/relationships/slide" Target="slide38.xml"/><Relationship Id="rId6" Type="http://schemas.openxmlformats.org/officeDocument/2006/relationships/slide" Target="slide4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0.xml"/><Relationship Id="rId6" Type="http://schemas.openxmlformats.org/officeDocument/2006/relationships/slide" Target="slide28.xml"/><Relationship Id="rId7" Type="http://schemas.openxmlformats.org/officeDocument/2006/relationships/slide" Target="slide36.xml"/><Relationship Id="rId8" Type="http://schemas.openxmlformats.org/officeDocument/2006/relationships/slide" Target="slide49.xml"/><Relationship Id="rId9" Type="http://schemas.openxmlformats.org/officeDocument/2006/relationships/slide" Target="slide53.xml"/><Relationship Id="rId10" Type="http://schemas.openxmlformats.org/officeDocument/2006/relationships/slide" Target="slide39.xml"/><Relationship Id="rId11" Type="http://schemas.openxmlformats.org/officeDocument/2006/relationships/slide" Target="slide4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3.png"/><Relationship Id="rId5" Type="http://schemas.openxmlformats.org/officeDocument/2006/relationships/slide" Target="slide40.xml"/><Relationship Id="rId6" Type="http://schemas.openxmlformats.org/officeDocument/2006/relationships/slide" Target="slide4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2.png"/><Relationship Id="rId5" Type="http://schemas.openxmlformats.org/officeDocument/2006/relationships/slide" Target="slide41.xml"/><Relationship Id="rId6" Type="http://schemas.openxmlformats.org/officeDocument/2006/relationships/slide" Target="slide4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3.png"/><Relationship Id="rId5" Type="http://schemas.openxmlformats.org/officeDocument/2006/relationships/slide" Target="slide42.xml"/><Relationship Id="rId6" Type="http://schemas.openxmlformats.org/officeDocument/2006/relationships/slide" Target="slide4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4.png"/><Relationship Id="rId5" Type="http://schemas.openxmlformats.org/officeDocument/2006/relationships/slide" Target="slide43.xml"/><Relationship Id="rId6" Type="http://schemas.openxmlformats.org/officeDocument/2006/relationships/slide" Target="slide4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5.png"/><Relationship Id="rId5" Type="http://schemas.openxmlformats.org/officeDocument/2006/relationships/slide" Target="slide44.xml"/><Relationship Id="rId6" Type="http://schemas.openxmlformats.org/officeDocument/2006/relationships/slide" Target="slide4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6.png"/><Relationship Id="rId5" Type="http://schemas.openxmlformats.org/officeDocument/2006/relationships/slide" Target="slide45.xml"/><Relationship Id="rId6" Type="http://schemas.openxmlformats.org/officeDocument/2006/relationships/slide" Target="slide4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7.png"/><Relationship Id="rId5" Type="http://schemas.openxmlformats.org/officeDocument/2006/relationships/slide" Target="slide46.xml"/><Relationship Id="rId6" Type="http://schemas.openxmlformats.org/officeDocument/2006/relationships/slide" Target="slide48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8.png"/><Relationship Id="rId5" Type="http://schemas.openxmlformats.org/officeDocument/2006/relationships/slide" Target="slide47.xml"/><Relationship Id="rId6" Type="http://schemas.openxmlformats.org/officeDocument/2006/relationships/slide" Target="slide49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0.xml"/><Relationship Id="rId6" Type="http://schemas.openxmlformats.org/officeDocument/2006/relationships/slide" Target="slide28.xml"/><Relationship Id="rId7" Type="http://schemas.openxmlformats.org/officeDocument/2006/relationships/slide" Target="slide36.xml"/><Relationship Id="rId8" Type="http://schemas.openxmlformats.org/officeDocument/2006/relationships/slide" Target="slide40.xml"/><Relationship Id="rId9" Type="http://schemas.openxmlformats.org/officeDocument/2006/relationships/slide" Target="slide53.xml"/><Relationship Id="rId10" Type="http://schemas.openxmlformats.org/officeDocument/2006/relationships/slide" Target="slide48.xml"/><Relationship Id="rId11" Type="http://schemas.openxmlformats.org/officeDocument/2006/relationships/slide" Target="slide50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9.png"/><Relationship Id="rId5" Type="http://schemas.openxmlformats.org/officeDocument/2006/relationships/slide" Target="slide49.xml"/><Relationship Id="rId6" Type="http://schemas.openxmlformats.org/officeDocument/2006/relationships/slide" Target="slide5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40.png"/><Relationship Id="rId5" Type="http://schemas.openxmlformats.org/officeDocument/2006/relationships/slide" Target="slide50.xml"/><Relationship Id="rId6" Type="http://schemas.openxmlformats.org/officeDocument/2006/relationships/slide" Target="slide5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41.png"/><Relationship Id="rId5" Type="http://schemas.openxmlformats.org/officeDocument/2006/relationships/slide" Target="slide51.xml"/><Relationship Id="rId6" Type="http://schemas.openxmlformats.org/officeDocument/2006/relationships/slide" Target="slide53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0.xml"/><Relationship Id="rId6" Type="http://schemas.openxmlformats.org/officeDocument/2006/relationships/slide" Target="slide28.xml"/><Relationship Id="rId7" Type="http://schemas.openxmlformats.org/officeDocument/2006/relationships/slide" Target="slide36.xml"/><Relationship Id="rId8" Type="http://schemas.openxmlformats.org/officeDocument/2006/relationships/slide" Target="slide40.xml"/><Relationship Id="rId9" Type="http://schemas.openxmlformats.org/officeDocument/2006/relationships/slide" Target="slide49.xml"/><Relationship Id="rId10" Type="http://schemas.openxmlformats.org/officeDocument/2006/relationships/slide" Target="slide52.xml"/><Relationship Id="rId11" Type="http://schemas.openxmlformats.org/officeDocument/2006/relationships/slide" Target="slide5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42.png"/><Relationship Id="rId5" Type="http://schemas.openxmlformats.org/officeDocument/2006/relationships/slide" Target="slide53.xml"/><Relationship Id="rId6" Type="http://schemas.openxmlformats.org/officeDocument/2006/relationships/slide" Target="slide55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43.png"/><Relationship Id="rId5" Type="http://schemas.openxmlformats.org/officeDocument/2006/relationships/slide" Target="slide54.xml"/><Relationship Id="rId6" Type="http://schemas.openxmlformats.org/officeDocument/2006/relationships/slide" Target="slide5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44.png"/><Relationship Id="rId5" Type="http://schemas.openxmlformats.org/officeDocument/2006/relationships/slide" Target="slide55.xml"/><Relationship Id="rId6" Type="http://schemas.openxmlformats.org/officeDocument/2006/relationships/slide" Target="slide5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5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548640"/>
            <a:ext cx="1143000" cy="114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828800"/>
            <a:ext cx="103327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1" i="0">
                <a:solidFill>
                  <a:srgbClr val="FFBE2E"/>
                </a:solidFill>
                <a:latin typeface="Liberation Sans"/>
              </a:rPr>
              <a:t>PROTEZIONE CIVILE — GENZANO DI ROMA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0332720" cy="1828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Liberation Sans"/>
              </a:rPr>
              <a:t>Il sito istituzionale:
struttura e contenuti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4297680"/>
            <a:ext cx="29260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526280"/>
            <a:ext cx="1033272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000" b="0" i="0">
                <a:solidFill>
                  <a:srgbClr val="CFDDEC"/>
                </a:solidFill>
                <a:latin typeface="Liberation Sans"/>
              </a:rPr>
              <a:t>Gruppo Comunale Volontari di Protezione Civile di Genzano di Roma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89788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0" i="1">
                <a:solidFill>
                  <a:srgbClr val="5A6B7B"/>
                </a:solidFill>
                <a:latin typeface="Liberation Sans"/>
              </a:rPr>
              <a:t>Le voci sono cliccabili: portano alla sezione corrispondente. Da ogni slide il piè di pagina riporta qui con «Torna all'agenda».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2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777240" y="1993392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Liberation Sans"/>
              </a:rPr>
              <a:t>01   </a:t>
            </a:r>
            <a:r>
              <a:rPr sz="1500" b="1" i="0">
                <a:solidFill>
                  <a:srgbClr val="FFFFFF"/>
                </a:solidFill>
                <a:latin typeface="Liberation Sans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777240" y="2962656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Liberation Sans"/>
              </a:rPr>
              <a:t>02   </a:t>
            </a:r>
            <a:r>
              <a:rPr sz="1500" b="1" i="0">
                <a:solidFill>
                  <a:srgbClr val="FFFFFF"/>
                </a:solidFill>
                <a:latin typeface="Liberation Sans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777240" y="3931920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Liberation Sans"/>
              </a:rPr>
              <a:t>03   </a:t>
            </a:r>
            <a:r>
              <a:rPr sz="1500" b="1" i="0">
                <a:solidFill>
                  <a:srgbClr val="FFFFFF"/>
                </a:solidFill>
                <a:latin typeface="Liberation Sans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777240" y="4901184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Liberation Sans"/>
              </a:rPr>
              <a:t>04   </a:t>
            </a:r>
            <a:r>
              <a:rPr sz="1500" b="1" i="0">
                <a:solidFill>
                  <a:srgbClr val="FFFFFF"/>
                </a:solidFill>
                <a:latin typeface="Liberation Sans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355080" y="1993392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Liberation Sans"/>
              </a:rPr>
              <a:t>05   </a:t>
            </a:r>
            <a:r>
              <a:rPr sz="1500" b="1" i="0">
                <a:solidFill>
                  <a:srgbClr val="FFFFFF"/>
                </a:solidFill>
                <a:latin typeface="Liberation Sans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355080" y="2962656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Liberation Sans"/>
              </a:rPr>
              <a:t>06   </a:t>
            </a:r>
            <a:r>
              <a:rPr sz="1500" b="1" i="0">
                <a:solidFill>
                  <a:srgbClr val="FFFFFF"/>
                </a:solidFill>
                <a:latin typeface="Liberation Sans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355080" y="3931920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Liberation Sans"/>
              </a:rPr>
              <a:t>07   </a:t>
            </a:r>
            <a:r>
              <a:rPr sz="1500" b="1" i="0">
                <a:solidFill>
                  <a:srgbClr val="FFFFFF"/>
                </a:solidFill>
                <a:latin typeface="Liberation Sans"/>
              </a:rPr>
              <a:t>Infrastruttura, fonti e sicurezza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4901184"/>
            <a:ext cx="5074920" cy="786384"/>
          </a:xfrm>
          <a:prstGeom prst="roundRect">
            <a:avLst/>
          </a:prstGeom>
          <a:solidFill>
            <a:srgbClr val="E7F0FA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Un'estensione digitale del Servizio Nazionale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4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500" b="0" i="0">
                <a:solidFill>
                  <a:srgbClr val="1A1A1A"/>
                </a:solidFill>
                <a:latin typeface="Liberation Sans"/>
              </a:rPr>
              <a:t>Il Gruppo opera nelle quattro funzioni del Servizio Nazionale della Protezione Civile (D.Lgs. 1/2018).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560320"/>
            <a:ext cx="2606040" cy="278892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560320"/>
            <a:ext cx="2606040" cy="128016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binoculars-fill_0033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6212" y="2971800"/>
            <a:ext cx="768096" cy="76809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003366"/>
                </a:solidFill>
                <a:latin typeface="Liberation Sans"/>
              </a:rPr>
              <a:t>Previsione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Liberation Sans"/>
              </a:rPr>
              <a:t>Scenari e monitoraggio del rischio.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47872" y="2560320"/>
            <a:ext cx="2606040" cy="278892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47872" y="2560320"/>
            <a:ext cx="2606040" cy="128016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hield-check_15803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6844" y="2971800"/>
            <a:ext cx="768096" cy="7680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47872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15803D"/>
                </a:solidFill>
                <a:latin typeface="Liberation Sans"/>
              </a:rPr>
              <a:t>Prevenzione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Liberation Sans"/>
              </a:rPr>
              <a:t>Riduzione del rischio e autoprotezione.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18504" y="2560320"/>
            <a:ext cx="2606040" cy="278892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18504" y="2560320"/>
            <a:ext cx="2606040" cy="12801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eart-pulse-fill_b4530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7476" y="2971800"/>
            <a:ext cx="768096" cy="76809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318504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B45309"/>
                </a:solidFill>
                <a:latin typeface="Liberation Sans"/>
              </a:rPr>
              <a:t>Soccorso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Liberation Sans"/>
              </a:rPr>
              <a:t>Supporto alla popolazione durante l'evento.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89136" y="2560320"/>
            <a:ext cx="2606040" cy="278892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89136" y="2560320"/>
            <a:ext cx="2606040" cy="128016"/>
          </a:xfrm>
          <a:prstGeom prst="rect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arrow-repeat_07598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08108" y="2971800"/>
            <a:ext cx="768096" cy="76809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089136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075985"/>
                </a:solidFill>
                <a:latin typeface="Liberation Sans"/>
              </a:rPr>
              <a:t>Superamento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Liberation Sans"/>
              </a:rPr>
              <a:t>Assistenza e ripristino dopo l'evento.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71500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Liberation Sans"/>
              </a:rPr>
              <a:t>Riferimenti: D.Lgs. 1/2018 · Direttiva PCM 30 aprile 2021.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8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Una piattaforma per l'intera comunità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Famiglie e cittadini; anziani e persone fragili.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peop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Persone con disabilità sensoriali, cognitive e motorie.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eop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Scuole e studenti; volontari e operatori.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eop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Progettazione mobile-first: consultabile in movimento e in condizioni critiche.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eop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Principi guida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Affidabilità e correttezza istituzionale prima di tutto.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compas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Accessibilità universale, con le WCAG 2.2 AA come soglia minima.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mpas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Chiarezza per il cittadino e sobrietà del linguaggio.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mpas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Ogni dato è verificato e accompagnato dalla sua fonte.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mpas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Conformità e standard di riferimento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Linee guida di design AgID e design system Bootstrap Italia / Designers Italia.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patch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Accessibilità WCAG 2.2 AA; Legge Stanca (L. 4/2004) e D.Lgs. 106/2018.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atch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3922775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020055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Codice della Protezione Civile e direttive nazionali.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187951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atch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32072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3922775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020055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Standard internazionali ISO per la gestione delle emergenze e del rischio.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187951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atch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32072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Liberation Sans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Liberation Sans"/>
              </a:rPr>
              <a:t>AgID · W3C · DPC · ISO/TC 292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Architettura dell'informazione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Sette aree principali: Per il Cittadino, Per le Scuole, Accessibilità e Supporti.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diagram-3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Volontariato, Risorse, Comunicazioni, Contatti.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iagram-3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Struttura piatta: ogni risorsa critica raggiungibile in pochi clic.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iagram-3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Ricerca interna, mappa del sito e codici QR per l'accesso rapido.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iagram-3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Liberation Sans"/>
              </a:rPr>
              <a:t>Per il Cittadino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Liberation Sans"/>
              </a:rPr>
              <a:t>SEZIONE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Liberation Sans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Liberation Sans"/>
              </a:rPr>
              <a:t>01  </a:t>
            </a:r>
            <a:r>
              <a:rPr sz="1100" b="1" i="0">
                <a:solidFill>
                  <a:srgbClr val="001A33"/>
                </a:solidFill>
                <a:latin typeface="Liberation Sans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02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03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04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05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06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07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Infrastruttura, fonti e sicurezza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0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Cosa fare adesso e assistente guidato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Pagina d'ingresso rapida alle azioni di autoprotezione.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signpost-2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Assistente guidato a domande e risposte predefinite, lungo un percorso a scelte.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ignpost-2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Indirizza al comportamento corretto in pochi passaggi.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ignpost-2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Sempre il richiamo al 112 per le emergenze reali.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ignpost-2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Allerte meteo e codici colore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4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0" i="0">
                <a:solidFill>
                  <a:srgbClr val="1A1A1A"/>
                </a:solidFill>
                <a:latin typeface="Liberation Sans"/>
              </a:rPr>
              <a:t>Quattro livelli ufficiali del Centro Funzionale Regionale del Lazio. La previsione (allerta) è distinta dall'evento in corso (emergenza).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331720"/>
            <a:ext cx="10607040" cy="713232"/>
          </a:xfrm>
          <a:prstGeom prst="round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Liberation Sans"/>
              </a:rPr>
              <a:t>VERDE    </a:t>
            </a:r>
            <a:r>
              <a:rPr sz="1300" b="0" i="0">
                <a:solidFill>
                  <a:srgbClr val="FFFFFF"/>
                </a:solidFill>
                <a:latin typeface="Liberation Sans"/>
              </a:rPr>
              <a:t>Nessuna allerta — situazione ordinaria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227832"/>
            <a:ext cx="10607040" cy="713232"/>
          </a:xfrm>
          <a:prstGeom prst="roundRect">
            <a:avLst/>
          </a:prstGeom>
          <a:solidFill>
            <a:srgbClr val="F1C4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001A33"/>
                </a:solidFill>
                <a:latin typeface="Liberation Sans"/>
              </a:rPr>
              <a:t>GIALLO    </a:t>
            </a:r>
            <a:r>
              <a:rPr sz="1300" b="0" i="0">
                <a:solidFill>
                  <a:srgbClr val="001A33"/>
                </a:solidFill>
                <a:latin typeface="Liberation Sans"/>
              </a:rPr>
              <a:t>Allerta ordinaria — fenomeni di intensità moderata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123944"/>
            <a:ext cx="10607040" cy="713232"/>
          </a:xfrm>
          <a:prstGeom prst="round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Liberation Sans"/>
              </a:rPr>
              <a:t>ARANCIONE    </a:t>
            </a:r>
            <a:r>
              <a:rPr sz="1300" b="0" i="0">
                <a:solidFill>
                  <a:srgbClr val="FFFFFF"/>
                </a:solidFill>
                <a:latin typeface="Liberation Sans"/>
              </a:rPr>
              <a:t>Allerta elevata — fenomeni intensi, effetti rilevanti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020056"/>
            <a:ext cx="10607040" cy="713232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Liberation Sans"/>
              </a:rPr>
              <a:t>ROSSO    </a:t>
            </a:r>
            <a:r>
              <a:rPr sz="1300" b="0" i="0">
                <a:solidFill>
                  <a:srgbClr val="FFFFFF"/>
                </a:solidFill>
                <a:latin typeface="Liberation Sans"/>
              </a:rPr>
              <a:t>Allerta massima — fenomeni molto intensi, rischio elevato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Liberation Sans"/>
              </a:rPr>
              <a:t>Fonte: Centro Funzionale Regionale del Lazio · standard ISO 22324.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Modalità emergenza del sito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In emergenza il sito mostra un avviso ben visibile su ogni pagina.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exclamation-octagon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Pagina di emergenza ultraleggera per rete debole o congestionata.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exclamation-octagon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Informazioni essenziali e numeri utili messi in primo piano.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exclamation-octagon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Progettata per i momenti di reale criticità.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exclamation-octagon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Cruscotto del territorio — dati in tempo reale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4884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Liberation Sans"/>
              </a:rPr>
              <a:t>Scientifiche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Liberation Sans"/>
              </a:rPr>
              <a:t>INGV (sismica, vulcani)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14800" y="2418588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338328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Liberation Sans"/>
              </a:rPr>
              <a:t>Meteo e satellite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Liberation Sans"/>
              </a:rPr>
              <a:t>ItaliaMeteo, EUMETSAT, ECMWF, Copernicus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114800" y="3653027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461772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Liberation Sans"/>
              </a:rPr>
              <a:t>Istituzionali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Liberation Sans"/>
              </a:rPr>
              <a:t>DPC, ARPA Lazio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114800" y="4887468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864608" y="2468880"/>
            <a:ext cx="2788920" cy="2377440"/>
          </a:xfrm>
          <a:prstGeom prst="roundRect">
            <a:avLst/>
          </a:prstGeom>
          <a:solidFill>
            <a:srgbClr val="003366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Cruscotto del territorio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CFDDEC"/>
                </a:solidFill>
                <a:latin typeface="Liberation Sans"/>
              </a:rPr>
              <a:t>Aggregazione privacy-first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CFDDEC"/>
                </a:solidFill>
                <a:latin typeface="Liberation Sans"/>
              </a:rPr>
              <a:t>Dati aperti (CC BY 4.0)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772400" y="3520440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549640" y="2194560"/>
            <a:ext cx="3017520" cy="566928"/>
          </a:xfrm>
          <a:prstGeom prst="round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Liberation Sans"/>
              </a:rPr>
              <a:t>Verde — nessuna allerta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49640" y="2962656"/>
            <a:ext cx="3017520" cy="566928"/>
          </a:xfrm>
          <a:prstGeom prst="roundRect">
            <a:avLst/>
          </a:prstGeom>
          <a:solidFill>
            <a:srgbClr val="F1C4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001A33"/>
                </a:solidFill>
                <a:latin typeface="Liberation Sans"/>
              </a:rPr>
              <a:t>Giallo — ordinaria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49640" y="3730752"/>
            <a:ext cx="3017520" cy="566928"/>
          </a:xfrm>
          <a:prstGeom prst="round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Liberation Sans"/>
              </a:rPr>
              <a:t>Arancione — elevata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49640" y="4498848"/>
            <a:ext cx="3017520" cy="56692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Liberation Sans"/>
              </a:rPr>
              <a:t>Rosso — massima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715000"/>
            <a:ext cx="10607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Liberation Sans"/>
              </a:rPr>
              <a:t>Fonti: INGV · DPC · ItaliaMeteo · EUMETSAT · ECMWF · Copernicus · ARPA Lazio. Codici colore: Centro Funzionale Regionale del Lazio (ISO 22324).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Cruscotto — le fonti dei dati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10607040" cy="60350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56231" y="1965960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Liberation Sans"/>
              </a:rPr>
              <a:t>INGV per la sismicità e i vulcani; Dipartimento della Protezione Civile per il radar pioggia.</a:t>
            </a:r>
          </a:p>
        </p:txBody>
      </p:sp>
      <p:sp>
        <p:nvSpPr>
          <p:cNvPr id="13" name="Oval 12"/>
          <p:cNvSpPr/>
          <p:nvPr/>
        </p:nvSpPr>
        <p:spPr>
          <a:xfrm>
            <a:off x="1069848" y="2011680"/>
            <a:ext cx="512064" cy="51206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database-fill-gea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2502" y="2124334"/>
            <a:ext cx="286755" cy="286755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77240" y="2752344"/>
            <a:ext cx="10607040" cy="60350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56231" y="2752344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Liberation Sans"/>
              </a:rPr>
              <a:t>ItaliaMeteo (modello ICON-2I) ed EUMETSAT per previsioni e satellite.</a:t>
            </a:r>
          </a:p>
        </p:txBody>
      </p:sp>
      <p:sp>
        <p:nvSpPr>
          <p:cNvPr id="17" name="Oval 16"/>
          <p:cNvSpPr/>
          <p:nvPr/>
        </p:nvSpPr>
        <p:spPr>
          <a:xfrm>
            <a:off x="1069848" y="2798063"/>
            <a:ext cx="512064" cy="51206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atabase-fill-gea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2502" y="2910718"/>
            <a:ext cx="286755" cy="286755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3538727"/>
            <a:ext cx="10607040" cy="60350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56231" y="3538727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Liberation Sans"/>
              </a:rPr>
              <a:t>EFFIS / Copernicus per gli incendi; ARPA Lazio per la qualità dell'aria regionale; Copernicus CAMS per la qualità dell'aria su scala europea.</a:t>
            </a:r>
          </a:p>
        </p:txBody>
      </p:sp>
      <p:sp>
        <p:nvSpPr>
          <p:cNvPr id="21" name="Oval 20"/>
          <p:cNvSpPr/>
          <p:nvPr/>
        </p:nvSpPr>
        <p:spPr>
          <a:xfrm>
            <a:off x="1069848" y="3584447"/>
            <a:ext cx="512064" cy="51206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atabase-fill-gea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2502" y="3697102"/>
            <a:ext cx="286755" cy="286755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325112"/>
            <a:ext cx="10607040" cy="60350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56231" y="4325112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Liberation Sans"/>
              </a:rPr>
              <a:t>Copernicus EMS Rapid Mapping per le attivazioni di mappatura emergenze in Europa.</a:t>
            </a:r>
          </a:p>
        </p:txBody>
      </p:sp>
      <p:sp>
        <p:nvSpPr>
          <p:cNvPr id="25" name="Oval 24"/>
          <p:cNvSpPr/>
          <p:nvPr/>
        </p:nvSpPr>
        <p:spPr>
          <a:xfrm>
            <a:off x="1069848" y="4370831"/>
            <a:ext cx="512064" cy="51206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atabase-fill-gea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2502" y="4483486"/>
            <a:ext cx="286755" cy="286755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777240" y="5111496"/>
            <a:ext cx="10607040" cy="60350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56231" y="5111496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Liberation Sans"/>
              </a:rPr>
              <a:t>Rischio sismico comunale dalla piattaforma SicuroPiù.</a:t>
            </a:r>
          </a:p>
        </p:txBody>
      </p:sp>
      <p:sp>
        <p:nvSpPr>
          <p:cNvPr id="29" name="Oval 28"/>
          <p:cNvSpPr/>
          <p:nvPr/>
        </p:nvSpPr>
        <p:spPr>
          <a:xfrm>
            <a:off x="1069848" y="5157216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database-fill-gea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2502" y="5269870"/>
            <a:ext cx="286755" cy="28675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Liberation Sans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Liberation Sans"/>
              </a:rPr>
              <a:t>INGV · DPC · ItaliaMeteo · EUMETSAT · Copernicus (CAMS · EMS · EFFIS) · ARPA Lazio · EUCENTRE/ReLUIS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Rischi e prevenzione — copertura del territorio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40"/>
            <a:ext cx="108813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0" i="0">
                <a:solidFill>
                  <a:srgbClr val="1A1A1A"/>
                </a:solidFill>
                <a:latin typeface="Liberation Sans"/>
              </a:rPr>
              <a:t>Il sito tratta sistematicamente i rischi dei Castelli Romani. Ogni scheda segue la stessa struttura: prima, durante, dopo, cosa non fare, chi chiamare.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606040"/>
            <a:ext cx="2606040" cy="1325880"/>
          </a:xfrm>
          <a:prstGeom prst="roundRect">
            <a:avLst/>
          </a:prstGeom>
          <a:solidFill>
            <a:srgbClr val="B45309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Sismico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47872" y="2606040"/>
            <a:ext cx="2606040" cy="1325880"/>
          </a:xfrm>
          <a:prstGeom prst="roundRect">
            <a:avLst/>
          </a:prstGeom>
          <a:solidFill>
            <a:srgbClr val="0369A1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Idrogeologico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18504" y="2606040"/>
            <a:ext cx="2606040" cy="1325880"/>
          </a:xfrm>
          <a:prstGeom prst="roundRect">
            <a:avLst/>
          </a:prstGeom>
          <a:solidFill>
            <a:srgbClr val="C1121F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Incendi boschivi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89136" y="2606040"/>
            <a:ext cx="2606040" cy="1325880"/>
          </a:xfrm>
          <a:prstGeom prst="roundRect">
            <a:avLst/>
          </a:prstGeom>
          <a:solidFill>
            <a:srgbClr val="EA580C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Ondate di calore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206240"/>
            <a:ext cx="2606040" cy="1325880"/>
          </a:xfrm>
          <a:prstGeom prst="roundRect">
            <a:avLst/>
          </a:prstGeom>
          <a:solidFill>
            <a:srgbClr val="0E7490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Vento forte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47872" y="4206240"/>
            <a:ext cx="2606040" cy="1325880"/>
          </a:xfrm>
          <a:prstGeom prst="roundRect">
            <a:avLst/>
          </a:prstGeom>
          <a:solidFill>
            <a:srgbClr val="4338CA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Temporali intensi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18504" y="4206240"/>
            <a:ext cx="2606040" cy="132588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Blackout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89136" y="4206240"/>
            <a:ext cx="2606040" cy="1325880"/>
          </a:xfrm>
          <a:prstGeom prst="roundRect">
            <a:avLst/>
          </a:prstGeom>
          <a:solidFill>
            <a:srgbClr val="7F1D1D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Vulcanico (Colli Albani)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80644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Liberation Sans"/>
              </a:rPr>
              <a:t>Fonti: DPC «Io non rischio» · INGV · ISPRA · CNR.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Cartografia e aree di emergenza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Mappa delle aree di attesa e di emergenza comunali.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geo-al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Riferimento diretto al Piano di Emergenza Comunale.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geo-al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Orientamento immediato per il cittadino.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geo-al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Numeri utili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Numero Unico di Emergenza 112 sempre in evidenza.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telephon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Numeri di servizio per le segnalazioni non urgenti.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telephon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Indicazioni chiare su quando e chi chiamare.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telephon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Piano familiare di emergenza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Guida passo-passo per preparare il nucleo domestico.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house-hear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Versione compilabile e stampabile.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ouse-hear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Punti di ritrovo, contatti e kit essenziale.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ouse-hear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Kit pronti per situazioni vulnerabili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Schede operative per le categorie fragili: anziani, bambini, persone con disabilità, caregiver e altre.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414015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backpa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54678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Materiali stampabili pronti all'uso.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414015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ackpa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54678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Riferimenti a standard internazionali di assistenza umanitaria.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414015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ackpa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54678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Liberation Sans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Liberation Sans"/>
              </a:rPr>
              <a:t>IFRC · WHO · Sphere Handbook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Storia del territorio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Cronologia degli eventi rilevanti dei Castelli Romani.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clock-history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Ogni voce è corredata da fonte istituzionale.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lock-history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La memoria come strumento di consapevolezza del rischio.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lock-history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Liberation Sans"/>
              </a:rPr>
              <a:t>Per le Scuole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Liberation Sans"/>
              </a:rPr>
              <a:t>SEZIONE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Liberation Sans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01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il Cittadino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Liberation Sans"/>
              </a:rPr>
              <a:t>02  </a:t>
            </a:r>
            <a:r>
              <a:rPr sz="1100" b="1" i="0">
                <a:solidFill>
                  <a:srgbClr val="001A33"/>
                </a:solidFill>
                <a:latin typeface="Liberation Sans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03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04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05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06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07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Infrastruttura, fonti e sicurezza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0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Kit didattici per fascia scolastica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Materiali per infanzia, primaria, secondaria di primo e di secondo grado.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mortarboard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Linguaggio e attività calibrati per ogni età.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mortarboard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Coerenti con l'insegnamento dell'Educazione Civica.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mortarboard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Percorsi didattici ed Educazione Civica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Percorsi pronti all'uso per i docenti.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journal-bookmar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Collegamento esplicito all'Educazione Civica.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journal-bookmar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Obiettivo: cultura della prevenzione fin da piccoli.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journal-bookmar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Schede didattiche stampabili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Schede fotocopiabili per le attività in classe.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printer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Organizzate per livello scolastico.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rinter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Pronte all'uso, scaricabili e riproducibili liberamente.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rinter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Storie e racconti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Narrazioni illustrate sulla sicurezza per i più piccoli.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book-half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Disponibili in lettura accessibile e in ascolto.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ook-half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Avvicinano i bambini ai comportamenti corretti con il racconto.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ook-half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Giochi della sicurezza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Giochi educativi divisi per fascia d'età.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controll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I comportamenti corretti si imparano attraverso il gioco.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ntroll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Supporto e teoria di rinforzo integrati.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ntroll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Catalogo informativo dei giochi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Una scheda dedicata per ogni gioco, divisa per fascia d'età.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414015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controll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54678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Per ogni gioco: obiettivo didattico, durata, accessibilità e versione interattiva.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414015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ntroll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54678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Pensato per docenti, genitori, motori di ricerca e lettori di schermo.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414015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ntroll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54678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Liberation Sans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Liberation Sans"/>
              </a:rPr>
              <a:t>D.M. 183/2024 (Educazione Civica) · WCAG 2.2 AA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Laboratorio meteo — esplorare i dati del clima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Strumento interattivo: si scelgono luogo, periodo e variabile e si costruisce il grafico.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414015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info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54678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Dati storici reali dei Castelli Romani (rianalisi ERA5) ed esempi già pronti sul clima locale.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414015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54678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Ogni grafico ha la tabella dati, la stampa, il download (CSV e immagine) e un link condivisibile.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414015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54678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Liberation Sans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Liberation Sans"/>
              </a:rPr>
              <a:t>ERA5 · Open-Meteo (CC BY 4.0) · Copernicus Climate Data Store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Liberation Sans"/>
              </a:rPr>
              <a:t>Accessibilità e inclusione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Liberation Sans"/>
              </a:rPr>
              <a:t>SEZIONE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Liberation Sans"/>
              </a:rPr>
              <a:t>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01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02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le Scuole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Liberation Sans"/>
              </a:rPr>
              <a:t>03  </a:t>
            </a:r>
            <a:r>
              <a:rPr sz="1100" b="1" i="0">
                <a:solidFill>
                  <a:srgbClr val="001A33"/>
                </a:solidFill>
                <a:latin typeface="Liberation Sans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04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05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06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07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Infrastruttura, fonti e sicurezza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0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Conformità WCAG 2.2 AA e barra strumenti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Sito conforme alle WCAG 2.2 di livello AA.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414015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patch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54678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Barra strumenti di lettura: dimensione del testo, contrasti, caratteri ad alta leggibilità.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414015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atch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54678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Pausa delle animazioni, spaziatura ampia, modalità lettura.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414015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atch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54678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Liberation Sans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Liberation Sans"/>
              </a:rPr>
              <a:t>W3C WCAG 2.2 · Legge Stanca (L. 4/2004)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Lettura facilitata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Lettura ad alta voce dei contenuti.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volume-up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Tempo di lettura stimato e sillabazione automatica.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volume-up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Glossario esplicativo a comparsa sui termini tecnici e le sigle.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volume-up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Pittogrammi standardizzati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Simboli ISO 7010 per la segnaletica di sicurezza.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414015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imag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54678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Pittogrammi ARASAAC per la comprensione cognitiva.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414015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mag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54678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Supporto a bambini, anziani e persone con difficoltà di lettura.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414015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mag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54678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Liberation Sans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Liberation Sans"/>
              </a:rPr>
              <a:t>ISO 7010 · ARASAAC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Versione in italiano semplice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Riscrittura dei contenuti in linguaggio piano (livello A2).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chat-left-tex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Per parlanti italiano come seconda lingua e per la lettura facilitata.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hat-left-tex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Sempre affiancata all'articolo completo.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hat-left-tex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Contenuti in Lingua dei Segni (LIS)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Glossari e contenuti in Lingua dei Segni Italiana.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hand-index-thumb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Un canale di accesso dedicato alle persone sorde.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and-index-thumb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Termini chiave del rischio spiegati in forma visiva.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and-index-thumb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Versione in Braille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Versione stampabile in Braille degli articoli.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grid-3x3-gap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Compatibile con le stampanti braille (formato BRF).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grid-3x3-gap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Un canale dedicato a persone cieche e ipovedenti.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grid-3x3-gap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Versioni in più lingue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Contenuti chiave tradotti in più lingue.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translat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Per residenti stranieri e visitatori.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translat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Lingua dichiarata correttamente anche per gli assistenti vocali.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translat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Liberation Sans"/>
              </a:rPr>
              <a:t>Volontariato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Liberation Sans"/>
              </a:rPr>
              <a:t>SEZIONE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Liberation Sans"/>
              </a:rPr>
              <a:t>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01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02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03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Accessibilità e inclusione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Liberation Sans"/>
              </a:rPr>
              <a:t>04  </a:t>
            </a:r>
            <a:r>
              <a:rPr sz="1100" b="1" i="0">
                <a:solidFill>
                  <a:srgbClr val="001A33"/>
                </a:solidFill>
                <a:latin typeface="Liberation Sans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05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06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07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Infrastruttura, fonti e sicurezza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0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Diventa volontario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37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Come unirsi al Gruppo Comunale.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person-plus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Attività, formazione e impegno richiesto.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erson-plus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Il valore del volontariato per la comunità.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erson-plus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Affiliazioni e riconoscimenti europei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Quality Label del Corpo europeo di solidarietà (European Solidarity Corps) — Commissione europea.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info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Codice di accreditamento dell'organizzazione: E10435833 (sempre accanto al logo, Reg. UE 2021/888).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3922775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020055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Servizio Nazionale di Protezione Civile (D.Lgs. 1/2018) — iscrizione al Registro Regionale del Volontariato.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187951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32072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3922775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020055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Coordinamento FEPIVOL — Federazione Pronto Intervento Volontariato ODV.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187951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32072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Liberation Sans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Liberation Sans"/>
              </a:rPr>
              <a:t>European Solidarity Corps · DPC · Registro Regionale Lazio · FEPIVOL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Chi siamo nel sistema di Protezione Civile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21127" y="2011680"/>
            <a:ext cx="6949440" cy="1078992"/>
          </a:xfrm>
          <a:prstGeom prst="roundRect">
            <a:avLst/>
          </a:prstGeom>
          <a:solidFill>
            <a:srgbClr val="003366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Servizio Nazionale della Protezione Civile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Liberation Sans"/>
              </a:rPr>
              <a:t>D.Lgs. 1/2018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912967" y="3118103"/>
            <a:ext cx="365760" cy="365760"/>
          </a:xfrm>
          <a:prstGeom prst="down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621127" y="3547872"/>
            <a:ext cx="6949440" cy="1078992"/>
          </a:xfrm>
          <a:prstGeom prst="roundRect">
            <a:avLst/>
          </a:prstGeom>
          <a:solidFill>
            <a:srgbClr val="075985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Coordinamento Regionale FE.PI.VOL.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Liberation Sans"/>
              </a:rPr>
              <a:t>Federazione Pronto Intervento Volontariato ODV — volontariato di PC del Lazio</a:t>
            </a:r>
          </a:p>
        </p:txBody>
      </p:sp>
      <p:pic>
        <p:nvPicPr>
          <p:cNvPr id="14" name="Picture 13" descr="logo-fepiv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3611879"/>
            <a:ext cx="950976" cy="950976"/>
          </a:xfrm>
          <a:prstGeom prst="rect">
            <a:avLst/>
          </a:prstGeom>
        </p:spPr>
      </p:pic>
      <p:sp>
        <p:nvSpPr>
          <p:cNvPr id="15" name="Down Arrow 14"/>
          <p:cNvSpPr/>
          <p:nvPr/>
        </p:nvSpPr>
        <p:spPr>
          <a:xfrm>
            <a:off x="5912967" y="4654296"/>
            <a:ext cx="365760" cy="365760"/>
          </a:xfrm>
          <a:prstGeom prst="down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621127" y="5084064"/>
            <a:ext cx="6949440" cy="1078992"/>
          </a:xfrm>
          <a:prstGeom prst="roundRect">
            <a:avLst/>
          </a:prstGeom>
          <a:solidFill>
            <a:srgbClr val="15803D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Gruppo Comunale Volontari di Protezione Civile di Genzano di Roma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Liberation Sans"/>
              </a:rPr>
              <a:t>Sede operativa: Via Sicilia 13-15</a:t>
            </a:r>
          </a:p>
        </p:txBody>
      </p:sp>
      <p:pic>
        <p:nvPicPr>
          <p:cNvPr id="17" name="Picture 16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5148072"/>
            <a:ext cx="950976" cy="9509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Liberation Sans"/>
              </a:rPr>
              <a:t>Risorse e trasparenza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Liberation Sans"/>
              </a:rPr>
              <a:t>SEZIONE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Liberation Sans"/>
              </a:rPr>
              <a:t>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01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02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03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04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Volontariato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Liberation Sans"/>
              </a:rPr>
              <a:t>05  </a:t>
            </a:r>
            <a:r>
              <a:rPr sz="1100" b="1" i="0">
                <a:solidFill>
                  <a:srgbClr val="001A33"/>
                </a:solidFill>
                <a:latin typeface="Liberation Sans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06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07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Infrastruttura, fonti e sicurezza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0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Conoscere la Protezione Civile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Sezione dottrinale: storia, Servizio Nazionale e le quattro fasi (previsione, prevenzione, soccorso, superamento).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info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La scienza del rischio e i Centri di competenza; la dimensione internazionale del sistema.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3922775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020055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Il catalogo dei rischi e il vulcanismo dei Colli Albani (Vulcano Laziale).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187951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32072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3922775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020055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Le telecomunicazioni in emergenza: capire come funziona la rete radio.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187951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32072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Liberation Sans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Liberation Sans"/>
              </a:rPr>
              <a:t>DPC · INGV · ISPRA · CNR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FAQ e Glossario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Risposte alle domande frequenti dei cittadini.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question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Glossario dei termini e delle sigle della Protezione Civile.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question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Definizioni chiare, anche a comparsa sui termini tecnici nelle pagine.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question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Normativa e Standard ISO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Raccolta della normativa nazionale, regionale e comunale.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414015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journal-tex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54678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Schede degli standard internazionali ISO rilevanti per la materia.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414015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journal-tex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54678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Dalla legge nazionale fino al livello comunale e internazionale.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414015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journal-tex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54678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Liberation Sans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Liberation Sans"/>
              </a:rPr>
              <a:t>Normattiva · BURL Lazio · ISO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Area download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Documenti ufficiali e modulistica scaricabili.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download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Per ogni file sono indicati formato e dimensione (accessibilità).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ownload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Un punto unico per atti, piani e materiali del Gruppo.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ownload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Strumenti in tempo reale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Hub dei servizi di monitoraggio del territorio.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speedometer2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Meteo, sismico, idrogeologico, incendi, qualità dell'aria, viabilità.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peedometer2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Collegamenti diretti alle fonti ufficiali aggiornate.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peedometer2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Audio e podcast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46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Contenuti ascoltabili per chi preferisce l'ascolto.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headphone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Maggiore accessibilità all'informazione.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eadphone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Utili per anziani, ipovedenti e chi è in movimento.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eadphone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Open data e stato del sito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47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Dati aperti riutilizzabili dalla cittadinanza.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bar-char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Pagina di trasparenza sullo stato tecnico del sito.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ar-char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Riuso libero, secondo il principio di trasparenza della PA.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ar-char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Pagine legali e trasparenza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Privacy, note legali, dichiarazione di accessibilità, social media policy.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file-earmark-tex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Data di revisione sempre indicata.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file-earmark-tex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Conformità agli obblighi di trasparenza della Pubblica Amministrazione.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file-earmark-tex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Liberation Sans"/>
              </a:rPr>
              <a:t>Comunicazione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Liberation Sans"/>
              </a:rPr>
              <a:t>SEZIONE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Liberation Sans"/>
              </a:rPr>
              <a:t>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01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02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03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04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8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05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Risorse e trasparenza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Liberation Sans"/>
              </a:rPr>
              <a:t>06  </a:t>
            </a:r>
            <a:r>
              <a:rPr sz="1100" b="1" i="0">
                <a:solidFill>
                  <a:srgbClr val="001A33"/>
                </a:solidFill>
                <a:latin typeface="Liberation Sans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07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Infrastruttura, fonti e sicurezza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0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Comunicazioni e notizie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Sezione informativa costantemente aggiornata.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megaphon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Distinzione chiara tra informazione, prevenzione, allerta ed emergenza.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megaphon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Ogni avviso rimanda alla fonte ufficiale di riferimento.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megaphon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Comunicazione di crisi e social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51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Social media policy pubblica.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414015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broadcas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54678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Struttura dei messaggi secondo standard internazionali.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414015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roadcas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54678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Contrasto alla disinformazione con fonti ufficiali.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414015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roadcas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54678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Liberation Sans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Liberation Sans"/>
              </a:rPr>
              <a:t>ISO 22329 · CWA CEN/CENELEC · EENA (112)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Canali di aggiornamento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Feed RSS per ogni sezione.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rss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Codici QR sugli articoli per l'accesso rapido.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rss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Condivisione semplice e senza tracciamento.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rss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Liberation Sans"/>
              </a:rPr>
              <a:t>Infrastruttura, fonti e sicurezza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Liberation Sans"/>
              </a:rPr>
              <a:t>SEZIONE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Liberation Sans"/>
              </a:rPr>
              <a:t>53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01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02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03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04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8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05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9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06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Comunicazione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Liberation Sans"/>
              </a:rPr>
              <a:t>07  </a:t>
            </a:r>
            <a:r>
              <a:rPr sz="1100" b="1" i="0">
                <a:solidFill>
                  <a:srgbClr val="001A33"/>
                </a:solidFill>
                <a:latin typeface="Liberation Sans"/>
              </a:rPr>
              <a:t>Infrastruttura, fonti e sicurezza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0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Infrastruttura, sicurezza e prestazioni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54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Sito statico ad alte prestazioni, servito in HTTPS.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hdd-networ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Nessun cookie di profilazione: approccio privacy-first.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dd-networ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Pubblicazione su doppio ambiente per la continuità del servizio.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dd-networ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Contenuti documentabili anche in caso di audit esterno.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dd-networ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Fonti e dati di riferimento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55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Istituzioni: DPC, INGV, ISPRA, CNR, ItaliaMeteo, EUMETSAT, Copernicus, ARPA Lazio, ASL Roma 6.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bookmark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Standard: WCAG 2.2; ISO 22320, 22324, 22329, 31000, 7010, 14090.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ookmark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Normativa: D.Lgs. 1/2018, Direttiva PCM 30/4/2021, Circolare DPC 6/8/2018, Legge Stanca.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ookmark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Design e linguaggio: AgID, Designers Italia, Bootstrap Italia.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ookmark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Punti di forza in sintesi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Accessibilità reale e multicanale: vista, udito, lingua, cognizione.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star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Dati sempre verificati e con fonte dichiarata.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tar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Coerenza con le prassi ufficiali della Pubblica Amministrazione.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tar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Uno strumento di servizio pubblico, sobrio e affidabile.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tar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40080"/>
            <a:ext cx="1051560" cy="1051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011680"/>
            <a:ext cx="1033272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Liberation Sans"/>
              </a:rPr>
              <a:t>Grazie per l'attenzione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3154680"/>
            <a:ext cx="29260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611880"/>
            <a:ext cx="7498079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Liberation Sans"/>
              </a:rPr>
              <a:t>Gruppo Comunale Volontari di Protezione Civile di Genzano di Roma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Liberation Sans"/>
              </a:rPr>
              <a:t>Sede: Via Sicilia, 13-15 — 00045 Genzano di Roma (RM)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Liberation Sans"/>
              </a:rPr>
              <a:t>Segreteria: +39 06 9362600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Liberation Sans"/>
              </a:rPr>
              <a:t>Email: segreteria@protezionecivilegenzano.it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Liberation Sans"/>
              </a:rPr>
              <a:t>www.protezionecivilegenzano.it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0" y="3611880"/>
            <a:ext cx="2377440" cy="1828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0" y="3611880"/>
            <a:ext cx="2377440" cy="1828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4600" b="1" i="0">
                <a:solidFill>
                  <a:srgbClr val="001A33"/>
                </a:solidFill>
                <a:latin typeface="Liberation Sans"/>
              </a:rPr>
              <a:t>112</a:t>
            </a:r>
          </a:p>
          <a:p>
            <a:pPr algn="ctr"/>
            <a:r>
              <a:rPr sz="1300" b="1" i="0">
                <a:solidFill>
                  <a:srgbClr val="001A33"/>
                </a:solidFill>
                <a:latin typeface="Liberation Sans"/>
              </a:rPr>
              <a:t>In emergenza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3" action="ppaction://hlinksldjump"/>
              </a:rPr>
              <a:t>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