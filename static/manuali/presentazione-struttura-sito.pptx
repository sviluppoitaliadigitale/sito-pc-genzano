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6.png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7.png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9.png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0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0.png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1.png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2.png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3.png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4.png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5.png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6.png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7.png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8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19.xml"/><Relationship Id="rId11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8.pn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19.png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0.png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1.png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2.pn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36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27.xml"/><Relationship Id="rId11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8.png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5.png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6.png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7.png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8.png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9.png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40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5.xml"/><Relationship Id="rId11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0.png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1.png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9.xml"/><Relationship Id="rId9" Type="http://schemas.openxmlformats.org/officeDocument/2006/relationships/slide" Target="slide53.xml"/><Relationship Id="rId10" Type="http://schemas.openxmlformats.org/officeDocument/2006/relationships/slide" Target="slide39.xml"/><Relationship Id="rId11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3.png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2.png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3.png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4.png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5.png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6.png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7.png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8.png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53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39.png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1.png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0.xml"/><Relationship Id="rId6" Type="http://schemas.openxmlformats.org/officeDocument/2006/relationships/slide" Target="slide28.xml"/><Relationship Id="rId7" Type="http://schemas.openxmlformats.org/officeDocument/2006/relationships/slide" Target="slide36.xml"/><Relationship Id="rId8" Type="http://schemas.openxmlformats.org/officeDocument/2006/relationships/slide" Target="slide40.xml"/><Relationship Id="rId9" Type="http://schemas.openxmlformats.org/officeDocument/2006/relationships/slide" Target="slide49.xml"/><Relationship Id="rId10" Type="http://schemas.openxmlformats.org/officeDocument/2006/relationships/slide" Target="slide52.xml"/><Relationship Id="rId11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2.png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3.png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44.png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Liberation Sans"/>
              </a:rPr>
              <a:t>PROTEZIONE CIVILE — GENZANO DI ROMA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Liberation Sans"/>
              </a:rPr>
              <a:t>Il sito istituzionale:
struttura e contenuti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Liberation Sans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Liberation Sans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01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02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03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04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05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06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Liberation Sans"/>
              </a:rPr>
              <a:t>07   </a:t>
            </a:r>
            <a:r>
              <a:rPr sz="15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Un'estensione digitale del Servizio Nazionale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Liberation Sans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inoculars-fill_003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Liberation Sans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Scenari e monitoraggio del rischio.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hield-check_1580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Liberation Sans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Riduzione del rischio e autoprotezione.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rt-pulse-fill_b45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Liberation Sans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Supporto alla popolazione durante l'evento.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arrow-repeat_075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Liberation Sans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Liberation Sans"/>
              </a:rPr>
              <a:t>Assistenza e ripristino dopo l'evento.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Riferimenti: D.Lgs. 1/2018 · Direttiva PCM 30 aprile 2021.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8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Una piattaforma per l'intera comunità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Famiglie e cittadini; anziani e persone fragili.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Persone con disabilità sensoriali, cognitive e motorie.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Scuole e studenti; volontari e operatori.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Progettazione mobile-first: consultabile in movimento e in condizioni critiche.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Principi guida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Affidabilità e correttezza istituzionale prima di tutto.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universale, con le WCAG 2.2 AA come soglia minima.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Chiarezza per il cittadino e sobrietà del linguaggio.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dato è verificato e accompagnato dalla sua fonte.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e standard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Linee guida di design AgID e design system Bootstrap Italia / Designers Italia.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WCAG 2.2 AA; Legge Stanca (L. 4/2004) e D.Lgs. 106/2018.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della Protezione Civile e direttive 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 internazionali ISO per la gestione delle emergenze e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AgID · W3C · DPC · ISO/TC 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Architettura dell'informazione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Sette aree principali: Per il Cittadino, Per le Scuole, Accessibilità e Supporti.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Volontariato, Risorse, Comunicazioni, Contatti.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piatta: ogni risorsa critica raggiungibile in pochi clic.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Ricerca interna, mappa del sito e codici QR per l'accesso rapido.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01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Cosa fare adesso e assistente guidato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d'ingresso rapida alle azioni di autoprotezione.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Assistente guidato a domande e risposte predefinite, lungo un percorso a scelte.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Indirizza al comportamento corretto in pochi passaggi.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il richiamo al 112 per le emergenze reali.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Allerte meteo e codici colore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Nessuna allerta — situazione ordinaria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Liberation Sans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Liberation Sans"/>
              </a:rPr>
              <a:t>Allerta ordinaria — fenomeni di intensità moderata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elevata — fenomeni intensi, effetti rilevanti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Liberation Sans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Liberation Sans"/>
              </a:rPr>
              <a:t>Allerta massima — fenomeni molto intensi, rischio elevato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Fonte: Centro Funzionale Regionale del Lazio · standard ISO 22324.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Modalità emergenza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 emergenza il sito mostra un avviso ben visibile su ogni pagina.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emergenza ultraleggera per rete debole o congestionata.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Informazioni essenziali e numeri utili messi in primo piano.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Progettata per i momenti di reale criticità.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del territorio — dati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INGV (sismica, vulcani)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ItaliaMeteo, EUMETSAT, ECMWF, Copernicus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Liberation Sans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Liberation Sans"/>
              </a:rPr>
              <a:t>DPC, ARPA Lazio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Liberation Sans"/>
              </a:rPr>
              <a:t>Dati aperti (CC BY 4.0)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Verde — nessuna allerta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solidFill>
            <a:srgbClr val="F1C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Liberation Sans"/>
              </a:rPr>
              <a:t>Giallo — ordinaria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Arancione — elevata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Rosso — massima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Cruscotto — le fonti dei dati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INGV per la sismicità e i vulcani; Dipartimento della Protezione Civile per il radar pioggia.</a:t>
            </a:r>
          </a:p>
        </p:txBody>
      </p:sp>
      <p:sp>
        <p:nvSpPr>
          <p:cNvPr id="13" name="Oval 12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ItaliaMeteo (modello ICON-2I) ed EUMETSAT per previsioni e satellite.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Copernicus EMS Rapid Mapping per le attivazioni di mappatura emergenze in Europa.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Liberation Sans"/>
              </a:rPr>
              <a:t>Rischio sismico comunale dalla piattaforma SicuroPiù.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Rischi e prevenzione — copertura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Liberation Sans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06040"/>
            <a:ext cx="2606040" cy="132588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Sismico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606040"/>
            <a:ext cx="2606040" cy="13258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Idrogeologico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606040"/>
            <a:ext cx="2606040" cy="1325880"/>
          </a:xfrm>
          <a:prstGeom prst="roundRect">
            <a:avLst/>
          </a:prstGeom>
          <a:solidFill>
            <a:srgbClr val="C1121F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Incendi boschivi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2606040"/>
            <a:ext cx="2606040" cy="132588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Ondate di calore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06240"/>
            <a:ext cx="2606040" cy="132588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Vento forte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206240"/>
            <a:ext cx="2606040" cy="13258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Temporali intensi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4206240"/>
            <a:ext cx="2606040" cy="13258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Blackout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4206240"/>
            <a:ext cx="2606040" cy="1325880"/>
          </a:xfrm>
          <a:prstGeom prst="roundRect">
            <a:avLst/>
          </a:prstGeom>
          <a:solidFill>
            <a:srgbClr val="7F1D1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Vulcanico (Colli Albani)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Liberation Sans"/>
              </a:rPr>
              <a:t>Fonti: DPC «Io non rischio» · INGV · ISPRA · CNR-IRPI · ReLUIS.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4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Cartografia e aree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Mappa delle aree di attesa e di emergenza comunali.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Riferimento diretto al Piano di Emergenza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Orientamento immediato per il cittadino.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Numeri utili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Numero Unico di Emergenza 112 sempre in evidenza.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Numeri di servizio per le segnalazioni non urgenti.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Indicazioni chiare su quando e chi chiamare.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Piano familiare di emergenza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Guida passo-passo per preparare il nucleo domestico.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compilabile e stampabile.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Punti di ritrovo, contatti e kit essenziale.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pronti per situazioni vulnerabili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stampabili pronti all'uso.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Riferimenti a standard internazionali di assistenza umanitaria.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IFRC · WHO · Sphere Handbook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Storia del territorio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Cronologia degli eventi rilevanti dei Castelli Romani.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voce è corredata da fonte istituzionale.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memoria come strumento di consapevolezza del rischio.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02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Kit didattici per fascia scolastica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Materiali per infanzia, primaria, secondaria di primo e di secondo grado.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Linguaggio e attività calibrati per ogni età.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Coerenti con l'insegnamento dell'Educazione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Percorsi didattici ed Educazione Civica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Percorsi pronti all'uso per i docenti.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Collegamento esplicito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Obiettivo: cultura della prevenzione fin da piccoli.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Schede didattiche stampabili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fotocopiabili per le attività in classe.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Organizzate per livello scolastico.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Pronte all'uso, scaricabili e riproducibili liberamente.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Storie e racconti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Narrazioni illustrate sulla sicurezza per i più piccoli.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Disponibili in lettura accessibile e in 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Avvicinano i bambini ai comportamenti corretti con il racconto.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Giochi della sicurezza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Giochi educativi divisi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 comportamenti corretti si imparano attraverso il gioco.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e teoria di rinforzo integrati.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Catalogo informativo dei giochi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Una scheda dedicata per ogni gioco, divisa per fascia d'età.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gioco: obiettivo didattico, durata, accessibilità e versione interattiva.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Pensato per docenti, genitori, motori di ricerca e lettori di schermo.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D.M. 183/2024 (Educazione Civica) · WCAG 2.2 AA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Laboratorio meteo — esplorare i dati del clima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Strumento interattivo: si scelgono luogo, periodo e variabile e si costruisce il grafico.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storici reali dei Castelli Romani (rianalisi ERA5) ed esempi già pronti sul clima locale.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grafico ha la tabella dati, la stampa, il download (CSV e immagine) e un link condivisibile.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ERA5 · Open-Meteo (CC BY 4.0) · Copernicus Climate Data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03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Conformità WCAG 2.2 AA e barra strumenti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conforme alle WCAG 2.2 di livello AA.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Barra strumenti di lettura: dimensione del testo, contrasti, caratteri ad alta leggibilità.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Pausa delle animazioni, spaziatura ampia, modalità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W3C WCAG 2.2 · Legge Stanca (L. 4/2004)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Lettura facilitata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Lettura ad alta voce dei contenuti.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Tempo di lettura stimato e sillabazione automatica.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esplicativo a comparsa sui termini tecnici e le sigle.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Pittogrammi standardizzati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Simboli ISO 7010 per la segnaletica di sicurezza.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Pittogrammi ARASAAC per la comprensione cognitiva.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Supporto a bambini, anziani e persone con difficoltà di lettura.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7010 · ARASAAC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italiano semplice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Riscrittura dei contenuti in linguaggio piano (livello A2).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parlanti italiano come seconda lingua e per la lettura facilitata.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Sempre affiancata all'articolo completo.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Contenuti in Lingua dei Segni (LIS)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 e contenuti in Lingua dei Segni Italiana.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di accesso dedicato alle persone sorde.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Termini chiave del rischio spiegati in forma visiva.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Versione in Braille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Versione stampabile in Braille degli articoli.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Compatibile con le stampanti braille (formato BRF).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canale dedicato a persone cieche e ipovedenti.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Versioni in più lingue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chiave tradotti in più lingue.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residenti stranieri e visitatori.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Lingua dichiarata correttamente anche per gli assistenti vocali.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04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Diventa volontario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Come unirsi al Gruppo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Attività, formazione e impegno richiesto.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valore del volontariato per la comunità.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Affiliazioni e riconoscimenti europei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Quality Label del Corpo europeo di solidarietà (European Solidarity Corps) — Commissione europea.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Codice di accreditamento dell'organizzazione: E10435833 (sempre accanto al logo, Reg. UE 2021/888).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Coordinamento FEPIVOL — Federazione Pronto Intervento Volontariato ODV.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European Solidarity Corps · DPC · Registro Regionale Lazio · FEPIVOL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Chi siamo nel sistema di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D.Lgs. 1/2018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Federazione Pronto Intervento Volontariato ODV — volontariato di PC del Lazio</a:t>
            </a:r>
          </a:p>
        </p:txBody>
      </p:sp>
      <p:pic>
        <p:nvPicPr>
          <p:cNvPr id="14" name="Picture 13" descr="logo-fepiv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Liberation Sans"/>
              </a:rPr>
              <a:t>Sede operativa: Via Sicilia 13-15</a:t>
            </a:r>
          </a:p>
        </p:txBody>
      </p:sp>
      <p:pic>
        <p:nvPicPr>
          <p:cNvPr id="17" name="Picture 16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05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Conoscere la Protezione Civile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La scienza del rischio e i Centri di competenza; la dimensione internazionale del sistema.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Il catalogo dei rischi e il vulcanismo dei Colli Albani (Vulcano Laziale).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187951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32072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3922775"/>
            <a:ext cx="5221224" cy="1792223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020055"/>
            <a:ext cx="4855464" cy="51206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Le telecomunicazioni in emergenza: capire come funziona la rete radio.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187951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32072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DPC · INGV · ISPRA · CNR-IRPI · CIMA · CMCC · 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FAQ e Glossario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Risposte alle domande frequenti dei cittadini.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Glossario dei termini e delle sigle della Protezione Civile.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Definizioni chiare, anche a comparsa sui termini tecnici nelle pagine.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Normativa e Standard 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Raccolta della normativa nazionale, regionale e comunale.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Schede degli standard internazionali ISO rilevanti per la materia.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Dalla legge nazionale fino al livello comunale e internazionale.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Normattiva · BURL Lazio · 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Area download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Documenti ufficiali e modulistica scaricabili.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Per ogni file sono indicati formato e dimensione (accessibilità).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 punto unico per atti, piani e materiali del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Strumenti in tempo reale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Hub dei servizi di monitoraggio del territorio.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Meteo, sismico, idrogeologico, incendi, qualità dell'aria, viabilità.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Collegamenti diretti alle fonti ufficiali aggiornate.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Audio e podcast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ascoltabili per chi preferisce l'ascolto.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Maggiore accessibilità all'informazione.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Utili per anziani, ipovedenti e chi è in movimento.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Open data e stato del 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aperti riutilizzabili dalla cittadinanza.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Pagina di trasparenza sullo stato tecnico del sito.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Riuso libero, secondo il principio di trasparenza della PA.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Pagine legali e trasparenza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Privacy, note legali, dichiarazione di accessibilità, social media policy.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Data di revisione sempre indicata.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Conformità agli obblighi di trasparenza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06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07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Comunicazioni e notizie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Sezione informativa costantemente aggiornata.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Distinzione chiara tra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Comunicazione di crisi e social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Social media policy pubblica.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414015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54678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Struttura dei messaggi secondo standard internazionali.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414015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54678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148839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24612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Contrasto alla disinformazione con fonti ufficiali.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414015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54678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Liberation Sans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Liberation Sans"/>
              </a:rPr>
              <a:t>ISO 22329 · CWA CEN/CENELEC · EENA (112)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Canali di aggiornamento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Feed RSS per ogni sezione.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2182367" y="261975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5138" y="275252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37388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6760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Codici QR sugli articoli per l'accesso rapido.</a:t>
            </a:r>
          </a:p>
        </p:txBody>
      </p:sp>
      <p:sp>
        <p:nvSpPr>
          <p:cNvPr id="17" name="Oval 16"/>
          <p:cNvSpPr/>
          <p:nvPr/>
        </p:nvSpPr>
        <p:spPr>
          <a:xfrm>
            <a:off x="5779007" y="261975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778" y="275252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970520" y="2354580"/>
            <a:ext cx="3413759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399" y="3451860"/>
            <a:ext cx="304799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Condivisione semplice e senza tracciamento.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9375648" y="2619756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8418" y="2752526"/>
            <a:ext cx="337962" cy="33796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Liberation Sans"/>
              </a:rPr>
              <a:t>SEZIONE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Liberation Sans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01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02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03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04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05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Liberation Sans"/>
              </a:rPr>
              <a:t>06  </a:t>
            </a:r>
            <a:r>
              <a:rPr sz="1100" b="0" i="0">
                <a:solidFill>
                  <a:srgbClr val="FFFFFF"/>
                </a:solidFill>
                <a:latin typeface="Liberation Sans"/>
              </a:rPr>
              <a:t>Comunicazione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Liberation Sans"/>
              </a:rPr>
              <a:t>07  </a:t>
            </a:r>
            <a:r>
              <a:rPr sz="1100" b="1" i="0">
                <a:solidFill>
                  <a:srgbClr val="001A33"/>
                </a:solidFill>
                <a:latin typeface="Liberation Sans"/>
              </a:rPr>
              <a:t>Infrastruttura, fonti e sicurezza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0" action="ppaction://hlinksldjump"/>
              </a:rPr>
              <a:t>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Infrastruttura, sicurezza e prestazioni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Sito statico ad alte prestazioni, servito in HTTPS.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Nessun cookie di profilazione: approccio privacy-first.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Pubblicazione su doppio ambiente per la continuità del servizio.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Contenuti documentabili anche in caso di audit esterno.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Fonti e dati di riferimento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Istituzioni: DPC, INGV, ISPRA, CNR, ItaliaMeteo, EUMETSAT, Copernicus, ARPA Lazio, ASL Roma 6.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Standard: WCAG 2.2; ISO 22320, 22324, 22329, 31000, 7010, 14090.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Normativa: D.Lgs. 1/2018, Direttiva PCM 30/4/2021, Circolare DPC 6/8/2018, Legge Stanca.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Design e linguaggio: AgID, Designers Italia, Bootstrap Italia.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Liberation Sans"/>
              </a:rPr>
              <a:t>Punti di forza 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Liberation Sans"/>
              </a:rPr>
              <a:t>Gruppo Comunale Volontari di PC · Genzano di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Liberation Sans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Liberation Sans"/>
                <a:hlinkClick r:id="rId3" action="ppaction://hlinksldjump"/>
              </a:rPr>
              <a:t>« Torna all'agenda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Accessibilità reale e multicanale: vista, udito, lingua, cognizione.</a:t>
            </a:r>
          </a:p>
        </p:txBody>
      </p:sp>
      <p:sp>
        <p:nvSpPr>
          <p:cNvPr id="13" name="Oval 12"/>
          <p:cNvSpPr/>
          <p:nvPr/>
        </p:nvSpPr>
        <p:spPr>
          <a:xfrm>
            <a:off x="3086100" y="2231136"/>
            <a:ext cx="603504" cy="603504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4" name="Picture 13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2363906"/>
            <a:ext cx="337962" cy="33796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163055" y="1965960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3063239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Dati sempre verificati e con fonte dichiarata.</a:t>
            </a:r>
          </a:p>
        </p:txBody>
      </p:sp>
      <p:sp>
        <p:nvSpPr>
          <p:cNvPr id="17" name="Oval 16"/>
          <p:cNvSpPr/>
          <p:nvPr/>
        </p:nvSpPr>
        <p:spPr>
          <a:xfrm>
            <a:off x="8471915" y="2231136"/>
            <a:ext cx="603504" cy="6035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2363906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Coerenza con le prassi ufficiali della Pubblica Amministrazione.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3086100" y="4393692"/>
            <a:ext cx="603504" cy="60350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8870" y="4526462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6163055" y="4128516"/>
            <a:ext cx="5221224" cy="1997964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8DEE4"/>
            </a:solidFill>
          </a:ln>
          <a:effectLst>
            <a:outerShdw blurRad="50800" dist="25400" dir="5400000" rotWithShape="0">
              <a:srgbClr val="001A33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5225796"/>
            <a:ext cx="4855464" cy="71780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1A1A1A"/>
                </a:solidFill>
                <a:latin typeface="Liberation Sans"/>
              </a:rPr>
              <a:t>Uno strumento di servizio pubblico, sobrio e affidabile.</a:t>
            </a:r>
          </a:p>
        </p:txBody>
      </p:sp>
      <p:sp>
        <p:nvSpPr>
          <p:cNvPr id="25" name="Oval 24"/>
          <p:cNvSpPr/>
          <p:nvPr/>
        </p:nvSpPr>
        <p:spPr>
          <a:xfrm>
            <a:off x="8471915" y="4393692"/>
            <a:ext cx="603504" cy="603504"/>
          </a:xfrm>
          <a:prstGeom prst="ellipse">
            <a:avLst/>
          </a:prstGeom>
          <a:solidFill>
            <a:srgbClr val="075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686" y="4526462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Liberation Sans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Liberation Sans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Liberation Sans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Liberation Sans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Liberation Sans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Liberation Sans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Liberation Sans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