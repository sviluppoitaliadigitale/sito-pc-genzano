
<file path=[Content_Types].xml><?xml version="1.0" encoding="utf-8"?>
<Types xmlns="http://schemas.openxmlformats.org/package/2006/content-types">
  <Default Extension="fntdata" ContentType="application/x-fontdata"/>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embeddedFontLst>
    <p:embeddedFont>
      <p:font typeface="Edu NSW ACT Cursive" pitchFamily="66" charset="0"/>
      <p:regular r:id="rIdCarattere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Carattere1"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Ricorda le lezioni precedenti: la squadra, il 112, i rischi del territorio. Oggi parliamo dei volontari: chi sono, che cosa fanno e perché lo fanno. Alla fine potranno intervistarti.</a:t>
            </a:r>
          </a:p>
          <a:p>
            <a:r>
              <a:rPr sz="1400" lang="it-IT"/>
              <a:t>Domanda alla classe: Che cosa vuol dire, secondo voi, «volontario»?</a:t>
            </a:r>
          </a:p>
          <a:p>
            <a:r>
              <a:rPr sz="1400" lang="it-IT"/>
              <a:t>Tempo: 2 minuti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Leggi i tre punti. Anticipa che alla fine diventeranno giornalisti e ti faranno un’intervista.</a:t>
            </a:r>
          </a:p>
          <a:p>
            <a:r>
              <a:rPr sz="1400" lang="it-IT"/>
              <a:t>Domanda alla classe: Conoscete qualcuno che fa il volontario?</a:t>
            </a:r>
          </a:p>
          <a:p>
            <a:r>
              <a:rPr sz="1400" lang="it-IT"/>
              <a:t>Tempo: 2 minuti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Anna è un personaggio inventato, ma la sua giornata è quella di un sabato ordinario in sede: una breve riunione, il controllo dei mezzi, delle attrezzature e delle radio, poi un’attività programmata come un incontro in una scuola. Niente di eroico: è lavoro fatto bene, fatto soprattutto di preparazione e manutenzione. Risposta alla domanda: no, i volontari non sono pagati.</a:t>
            </a:r>
          </a:p>
          <a:p>
            <a:r>
              <a:rPr sz="1400" lang="it-IT"/>
              <a:t>Domanda alla classe: Perché secondo voi Anna lo fa?</a:t>
            </a:r>
          </a:p>
          <a:p>
            <a:r>
              <a:rPr sz="1400" lang="it-IT"/>
              <a:t>Tempo: 4 minuti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Il Codice della protezione civile descrive il volontario come chi, per sua libera scelta, mette il proprio tempo e le proprie capacità al servizio della comunità, senza guadagnarci, e si forma per farlo bene. Nel nostro Gruppo il corso di base parla di come è fatto il sistema di protezione civile, dei rischi del territorio, della sicurezza personale, delle radio e del primo soccorso.</a:t>
            </a:r>
          </a:p>
          <a:p>
            <a:r>
              <a:rPr sz="1400" lang="it-IT"/>
              <a:t>Domanda alla classe: Che cosa sapete fare voi che potrebbe aiutare gli altri?</a:t>
            </a:r>
          </a:p>
          <a:p>
            <a:r>
              <a:rPr sz="1400" lang="it-IT"/>
              <a:t>Tempo: 4 minuti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Il Gruppo nasce il 23 luglio 1981 con un primo comitato di volontari; nel 1991 il Consiglio Comunale istituisce il Gruppo Comunale di Protezione Civile, che fa parte del Comune di Genzano di Roma. Da allora i volontari hanno aiutato anche lontano da Genzano: per esempio dopo i terremoti in Abruzzo nel 2009 e nel Centro Italia nel 2016, e dopo le alluvioni in Emilia-Romagna nel 2023 e nel 2024.</a:t>
            </a:r>
          </a:p>
          <a:p>
            <a:r>
              <a:rPr sz="1400" lang="it-IT"/>
              <a:t>Domanda alla classe: Perché secondo voi i volontari di Genzano vanno ad aiutare anche in altre regioni?</a:t>
            </a:r>
          </a:p>
          <a:p>
            <a:r>
              <a:rPr sz="1400" lang="it-IT"/>
              <a:t>Tempo: 4 minuti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I volontari lavorano in squadre. D’estate fanno antincendio boschivo nei Castelli Romani, insieme ai Vigili del Fuoco. Durante le allerte meteo controllano i punti critici del territorio. In emergenza distribuiscono acqua potabile e montano la tenda per accogliere le persone. Curano le radio, che servono quando i telefoni non funzionano. E vengono nelle scuole, come oggi. Gran parte del lavoro è preparazione: formazione, esercitazioni, manutenzione dei mezzi.</a:t>
            </a:r>
          </a:p>
          <a:p>
            <a:r>
              <a:rPr sz="1400" lang="it-IT"/>
              <a:t>Domanda alla classe: Quale di queste attività vi piacerebbe di più?</a:t>
            </a:r>
          </a:p>
          <a:p>
            <a:r>
              <a:rPr sz="1400" lang="it-IT"/>
              <a:t>Tempo: 5 minuti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L’autobotte è un Mercedes Actros: porta 14.000 litri d’acqua e serve sia contro gli incendi sia per distribuire acqua potabile. La vasca mobile da 8.000 litri serve agli elicotteri antincendio per fare rifornimento. La tenda sociale pneumatica, di 35 metri quadrati, accoglie le persone durante un’emergenza. Il Gruppo ha anche pickup e fuoristrada con moduli antincendio e un automezzo con piattaforma aerea.</a:t>
            </a:r>
          </a:p>
          <a:p>
            <a:r>
              <a:rPr sz="1400" lang="it-IT"/>
              <a:t>Domanda alla classe: Se un secchio contiene 10 litri, quanti secchi servono per riempire l’autobotte?</a:t>
            </a:r>
          </a:p>
          <a:p>
            <a:r>
              <a:rPr sz="1400" lang="it-IT"/>
              <a:t>Tempo: 4 minuti</a:t>
            </a:r>
          </a:p>
          <a:p>
            <a:r>
              <a:rPr sz="1400" lang="it-IT"/>
              <a:t>Attenzione: Risposta: 1.400 secchi.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Chiarisci che cosa i volontari non fanno: non sostituiscono Vigili del Fuoco, forze dell’ordine o personale sanitario, li supportano; non si attivano da soli, perché l’intervento lo dispone l’autorità competente, cioè il Sindaco, il Comune o la Sala Operativa regionale; non fanno i salvatori solitari, lavorano sempre in squadra. Per questo, in emergenza, i cittadini chiamano il 112 e non il Gruppo.</a:t>
            </a:r>
          </a:p>
          <a:p>
            <a:r>
              <a:rPr sz="1400" lang="it-IT"/>
              <a:t>Domanda alla classe: Perché è importante lavorare in squadra e non da soli?</a:t>
            </a:r>
          </a:p>
          <a:p>
            <a:r>
              <a:rPr sz="1400" lang="it-IT"/>
              <a:t>Tempo: 4 minuti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Per entrare nel Gruppo bisogna aver compiuto 16 anni: i minorenni, con il consenso dei genitori, partecipano alla formazione e alle attività consentite, mentre la piena operatività sul campo arriva a 18 anni. Iscrizione e corso di base sono gratuiti, e il corso è obbligatorio. L’impegno ordinario è di circa 16 ore al mese, concordate con la scuola, il lavoro e la famiglia. Non serve essere atleti: servono competenze diverse, dalla radio alla cucina da campo.</a:t>
            </a:r>
          </a:p>
          <a:p>
            <a:r>
              <a:rPr sz="1400" lang="it-IT"/>
              <a:t>Domanda alla classe: Che cosa vi piacerebbe imparare in un corso da volontari?</a:t>
            </a:r>
          </a:p>
          <a:p>
            <a:r>
              <a:rPr sz="1400" lang="it-IT"/>
              <a:t>Tempo: 3 minuti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La Costituzione è in vigore dal 1° gennaio 1948. L’articolo 2 riconosce i diritti di ogni persona e chiede a tutti di adempiere i doveri di solidarietà. Il Codice della protezione civile collega proprio a questo dovere il valore del volontariato. Spiega la parola solidarietà con esempi della classe: aiutare un compagno, prestare una matita, aspettare chi è più lento.</a:t>
            </a:r>
          </a:p>
          <a:p>
            <a:r>
              <a:rPr sz="1400" lang="it-IT"/>
              <a:t>Domanda alla classe: Fate un esempio di solidarietà che avete visto a scuola.</a:t>
            </a:r>
          </a:p>
          <a:p>
            <a:r>
              <a:rPr sz="1400" lang="it-IT"/>
              <a:t>Tempo: 4 minuti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Dividi la classe in gruppi e distribuisci la scheda. Ogni gruppo sceglie le domande: le prime cinque sono suggerite, le altre le scrivono loro. Poi i gruppi, a turno, ti intervistano e prendono appunti. In classe, con l’insegnante, scriveranno un breve articolo. Per le classi quarte e quinte l’insegnante può usare anche la scheda «La Costituzione e la Protezione Civile».</a:t>
            </a:r>
          </a:p>
          <a:p>
            <a:r>
              <a:rPr sz="1400" lang="it-IT"/>
              <a:t>Domanda alla classe: Qual è la domanda che vi incuriosisce di più?</a:t>
            </a:r>
          </a:p>
          <a:p>
            <a:r>
              <a:rPr sz="1400" lang="it-IT"/>
              <a:t>Tempo: 18 minuti</a:t>
            </a:r>
          </a:p>
          <a:p>
            <a:r>
              <a:rPr sz="1400" lang="it-IT"/>
              <a:t>Attenzione: Come dice la scheda, niente domande personali su età, soldi o salute. Rispondi raccontando fatti veri del Gruppo; se non sai una cosa, dillo e proponi di scrivere alla segreteria del Gruppo.</a:t>
            </a:r>
          </a:p>
          <a:p>
            <a:r>
              <a:rPr sz="1400" lang="it-IT"/>
              <a:t>Scheda da distribuire: https://www.protezionecivilegenzano.it/formazione/schede-stampabili/intervista-volontario-primaria/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Ripeti i tre punti e ringrazia la classe per le domande dell’intervista. Ricorda le quattro lezioni: la squadra, il 112, i rischi del territorio, i volontari.</a:t>
            </a:r>
          </a:p>
          <a:p>
            <a:r>
              <a:rPr sz="1400" lang="it-IT"/>
              <a:t>Domanda alla classe: Qual è la cosa più importante che avete imparato in questi quattro incontri?</a:t>
            </a:r>
          </a:p>
          <a:p>
            <a:r>
              <a:rPr sz="1400" lang="it-IT"/>
              <a:t>Tempo: 4 minuti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Questa slide serve all’insegnante: elenca le pagine del sito da cui vengono i contenuti della lezione. Non serve leggerla alla classe.</a:t>
            </a:r>
          </a:p>
          <a:p>
            <a:r>
              <a:rPr sz="1400" lang="it-IT"/>
              <a:t>Tempo: 0 minuti (slide per l’insegnante, non conta nell’ora)</a:t>
            </a:r>
          </a:p>
          <a:p>
            <a:r>
              <a:rPr sz="1400" lang="it-IT"/>
              <a:t>Indirizzi completi:</a:t>
            </a:r>
          </a:p>
          <a:p>
            <a:r>
              <a:rPr sz="1400" lang="it-IT"/>
              <a:t>- Chi siamo: https://www.protezionecivilegenzano.it/chi-siamo/</a:t>
            </a:r>
          </a:p>
          <a:p>
            <a:r>
              <a:rPr sz="1400" lang="it-IT"/>
              <a:t>- Diventa volontario: https://www.protezionecivilegenzano.it/diventa-volontario/</a:t>
            </a:r>
          </a:p>
          <a:p>
            <a:r>
              <a:rPr sz="1400" lang="it-IT"/>
              <a:t>- Manuale: il Codice, Capo V (volontariato): https://www.protezionecivilegenzano.it/manuale/25-commentario-codice-capo-5/</a:t>
            </a:r>
          </a:p>
          <a:p>
            <a:r>
              <a:rPr sz="1400" lang="it-IT"/>
              <a:t>- Biblioteca delle idee sbagliate: chiamare il Gruppo: https://www.protezionecivilegenzano.it/rischi-prevenzione/idee-sbagliate/#chiamare-gruppo</a:t>
            </a:r>
          </a:p>
          <a:p>
            <a:r>
              <a:rPr sz="1400" lang="it-IT"/>
              <a:t>- Scheda «Intervista al volontario»: https://www.protezionecivilegenzano.it/formazione/schede-stampabili/intervista-volontario-primaria/</a:t>
            </a:r>
          </a:p>
          <a:p>
            <a:r>
              <a:rPr sz="1400" lang="it-IT"/>
              <a:t>- Scheda «La Costituzione e la Protezione Civile»: https://www.protezionecivilegenzano.it/formazione/schede-stampabili/costituzione-pc-primaria/</a:t>
            </a:r>
          </a:p>
          <a:p>
            <a:r>
              <a:rPr sz="1400" lang="it-IT"/>
              <a:t>- Percorsi didattici: Percorso 1: https://www.protezionecivilegenzano.it/formazione/percorsi-didattici/#percorso-1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lang="it-IT"/>
              <a:t>Cosa dire: Saluta la classe: è l’ultimo incontro del percorso. Lascia all’insegnante l’indirizzo della pagina dei percorsi didattici, dove trova tutti i materiali.</a:t>
            </a:r>
          </a:p>
          <a:p>
            <a:r>
              <a:rPr sz="1400" lang="it-IT"/>
              <a:t>Domanda alla classe: Chi vuole dire una cosa ai volontari prima di salutarci?</a:t>
            </a:r>
          </a:p>
          <a:p>
            <a:r>
              <a:rPr sz="1400" lang="it-IT"/>
              <a:t>Tempo: 2 minuti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377" y="2130425"/>
            <a:ext cx="1036294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754" y="3886200"/>
            <a:ext cx="8534186"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Content Placeholder 2"/>
          <p:cNvSpPr>
            <a:spLocks noGrp="1"/>
          </p:cNvSpPr>
          <p:nvPr>
            <p:ph idx="1"/>
          </p:nvPr>
        </p:nvSpPr>
        <p:spPr>
          <a:xfrm>
            <a:off x="812758" y="0"/>
            <a:ext cx="14629667" cy="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59" y="2906713"/>
            <a:ext cx="1036294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58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445"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584" y="1535113"/>
            <a:ext cx="538678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584" y="2174875"/>
            <a:ext cx="538678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211" y="1535113"/>
            <a:ext cx="53888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211" y="2174875"/>
            <a:ext cx="53888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5553854" y="0"/>
            <a:ext cx="5147475" cy="0"/>
          </a:xfrm>
        </p:spPr>
        <p:txBody>
          <a:bodyPr/>
          <a:lstStyle/>
          <a:p>
            <a:endParaRPr lang="en-US"/>
          </a:p>
        </p:txBody>
      </p:sp>
      <p:sp>
        <p:nvSpPr>
          <p:cNvPr id="9" name="Slide Number Placeholder 8"/>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5553854" y="0"/>
            <a:ext cx="5147475" cy="0"/>
          </a:xfrm>
        </p:spPr>
        <p:txBody>
          <a:bodyPr/>
          <a:lstStyle/>
          <a:p>
            <a:endParaRPr lang="en-US"/>
          </a:p>
        </p:txBody>
      </p:sp>
      <p:sp>
        <p:nvSpPr>
          <p:cNvPr id="5" name="Slide Number Placeholder 4"/>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5553854" y="0"/>
            <a:ext cx="5147475" cy="0"/>
          </a:xfrm>
        </p:spPr>
        <p:txBody>
          <a:bodyPr/>
          <a:lstStyle/>
          <a:p>
            <a:endParaRPr lang="en-US"/>
          </a:p>
        </p:txBody>
      </p:sp>
      <p:sp>
        <p:nvSpPr>
          <p:cNvPr id="4" name="Slide Number Placeholder 3"/>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584" y="1435100"/>
            <a:ext cx="40109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7"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657" y="612775"/>
            <a:ext cx="7315017"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3854" y="0"/>
            <a:ext cx="5147475" cy="0"/>
          </a:xfrm>
        </p:spPr>
        <p:txBody>
          <a:bodyPr/>
          <a:lstStyle/>
          <a:p>
            <a:endParaRPr lang="en-US"/>
          </a:p>
        </p:txBody>
      </p:sp>
      <p:sp>
        <p:nvSpPr>
          <p:cNvPr id="7" name="Slide Number Placeholder 6"/>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758" y="0"/>
            <a:ext cx="14629667" cy="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812758" y="0"/>
            <a:ext cx="14629667" cy="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9" y="274638"/>
            <a:ext cx="27431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584" y="274638"/>
            <a:ext cx="8026199"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758" y="0"/>
            <a:ext cx="3792875"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3854" y="0"/>
            <a:ext cx="5147475" cy="0"/>
          </a:xfrm>
        </p:spPr>
        <p:txBody>
          <a:bodyPr/>
          <a:lstStyle/>
          <a:p>
            <a:endParaRPr lang="en-US"/>
          </a:p>
        </p:txBody>
      </p:sp>
      <p:sp>
        <p:nvSpPr>
          <p:cNvPr id="6" name="Slide Number Placeholder 5"/>
          <p:cNvSpPr>
            <a:spLocks noGrp="1"/>
          </p:cNvSpPr>
          <p:nvPr>
            <p:ph type="sldNum" sz="quarter" idx="12"/>
          </p:nvPr>
        </p:nvSpPr>
        <p:spPr>
          <a:xfrm>
            <a:off x="11649550" y="0"/>
            <a:ext cx="3792875"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D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84" y="274638"/>
            <a:ext cx="10972525"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584" y="1600200"/>
            <a:ext cx="10972525"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www.protezionecivilegenzano.it/formazione/schede-stampabili/intervista-volontario-primaria/" TargetMode="External"/><Relationship Id="rId4" Type="http://schemas.openxmlformats.org/officeDocument/2006/relationships/image" Target="../media/image17.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6.png"/><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hyperlink" Target="https://www.protezionecivilegenzano.it/chi-siamo/" TargetMode="External"/><Relationship Id="rId4" Type="http://schemas.openxmlformats.org/officeDocument/2006/relationships/hyperlink" Target="https://www.protezionecivilegenzano.it/diventa-volontario/" TargetMode="External"/><Relationship Id="rId5" Type="http://schemas.openxmlformats.org/officeDocument/2006/relationships/hyperlink" Target="https://www.protezionecivilegenzano.it/manuale/25-commentario-codice-capo-5/" TargetMode="External"/><Relationship Id="rId6" Type="http://schemas.openxmlformats.org/officeDocument/2006/relationships/hyperlink" Target="https://www.protezionecivilegenzano.it/rischi-prevenzione/idee-sbagliate/#chiamare-gruppo" TargetMode="External"/><Relationship Id="rId7" Type="http://schemas.openxmlformats.org/officeDocument/2006/relationships/hyperlink" Target="https://www.protezionecivilegenzano.it/formazione/schede-stampabili/intervista-volontario-primaria/" TargetMode="External"/><Relationship Id="rId8" Type="http://schemas.openxmlformats.org/officeDocument/2006/relationships/hyperlink" Target="https://www.protezionecivilegenzano.it/formazione/schede-stampabili/costituzione-pc-primaria/" TargetMode="External"/><Relationship Id="rId9" Type="http://schemas.openxmlformats.org/officeDocument/2006/relationships/hyperlink" Target="https://www.protezionecivilegenzano.it/formazione/percorsi-didattici/#percorso-1" TargetMode="Externa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3471265"/>
            <a:ext cx="6368897" cy="201168"/>
          </a:xfrm>
          <a:prstGeom prst="rect">
            <a:avLst/>
          </a:prstGeom>
        </p:spPr>
      </p:pic>
      <p:sp>
        <p:nvSpPr>
          <p:cNvPr id="2" name="Title 1"/>
          <p:cNvSpPr>
            <a:spLocks noGrp="1"/>
          </p:cNvSpPr>
          <p:nvPr>
            <p:ph type="title"/>
          </p:nvPr>
        </p:nvSpPr>
        <p:spPr>
          <a:xfrm>
            <a:off x="640080" y="1325880"/>
            <a:ext cx="7223760" cy="2563977"/>
          </a:xfrm>
        </p:spPr>
        <p:txBody>
          <a:bodyPr wrap="square" anchor="b">
            <a:noAutofit/>
          </a:bodyPr>
          <a:lstStyle/>
          <a:p>
            <a:pPr algn="l">
              <a:lnSpc>
                <a:spcPct val="78000"/>
              </a:lnSpc>
            </a:pPr>
            <a:r>
              <a:rPr sz="6400" b="0" lang="it-IT">
                <a:solidFill>
                  <a:srgbClr val="003366"/>
                </a:solidFill>
                <a:latin typeface="Edu NSW ACT Cursive"/>
              </a:rPr>
              <a:t>I volontari della</a:t>
            </a:r>
            <a:br/>
            <a:r>
              <a:rPr sz="6400" b="0" lang="it-IT">
                <a:solidFill>
                  <a:srgbClr val="003366"/>
                </a:solidFill>
                <a:latin typeface="Edu NSW ACT Cursive"/>
              </a:rPr>
              <a:t>Protezione Civile</a:t>
            </a:r>
          </a:p>
        </p:txBody>
      </p:sp>
      <p:sp>
        <p:nvSpPr>
          <p:cNvPr id="3" name="Percorso"/>
          <p:cNvSpPr txBox="1"/>
          <p:nvPr/>
        </p:nvSpPr>
        <p:spPr>
          <a:xfrm>
            <a:off x="640080" y="411480"/>
            <a:ext cx="7863840" cy="914400"/>
          </a:xfrm>
          <a:prstGeom prst="rect">
            <a:avLst/>
          </a:prstGeom>
          <a:noFill/>
        </p:spPr>
        <p:txBody>
          <a:bodyPr wrap="square" anchor="t" lIns="73152" rIns="73152">
            <a:noAutofit/>
          </a:bodyPr>
          <a:lstStyle/>
          <a:p>
            <a:pPr algn="l">
              <a:spcAft>
                <a:spcPts val="200"/>
              </a:spcAft>
            </a:pPr>
            <a:r>
              <a:rPr sz="2400" b="1" lang="it-IT">
                <a:solidFill>
                  <a:srgbClr val="003366"/>
                </a:solidFill>
                <a:latin typeface="Arial"/>
              </a:rPr>
              <a:t>Percorso 1 · Protezione Civile di base</a:t>
            </a:r>
          </a:p>
          <a:p>
            <a:pPr algn="l">
              <a:spcAft>
                <a:spcPts val="0"/>
              </a:spcAft>
            </a:pPr>
            <a:r>
              <a:rPr sz="2400" b="0" lang="it-IT">
                <a:solidFill>
                  <a:srgbClr val="003366"/>
                </a:solidFill>
                <a:latin typeface="Arial"/>
              </a:rPr>
              <a:t>Primaria, classi III-V</a:t>
            </a:r>
          </a:p>
        </p:txBody>
      </p:sp>
      <p:sp>
        <p:nvSpPr>
          <p:cNvPr id="5" name="Lezione"/>
          <p:cNvSpPr/>
          <p:nvPr/>
        </p:nvSpPr>
        <p:spPr>
          <a:xfrm rot="21420000">
            <a:off x="685800" y="4301337"/>
            <a:ext cx="3684647" cy="822960"/>
          </a:xfrm>
          <a:prstGeom prst="rect">
            <a:avLst/>
          </a:prstGeom>
          <a:solidFill>
            <a:srgbClr val="FFF0A8"/>
          </a:solidFill>
          <a:ln>
            <a:noFill/>
          </a:ln>
          <a:effectLst>
            <a:outerShdw blurRad="63500" dist="25400" dir="5400000" algn="t" rotWithShape="0">
              <a:srgbClr val="000000">
                <a:alpha val="22000"/>
              </a:srgbClr>
            </a:outerShdw>
          </a:effectLst>
        </p:spPr>
        <p:txBody>
          <a:bodyPr rtlCol="0" anchor="ctr" wrap="none" lIns="109728" rIns="109728" tIns="36576" bIns="36576">
            <a:noAutofit/>
          </a:bodyPr>
          <a:lstStyle/>
          <a:p>
            <a:pPr algn="ctr"/>
            <a:r>
              <a:rPr sz="3400" b="0" lang="it-IT">
                <a:solidFill>
                  <a:srgbClr val="003366"/>
                </a:solidFill>
                <a:latin typeface="Edu NSW ACT Cursive"/>
              </a:rPr>
              <a:t>Lezione 4 di 4</a:t>
            </a:r>
          </a:p>
        </p:txBody>
      </p:sp>
      <p:sp>
        <p:nvSpPr>
          <p:cNvPr id="6" name="Durata"/>
          <p:cNvSpPr/>
          <p:nvPr/>
        </p:nvSpPr>
        <p:spPr>
          <a:xfrm rot="120000">
            <a:off x="4736207" y="4347057"/>
            <a:ext cx="1920240" cy="777240"/>
          </a:xfrm>
          <a:prstGeom prst="rect">
            <a:avLst/>
          </a:prstGeom>
          <a:solidFill>
            <a:srgbClr val="DCEEFA"/>
          </a:solidFill>
          <a:ln>
            <a:noFill/>
          </a:ln>
          <a:effectLst>
            <a:outerShdw blurRad="63500" dist="25400" dir="5400000" algn="t" rotWithShape="0">
              <a:srgbClr val="000000">
                <a:alpha val="22000"/>
              </a:srgbClr>
            </a:outerShdw>
          </a:effectLst>
        </p:spPr>
        <p:txBody>
          <a:bodyPr rtlCol="0" anchor="ctr" wrap="none" lIns="109728" rIns="109728" tIns="36576" bIns="36576">
            <a:noAutofit/>
          </a:bodyPr>
          <a:lstStyle/>
          <a:p>
            <a:pPr algn="ctr"/>
            <a:r>
              <a:rPr sz="3400" b="0" lang="it-IT">
                <a:solidFill>
                  <a:srgbClr val="003366"/>
                </a:solidFill>
                <a:latin typeface="Edu NSW ACT Cursive"/>
              </a:rPr>
              <a:t>Un’ora</a:t>
            </a:r>
          </a:p>
        </p:txBody>
      </p:sp>
      <p:pic>
        <p:nvPicPr>
          <p:cNvPr id="7" name="Logo del Gruppo" descr="Logo del Gruppo Comunale Volontari di Protezione Civile di Genzano di Roma"/>
          <p:cNvPicPr>
            <a:picLocks noChangeAspect="1"/>
          </p:cNvPicPr>
          <p:nvPr/>
        </p:nvPicPr>
        <p:blipFill>
          <a:blip r:embed="rId3"/>
          <a:stretch>
            <a:fillRect/>
          </a:stretch>
        </p:blipFill>
        <p:spPr>
          <a:xfrm>
            <a:off x="10469880" y="320040"/>
            <a:ext cx="1325880" cy="1325880"/>
          </a:xfrm>
          <a:prstGeom prst="rect">
            <a:avLst/>
          </a:prstGeom>
        </p:spPr>
      </p:pic>
      <p:sp>
        <p:nvSpPr>
          <p:cNvPr id="8" name="Cartoncino">
            <a:extLst>
              <a:ext uri="{C183D7F6-B498-43B3-948B-1728B52AA6E4}">
                <adec:decorative xmlns:adec="http://schemas.microsoft.com/office/drawing/2017/decorative" val="1"/>
              </a:ext>
            </a:extLst>
          </p:cNvPr>
          <p:cNvSpPr/>
          <p:nvPr/>
        </p:nvSpPr>
        <p:spPr>
          <a:xfrm rot="21360000">
            <a:off x="8001000" y="1783080"/>
            <a:ext cx="2148840" cy="214884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9" name="Pittogramma" descr="Pittogramma: una persona aiuta un’altra a rialzarsi"/>
          <p:cNvPicPr>
            <a:picLocks noChangeAspect="1"/>
          </p:cNvPicPr>
          <p:nvPr/>
        </p:nvPicPr>
        <p:blipFill>
          <a:blip r:embed="rId4"/>
          <a:stretch>
            <a:fillRect/>
          </a:stretch>
        </p:blipFill>
        <p:spPr>
          <a:xfrm rot="21360000">
            <a:off x="8151418" y="1933498"/>
            <a:ext cx="1848002" cy="1848002"/>
          </a:xfrm>
          <a:prstGeom prst="rect">
            <a:avLst/>
          </a:prstGeom>
        </p:spPr>
      </p:pic>
      <p:sp>
        <p:nvSpPr>
          <p:cNvPr id="10" name="Cartoncino">
            <a:extLst>
              <a:ext uri="{C183D7F6-B498-43B3-948B-1728B52AA6E4}">
                <adec:decorative xmlns:adec="http://schemas.microsoft.com/office/drawing/2017/decorative" val="1"/>
              </a:ext>
            </a:extLst>
          </p:cNvPr>
          <p:cNvSpPr/>
          <p:nvPr/>
        </p:nvSpPr>
        <p:spPr>
          <a:xfrm rot="180000">
            <a:off x="9646920" y="2514600"/>
            <a:ext cx="2148840" cy="214884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11" name="Pittogramma" descr="Pittogramma: un camion antincendio"/>
          <p:cNvPicPr>
            <a:picLocks noChangeAspect="1"/>
          </p:cNvPicPr>
          <p:nvPr/>
        </p:nvPicPr>
        <p:blipFill>
          <a:blip r:embed="rId5"/>
          <a:stretch>
            <a:fillRect/>
          </a:stretch>
        </p:blipFill>
        <p:spPr>
          <a:xfrm rot="180000">
            <a:off x="9797338" y="2665018"/>
            <a:ext cx="1848002" cy="1848002"/>
          </a:xfrm>
          <a:prstGeom prst="rect">
            <a:avLst/>
          </a:prstGeom>
        </p:spPr>
      </p:pic>
      <p:sp>
        <p:nvSpPr>
          <p:cNvPr id="12" name="Cartoncino">
            <a:extLst>
              <a:ext uri="{C183D7F6-B498-43B3-948B-1728B52AA6E4}">
                <adec:decorative xmlns:adec="http://schemas.microsoft.com/office/drawing/2017/decorative" val="1"/>
              </a:ext>
            </a:extLst>
          </p:cNvPr>
          <p:cNvSpPr/>
          <p:nvPr/>
        </p:nvSpPr>
        <p:spPr>
          <a:xfrm rot="21480000">
            <a:off x="8321040" y="3931920"/>
            <a:ext cx="1874519" cy="1874519"/>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13" name="Pittogramma" descr="Pittogramma: una radio"/>
          <p:cNvPicPr>
            <a:picLocks noChangeAspect="1"/>
          </p:cNvPicPr>
          <p:nvPr/>
        </p:nvPicPr>
        <p:blipFill>
          <a:blip r:embed="rId6"/>
          <a:stretch>
            <a:fillRect/>
          </a:stretch>
        </p:blipFill>
        <p:spPr>
          <a:xfrm rot="21480000">
            <a:off x="8452256" y="4063136"/>
            <a:ext cx="1612087" cy="1612087"/>
          </a:xfrm>
          <a:prstGeom prst="rect">
            <a:avLst/>
          </a:prstGeom>
        </p:spPr>
      </p:pic>
      <p:sp>
        <p:nvSpPr>
          <p:cNvPr id="14" name="Firma"/>
          <p:cNvSpPr txBox="1"/>
          <p:nvPr/>
        </p:nvSpPr>
        <p:spPr>
          <a:xfrm>
            <a:off x="640080" y="5989320"/>
            <a:ext cx="10972800" cy="502920"/>
          </a:xfrm>
          <a:prstGeom prst="rect">
            <a:avLst/>
          </a:prstGeom>
          <a:noFill/>
        </p:spPr>
        <p:txBody>
          <a:bodyPr wrap="square" anchor="t" lIns="73152" rIns="73152">
            <a:noAutofit/>
          </a:bodyPr>
          <a:lstStyle/>
          <a:p>
            <a:pPr algn="l">
              <a:spcAft>
                <a:spcPts val="0"/>
              </a:spcAft>
            </a:pPr>
            <a:r>
              <a:rPr sz="2400" b="0" lang="it-IT">
                <a:solidFill>
                  <a:srgbClr val="003366"/>
                </a:solidFill>
                <a:latin typeface="Arial"/>
              </a:rPr>
              <a:t>Gruppo Comunale Volontari di Protezione Civile · Genzano di Roma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4313618"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Oggi scopriamo</a:t>
            </a:r>
          </a:p>
        </p:txBody>
      </p:sp>
      <p:sp>
        <p:nvSpPr>
          <p:cNvPr id="4" name="Riquadro">
            <a:extLst>
              <a:ext uri="{C183D7F6-B498-43B3-948B-1728B52AA6E4}">
                <adec:decorative xmlns:adec="http://schemas.microsoft.com/office/drawing/2017/decorative" val="1"/>
              </a:ext>
            </a:extLst>
          </p:cNvPr>
          <p:cNvSpPr/>
          <p:nvPr/>
        </p:nvSpPr>
        <p:spPr>
          <a:xfrm>
            <a:off x="640080" y="1600200"/>
            <a:ext cx="7818120" cy="4526280"/>
          </a:xfrm>
          <a:prstGeom prst="roundRect">
            <a:avLst>
              <a:gd name="adj" fmla="val 2424"/>
            </a:avLst>
          </a:prstGeom>
          <a:noFill/>
          <a:ln w="19050">
            <a:solidFill>
              <a:srgbClr val="003366"/>
            </a:solidFill>
            <a:prstDash val="dash"/>
          </a:ln>
        </p:spPr>
        <p:txBody>
          <a:bodyPr rtlCol="0" anchor="ctr"/>
          <a:lstStyle/>
          <a:p>
            <a:pPr algn="ctr"/>
          </a:p>
        </p:txBody>
      </p:sp>
      <p:sp>
        <p:nvSpPr>
          <p:cNvPr id="5" name="Numero"/>
          <p:cNvSpPr/>
          <p:nvPr/>
        </p:nvSpPr>
        <p:spPr>
          <a:xfrm>
            <a:off x="914400" y="2110740"/>
            <a:ext cx="731520" cy="731520"/>
          </a:xfrm>
          <a:prstGeom prst="ellipse">
            <a:avLst/>
          </a:prstGeom>
          <a:solidFill>
            <a:srgbClr val="FFFFFF"/>
          </a:solidFill>
          <a:ln w="25400">
            <a:solidFill>
              <a:srgbClr val="003366"/>
            </a:solidFill>
          </a:ln>
        </p:spPr>
        <p:txBody>
          <a:bodyPr rtlCol="0" anchor="ctr" wrap="square" lIns="0" rIns="0" tIns="0" bIns="0">
            <a:noAutofit/>
          </a:bodyPr>
          <a:lstStyle/>
          <a:p>
            <a:pPr algn="ctr"/>
            <a:r>
              <a:rPr sz="3400" b="0" lang="it-IT">
                <a:solidFill>
                  <a:srgbClr val="003366"/>
                </a:solidFill>
                <a:latin typeface="Edu NSW ACT Cursive"/>
              </a:rPr>
              <a:t>1</a:t>
            </a:r>
          </a:p>
        </p:txBody>
      </p:sp>
      <p:sp>
        <p:nvSpPr>
          <p:cNvPr id="6" name="Obiettivo 1"/>
          <p:cNvSpPr txBox="1"/>
          <p:nvPr/>
        </p:nvSpPr>
        <p:spPr>
          <a:xfrm>
            <a:off x="1874519" y="1783080"/>
            <a:ext cx="6355080" cy="1386840"/>
          </a:xfrm>
          <a:prstGeom prst="rect">
            <a:avLst/>
          </a:prstGeom>
          <a:noFill/>
        </p:spPr>
        <p:txBody>
          <a:bodyPr wrap="square" anchor="ctr" lIns="73152" rIns="73152">
            <a:noAutofit/>
          </a:bodyPr>
          <a:lstStyle/>
          <a:p>
            <a:pPr algn="l">
              <a:spcAft>
                <a:spcPts val="0"/>
              </a:spcAft>
            </a:pPr>
            <a:r>
              <a:rPr sz="2800" b="0" lang="it-IT">
                <a:solidFill>
                  <a:srgbClr val="212529"/>
                </a:solidFill>
                <a:latin typeface="Arial"/>
              </a:rPr>
              <a:t>Chi sono i volontari della Protezione Civile.</a:t>
            </a:r>
          </a:p>
        </p:txBody>
      </p:sp>
      <p:sp>
        <p:nvSpPr>
          <p:cNvPr id="7" name="Numero"/>
          <p:cNvSpPr/>
          <p:nvPr/>
        </p:nvSpPr>
        <p:spPr>
          <a:xfrm>
            <a:off x="914400" y="3497580"/>
            <a:ext cx="731520" cy="731520"/>
          </a:xfrm>
          <a:prstGeom prst="ellipse">
            <a:avLst/>
          </a:prstGeom>
          <a:solidFill>
            <a:srgbClr val="FFFFFF"/>
          </a:solidFill>
          <a:ln w="25400">
            <a:solidFill>
              <a:srgbClr val="003366"/>
            </a:solidFill>
          </a:ln>
        </p:spPr>
        <p:txBody>
          <a:bodyPr rtlCol="0" anchor="ctr" wrap="square" lIns="0" rIns="0" tIns="0" bIns="0">
            <a:noAutofit/>
          </a:bodyPr>
          <a:lstStyle/>
          <a:p>
            <a:pPr algn="ctr"/>
            <a:r>
              <a:rPr sz="3400" b="0" lang="it-IT">
                <a:solidFill>
                  <a:srgbClr val="003366"/>
                </a:solidFill>
                <a:latin typeface="Edu NSW ACT Cursive"/>
              </a:rPr>
              <a:t>2</a:t>
            </a:r>
          </a:p>
        </p:txBody>
      </p:sp>
      <p:sp>
        <p:nvSpPr>
          <p:cNvPr id="8" name="Obiettivo 2"/>
          <p:cNvSpPr txBox="1"/>
          <p:nvPr/>
        </p:nvSpPr>
        <p:spPr>
          <a:xfrm>
            <a:off x="1874519" y="3169920"/>
            <a:ext cx="6355080" cy="1386840"/>
          </a:xfrm>
          <a:prstGeom prst="rect">
            <a:avLst/>
          </a:prstGeom>
          <a:noFill/>
        </p:spPr>
        <p:txBody>
          <a:bodyPr wrap="square" anchor="ctr" lIns="73152" rIns="73152">
            <a:noAutofit/>
          </a:bodyPr>
          <a:lstStyle/>
          <a:p>
            <a:pPr algn="l">
              <a:spcAft>
                <a:spcPts val="0"/>
              </a:spcAft>
            </a:pPr>
            <a:r>
              <a:rPr sz="2800" b="0" lang="it-IT">
                <a:solidFill>
                  <a:srgbClr val="212529"/>
                </a:solidFill>
                <a:latin typeface="Arial"/>
              </a:rPr>
              <a:t>Che cosa fanno, e che cosa non fanno.</a:t>
            </a:r>
          </a:p>
        </p:txBody>
      </p:sp>
      <p:sp>
        <p:nvSpPr>
          <p:cNvPr id="9" name="Numero"/>
          <p:cNvSpPr/>
          <p:nvPr/>
        </p:nvSpPr>
        <p:spPr>
          <a:xfrm>
            <a:off x="914400" y="4884420"/>
            <a:ext cx="731520" cy="731520"/>
          </a:xfrm>
          <a:prstGeom prst="ellipse">
            <a:avLst/>
          </a:prstGeom>
          <a:solidFill>
            <a:srgbClr val="FFFFFF"/>
          </a:solidFill>
          <a:ln w="25400">
            <a:solidFill>
              <a:srgbClr val="003366"/>
            </a:solidFill>
          </a:ln>
        </p:spPr>
        <p:txBody>
          <a:bodyPr rtlCol="0" anchor="ctr" wrap="square" lIns="0" rIns="0" tIns="0" bIns="0">
            <a:noAutofit/>
          </a:bodyPr>
          <a:lstStyle/>
          <a:p>
            <a:pPr algn="ctr"/>
            <a:r>
              <a:rPr sz="3400" b="0" lang="it-IT">
                <a:solidFill>
                  <a:srgbClr val="003366"/>
                </a:solidFill>
                <a:latin typeface="Edu NSW ACT Cursive"/>
              </a:rPr>
              <a:t>3</a:t>
            </a:r>
          </a:p>
        </p:txBody>
      </p:sp>
      <p:sp>
        <p:nvSpPr>
          <p:cNvPr id="10" name="Obiettivo 3"/>
          <p:cNvSpPr txBox="1"/>
          <p:nvPr/>
        </p:nvSpPr>
        <p:spPr>
          <a:xfrm>
            <a:off x="1874519" y="4556760"/>
            <a:ext cx="6355080" cy="1386840"/>
          </a:xfrm>
          <a:prstGeom prst="rect">
            <a:avLst/>
          </a:prstGeom>
          <a:noFill/>
        </p:spPr>
        <p:txBody>
          <a:bodyPr wrap="square" anchor="ctr" lIns="73152" rIns="73152">
            <a:noAutofit/>
          </a:bodyPr>
          <a:lstStyle/>
          <a:p>
            <a:pPr algn="l">
              <a:spcAft>
                <a:spcPts val="0"/>
              </a:spcAft>
            </a:pPr>
            <a:r>
              <a:rPr sz="2800" b="0" lang="it-IT">
                <a:solidFill>
                  <a:srgbClr val="212529"/>
                </a:solidFill>
                <a:latin typeface="Arial"/>
              </a:rPr>
              <a:t>Perché aiutare è un dovere di tutti.</a:t>
            </a:r>
          </a:p>
        </p:txBody>
      </p:sp>
      <p:sp>
        <p:nvSpPr>
          <p:cNvPr id="11" name="Cartoncino">
            <a:extLst>
              <a:ext uri="{C183D7F6-B498-43B3-948B-1728B52AA6E4}">
                <adec:decorative xmlns:adec="http://schemas.microsoft.com/office/drawing/2017/decorative" val="1"/>
              </a:ext>
            </a:extLst>
          </p:cNvPr>
          <p:cNvSpPr/>
          <p:nvPr/>
        </p:nvSpPr>
        <p:spPr>
          <a:xfrm rot="120000">
            <a:off x="8915400" y="2011680"/>
            <a:ext cx="2651760" cy="265176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12" name="Pittogramma" descr="Pittogramma: una mano aiuta un’altra mano"/>
          <p:cNvPicPr>
            <a:picLocks noChangeAspect="1"/>
          </p:cNvPicPr>
          <p:nvPr/>
        </p:nvPicPr>
        <p:blipFill>
          <a:blip r:embed="rId3"/>
          <a:stretch>
            <a:fillRect/>
          </a:stretch>
        </p:blipFill>
        <p:spPr>
          <a:xfrm rot="120000">
            <a:off x="9101023" y="2197303"/>
            <a:ext cx="2280513" cy="228051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4877955"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Il sabato di Anna</a:t>
            </a:r>
          </a:p>
        </p:txBody>
      </p:sp>
      <p:sp>
        <p:nvSpPr>
          <p:cNvPr id="4" name="Cartoncino">
            <a:extLst>
              <a:ext uri="{C183D7F6-B498-43B3-948B-1728B52AA6E4}">
                <adec:decorative xmlns:adec="http://schemas.microsoft.com/office/drawing/2017/decorative" val="1"/>
              </a:ext>
            </a:extLst>
          </p:cNvPr>
          <p:cNvSpPr/>
          <p:nvPr/>
        </p:nvSpPr>
        <p:spPr>
          <a:xfrm rot="21480000">
            <a:off x="777240" y="1783080"/>
            <a:ext cx="2606040" cy="260604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5" name="Pittogramma" descr="Pittogramma: una radio"/>
          <p:cNvPicPr>
            <a:picLocks noChangeAspect="1"/>
          </p:cNvPicPr>
          <p:nvPr/>
        </p:nvPicPr>
        <p:blipFill>
          <a:blip r:embed="rId3"/>
          <a:stretch>
            <a:fillRect/>
          </a:stretch>
        </p:blipFill>
        <p:spPr>
          <a:xfrm rot="21480000">
            <a:off x="959662" y="1965502"/>
            <a:ext cx="2241194" cy="2241194"/>
          </a:xfrm>
          <a:prstGeom prst="rect">
            <a:avLst/>
          </a:prstGeom>
        </p:spPr>
      </p:pic>
      <p:sp>
        <p:nvSpPr>
          <p:cNvPr id="6" name="Foglietto della storia">
            <a:extLst>
              <a:ext uri="{C183D7F6-B498-43B3-948B-1728B52AA6E4}">
                <adec:decorative xmlns:adec="http://schemas.microsoft.com/office/drawing/2017/decorative" val="1"/>
              </a:ext>
            </a:extLst>
          </p:cNvPr>
          <p:cNvSpPr/>
          <p:nvPr/>
        </p:nvSpPr>
        <p:spPr>
          <a:xfrm rot="21540000">
            <a:off x="3794760" y="1645920"/>
            <a:ext cx="7726679" cy="3154680"/>
          </a:xfrm>
          <a:prstGeom prst="rect">
            <a:avLst/>
          </a:prstGeom>
          <a:solidFill>
            <a:srgbClr val="FFF0A8"/>
          </a:solidFill>
          <a:ln>
            <a:noFill/>
          </a:ln>
          <a:effectLst>
            <a:outerShdw blurRad="63500" dist="25400" dir="5400000" algn="t" rotWithShape="0">
              <a:srgbClr val="000000">
                <a:alpha val="22000"/>
              </a:srgbClr>
            </a:outerShdw>
          </a:effectLst>
        </p:spPr>
        <p:txBody>
          <a:bodyPr rtlCol="0" anchor="ctr"/>
          <a:lstStyle/>
          <a:p>
            <a:pPr algn="ctr"/>
          </a:p>
        </p:txBody>
      </p:sp>
      <p:sp>
        <p:nvSpPr>
          <p:cNvPr id="7" name="Storia"/>
          <p:cNvSpPr txBox="1"/>
          <p:nvPr/>
        </p:nvSpPr>
        <p:spPr>
          <a:xfrm>
            <a:off x="4069080" y="1783080"/>
            <a:ext cx="7223760" cy="2880360"/>
          </a:xfrm>
          <a:prstGeom prst="rect">
            <a:avLst/>
          </a:prstGeom>
          <a:noFill/>
        </p:spPr>
        <p:txBody>
          <a:bodyPr wrap="square" anchor="ctr" lIns="73152" rIns="73152">
            <a:noAutofit/>
          </a:bodyPr>
          <a:lstStyle/>
          <a:p>
            <a:pPr algn="l">
              <a:spcAft>
                <a:spcPts val="1200"/>
              </a:spcAft>
            </a:pPr>
            <a:r>
              <a:rPr sz="2800" b="0" lang="it-IT">
                <a:solidFill>
                  <a:srgbClr val="212529"/>
                </a:solidFill>
                <a:latin typeface="Arial"/>
              </a:rPr>
              <a:t>Anna è una volontaria del Gruppo di Genzano.</a:t>
            </a:r>
          </a:p>
          <a:p>
            <a:pPr algn="l">
              <a:spcAft>
                <a:spcPts val="1200"/>
              </a:spcAft>
            </a:pPr>
            <a:r>
              <a:rPr sz="2800" b="0" lang="it-IT">
                <a:solidFill>
                  <a:srgbClr val="212529"/>
                </a:solidFill>
                <a:latin typeface="Arial"/>
              </a:rPr>
              <a:t>Il sabato mattina va in sede: controlla i mezzi e le radio.</a:t>
            </a:r>
          </a:p>
          <a:p>
            <a:pPr algn="l">
              <a:spcAft>
                <a:spcPts val="0"/>
              </a:spcAft>
            </a:pPr>
            <a:r>
              <a:rPr sz="2800" b="0" lang="it-IT">
                <a:solidFill>
                  <a:srgbClr val="212529"/>
                </a:solidFill>
                <a:latin typeface="Arial"/>
              </a:rPr>
              <a:t>Poi va in una scuola a parlare con i bambini.</a:t>
            </a:r>
          </a:p>
        </p:txBody>
      </p:sp>
      <p:sp>
        <p:nvSpPr>
          <p:cNvPr id="8" name="Riquadro">
            <a:extLst>
              <a:ext uri="{C183D7F6-B498-43B3-948B-1728B52AA6E4}">
                <adec:decorative xmlns:adec="http://schemas.microsoft.com/office/drawing/2017/decorative" val="1"/>
              </a:ext>
            </a:extLst>
          </p:cNvPr>
          <p:cNvSpPr/>
          <p:nvPr/>
        </p:nvSpPr>
        <p:spPr>
          <a:xfrm>
            <a:off x="3794760" y="5120640"/>
            <a:ext cx="7726679" cy="1188720"/>
          </a:xfrm>
          <a:prstGeom prst="roundRect">
            <a:avLst>
              <a:gd name="adj" fmla="val 9230"/>
            </a:avLst>
          </a:prstGeom>
          <a:noFill/>
          <a:ln w="19050">
            <a:solidFill>
              <a:srgbClr val="003366"/>
            </a:solidFill>
            <a:prstDash val="dash"/>
          </a:ln>
        </p:spPr>
        <p:txBody>
          <a:bodyPr rtlCol="0" anchor="ctr"/>
          <a:lstStyle/>
          <a:p>
            <a:pPr algn="ctr"/>
          </a:p>
        </p:txBody>
      </p:sp>
      <p:pic>
        <p:nvPicPr>
          <p:cNvPr id="9" name="Icona"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023360" y="5349240"/>
            <a:ext cx="731520" cy="731520"/>
          </a:xfrm>
          <a:prstGeom prst="rect">
            <a:avLst/>
          </a:prstGeom>
        </p:spPr>
      </p:pic>
      <p:sp>
        <p:nvSpPr>
          <p:cNvPr id="10" name="Domanda"/>
          <p:cNvSpPr txBox="1"/>
          <p:nvPr/>
        </p:nvSpPr>
        <p:spPr>
          <a:xfrm>
            <a:off x="4846320" y="5166360"/>
            <a:ext cx="6583680" cy="1097280"/>
          </a:xfrm>
          <a:prstGeom prst="rect">
            <a:avLst/>
          </a:prstGeom>
          <a:noFill/>
        </p:spPr>
        <p:txBody>
          <a:bodyPr wrap="square" anchor="ctr" lIns="73152" rIns="73152">
            <a:noAutofit/>
          </a:bodyPr>
          <a:lstStyle/>
          <a:p>
            <a:pPr algn="l">
              <a:spcAft>
                <a:spcPts val="0"/>
              </a:spcAft>
            </a:pPr>
            <a:r>
              <a:rPr sz="2800" b="1" lang="it-IT">
                <a:solidFill>
                  <a:srgbClr val="003366"/>
                </a:solidFill>
                <a:latin typeface="Arial"/>
              </a:rPr>
              <a:t>Secondo voi, Anna viene pagata per farlo?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5308803"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Chi è un volontario</a:t>
            </a:r>
          </a:p>
        </p:txBody>
      </p:sp>
      <p:sp>
        <p:nvSpPr>
          <p:cNvPr id="4" name="Riquadro">
            <a:extLst>
              <a:ext uri="{C183D7F6-B498-43B3-948B-1728B52AA6E4}">
                <adec:decorative xmlns:adec="http://schemas.microsoft.com/office/drawing/2017/decorative" val="1"/>
              </a:ext>
            </a:extLst>
          </p:cNvPr>
          <p:cNvSpPr/>
          <p:nvPr/>
        </p:nvSpPr>
        <p:spPr>
          <a:xfrm>
            <a:off x="640080" y="1600200"/>
            <a:ext cx="7406640" cy="4526280"/>
          </a:xfrm>
          <a:prstGeom prst="roundRect">
            <a:avLst>
              <a:gd name="adj" fmla="val 2424"/>
            </a:avLst>
          </a:prstGeom>
          <a:noFill/>
          <a:ln w="19050">
            <a:solidFill>
              <a:srgbClr val="003366"/>
            </a:solidFill>
            <a:prstDash val="dash"/>
          </a:ln>
        </p:spPr>
        <p:txBody>
          <a:bodyPr rtlCol="0" anchor="ctr"/>
          <a:lstStyle/>
          <a:p>
            <a:pPr algn="ctr"/>
          </a:p>
        </p:txBody>
      </p:sp>
      <p:sp>
        <p:nvSpPr>
          <p:cNvPr id="5" name="Testo"/>
          <p:cNvSpPr txBox="1"/>
          <p:nvPr/>
        </p:nvSpPr>
        <p:spPr>
          <a:xfrm>
            <a:off x="914400" y="1783080"/>
            <a:ext cx="6903720" cy="4160520"/>
          </a:xfrm>
          <a:prstGeom prst="rect">
            <a:avLst/>
          </a:prstGeom>
          <a:noFill/>
        </p:spPr>
        <p:txBody>
          <a:bodyPr wrap="square" anchor="ctr" lIns="73152" rIns="73152">
            <a:noAutofit/>
          </a:bodyPr>
          <a:lstStyle/>
          <a:p>
            <a:pPr algn="l" marL="384048" indent="-384048">
              <a:spcAft>
                <a:spcPts val="1200"/>
              </a:spcAft>
              <a:buClr>
                <a:srgbClr val="003366"/>
              </a:buClr>
              <a:buFont typeface="Arial"/>
              <a:buChar char="•"/>
            </a:pPr>
            <a:r>
              <a:rPr sz="2800" b="0" lang="it-IT">
                <a:solidFill>
                  <a:srgbClr val="212529"/>
                </a:solidFill>
                <a:latin typeface="Arial"/>
              </a:rPr>
              <a:t>Un cittadino che </a:t>
            </a:r>
            <a:r>
              <a:rPr sz="2800" b="0" lang="it-IT">
                <a:solidFill>
                  <a:srgbClr val="212529"/>
                </a:solidFill>
                <a:highlight>
                  <a:srgbClr val="FFF0A8"/>
                </a:highlight>
                <a:latin typeface="Arial"/>
              </a:rPr>
              <a:t>sceglie liberamente</a:t>
            </a:r>
            <a:r>
              <a:rPr sz="2800" b="0" lang="it-IT">
                <a:solidFill>
                  <a:srgbClr val="212529"/>
                </a:solidFill>
                <a:latin typeface="Arial"/>
              </a:rPr>
              <a:t> di aiutare gli altri.</a:t>
            </a:r>
          </a:p>
          <a:p>
            <a:pPr algn="l" marL="384048" indent="-384048">
              <a:spcAft>
                <a:spcPts val="1200"/>
              </a:spcAft>
              <a:buClr>
                <a:srgbClr val="003366"/>
              </a:buClr>
              <a:buFont typeface="Arial"/>
              <a:buChar char="•"/>
            </a:pPr>
            <a:r>
              <a:rPr sz="2800" b="0" lang="it-IT">
                <a:solidFill>
                  <a:srgbClr val="212529"/>
                </a:solidFill>
                <a:latin typeface="Arial"/>
              </a:rPr>
              <a:t>Non è pagato: dona il suo tempo e le sue capacità.</a:t>
            </a:r>
          </a:p>
          <a:p>
            <a:pPr algn="l" marL="384048" indent="-384048">
              <a:spcAft>
                <a:spcPts val="0"/>
              </a:spcAft>
              <a:buClr>
                <a:srgbClr val="003366"/>
              </a:buClr>
              <a:buFont typeface="Arial"/>
              <a:buChar char="•"/>
            </a:pPr>
            <a:r>
              <a:rPr sz="2800" b="0" lang="it-IT">
                <a:solidFill>
                  <a:srgbClr val="212529"/>
                </a:solidFill>
                <a:latin typeface="Arial"/>
              </a:rPr>
              <a:t>Prima di tutto </a:t>
            </a:r>
            <a:r>
              <a:rPr sz="2800" b="0" lang="it-IT">
                <a:solidFill>
                  <a:srgbClr val="212529"/>
                </a:solidFill>
                <a:highlight>
                  <a:srgbClr val="FFF0A8"/>
                </a:highlight>
                <a:latin typeface="Arial"/>
              </a:rPr>
              <a:t>si prepara</a:t>
            </a:r>
            <a:r>
              <a:rPr sz="2800" b="0" lang="it-IT">
                <a:solidFill>
                  <a:srgbClr val="212529"/>
                </a:solidFill>
                <a:latin typeface="Arial"/>
              </a:rPr>
              <a:t>: segue dei corsi.</a:t>
            </a:r>
          </a:p>
        </p:txBody>
      </p:sp>
      <p:sp>
        <p:nvSpPr>
          <p:cNvPr id="6" name="Cartoncino">
            <a:extLst>
              <a:ext uri="{C183D7F6-B498-43B3-948B-1728B52AA6E4}">
                <adec:decorative xmlns:adec="http://schemas.microsoft.com/office/drawing/2017/decorative" val="1"/>
              </a:ext>
            </a:extLst>
          </p:cNvPr>
          <p:cNvSpPr/>
          <p:nvPr/>
        </p:nvSpPr>
        <p:spPr>
          <a:xfrm rot="120000">
            <a:off x="8503920" y="2057400"/>
            <a:ext cx="2926080" cy="292608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7" name="Pittogramma" descr="Pittogramma: una persona aiuta un’altra a rialzarsi"/>
          <p:cNvPicPr>
            <a:picLocks noChangeAspect="1"/>
          </p:cNvPicPr>
          <p:nvPr/>
        </p:nvPicPr>
        <p:blipFill>
          <a:blip r:embed="rId3"/>
          <a:stretch>
            <a:fillRect/>
          </a:stretch>
        </p:blipFill>
        <p:spPr>
          <a:xfrm rot="120000">
            <a:off x="8708745" y="2262225"/>
            <a:ext cx="2516428" cy="251642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7657579"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Il nostro Gruppo a Genzano</a:t>
            </a:r>
          </a:p>
        </p:txBody>
      </p:sp>
      <p:sp>
        <p:nvSpPr>
          <p:cNvPr id="4" name="Passo">
            <a:extLst>
              <a:ext uri="{C183D7F6-B498-43B3-948B-1728B52AA6E4}">
                <adec:decorative xmlns:adec="http://schemas.microsoft.com/office/drawing/2017/decorative" val="1"/>
              </a:ext>
            </a:extLst>
          </p:cNvPr>
          <p:cNvSpPr/>
          <p:nvPr/>
        </p:nvSpPr>
        <p:spPr>
          <a:xfrm>
            <a:off x="640080" y="2240280"/>
            <a:ext cx="3383279" cy="3246120"/>
          </a:xfrm>
          <a:prstGeom prst="roundRect">
            <a:avLst>
              <a:gd name="adj" fmla="val 7042"/>
            </a:avLst>
          </a:prstGeom>
          <a:solidFill>
            <a:srgbClr val="DCEEFA"/>
          </a:solidFill>
          <a:ln w="15875">
            <a:solidFill>
              <a:srgbClr val="003366"/>
            </a:solidFill>
          </a:ln>
        </p:spPr>
        <p:txBody>
          <a:bodyPr rtlCol="0" anchor="ctr"/>
          <a:lstStyle/>
          <a:p>
            <a:pPr algn="ctr"/>
          </a:p>
        </p:txBody>
      </p:sp>
      <p:sp>
        <p:nvSpPr>
          <p:cNvPr id="5" name="Etichetta"/>
          <p:cNvSpPr txBox="1"/>
          <p:nvPr/>
        </p:nvSpPr>
        <p:spPr>
          <a:xfrm>
            <a:off x="685800" y="2286000"/>
            <a:ext cx="3291839" cy="868680"/>
          </a:xfrm>
          <a:prstGeom prst="rect">
            <a:avLst/>
          </a:prstGeom>
          <a:noFill/>
        </p:spPr>
        <p:txBody>
          <a:bodyPr wrap="square" anchor="ctr" lIns="73152" rIns="73152">
            <a:noAutofit/>
          </a:bodyPr>
          <a:lstStyle/>
          <a:p>
            <a:pPr algn="ctr"/>
            <a:r>
              <a:rPr sz="3800" b="0" lang="it-IT">
                <a:solidFill>
                  <a:srgbClr val="003366"/>
                </a:solidFill>
                <a:latin typeface="Edu NSW ACT Cursive"/>
              </a:rPr>
              <a:t>1981</a:t>
            </a:r>
          </a:p>
        </p:txBody>
      </p:sp>
      <p:sp>
        <p:nvSpPr>
          <p:cNvPr id="6" name="Passo, titolo"/>
          <p:cNvSpPr txBox="1"/>
          <p:nvPr/>
        </p:nvSpPr>
        <p:spPr>
          <a:xfrm>
            <a:off x="685800" y="3154680"/>
            <a:ext cx="3291839" cy="505968"/>
          </a:xfrm>
          <a:prstGeom prst="rect">
            <a:avLst/>
          </a:prstGeom>
          <a:noFill/>
        </p:spPr>
        <p:txBody>
          <a:bodyPr wrap="square" anchor="t" lIns="73152" rIns="73152">
            <a:noAutofit/>
          </a:bodyPr>
          <a:lstStyle/>
          <a:p>
            <a:pPr algn="ctr">
              <a:spcAft>
                <a:spcPts val="0"/>
              </a:spcAft>
            </a:pPr>
            <a:r>
              <a:rPr sz="2600" b="1" lang="it-IT">
                <a:solidFill>
                  <a:srgbClr val="003366"/>
                </a:solidFill>
                <a:latin typeface="Arial"/>
              </a:rPr>
              <a:t>Si comincia</a:t>
            </a:r>
          </a:p>
        </p:txBody>
      </p:sp>
      <p:sp>
        <p:nvSpPr>
          <p:cNvPr id="7" name="Passo, testo"/>
          <p:cNvSpPr txBox="1"/>
          <p:nvPr/>
        </p:nvSpPr>
        <p:spPr>
          <a:xfrm>
            <a:off x="685800" y="3660648"/>
            <a:ext cx="3291839" cy="1716023"/>
          </a:xfrm>
          <a:prstGeom prst="rect">
            <a:avLst/>
          </a:prstGeom>
          <a:noFill/>
        </p:spPr>
        <p:txBody>
          <a:bodyPr wrap="square" anchor="t" lIns="73152" rIns="73152">
            <a:noAutofit/>
          </a:bodyPr>
          <a:lstStyle/>
          <a:p>
            <a:pPr algn="ctr">
              <a:spcAft>
                <a:spcPts val="0"/>
              </a:spcAft>
            </a:pPr>
            <a:r>
              <a:rPr sz="2400" b="0" lang="it-IT">
                <a:solidFill>
                  <a:srgbClr val="212529"/>
                </a:solidFill>
                <a:latin typeface="Arial"/>
              </a:rPr>
              <a:t>Nasce un gruppo di volontari.</a:t>
            </a:r>
          </a:p>
        </p:txBody>
      </p:sp>
      <p:pic>
        <p:nvPicPr>
          <p:cNvPr id="8" name="Freccia"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059935" y="3753611"/>
            <a:ext cx="338328" cy="219456"/>
          </a:xfrm>
          <a:prstGeom prst="rect">
            <a:avLst/>
          </a:prstGeom>
        </p:spPr>
      </p:pic>
      <p:sp>
        <p:nvSpPr>
          <p:cNvPr id="9" name="Passo">
            <a:extLst>
              <a:ext uri="{C183D7F6-B498-43B3-948B-1728B52AA6E4}">
                <adec:decorative xmlns:adec="http://schemas.microsoft.com/office/drawing/2017/decorative" val="1"/>
              </a:ext>
            </a:extLst>
          </p:cNvPr>
          <p:cNvSpPr/>
          <p:nvPr/>
        </p:nvSpPr>
        <p:spPr>
          <a:xfrm>
            <a:off x="4434840" y="2240280"/>
            <a:ext cx="3383279" cy="3246120"/>
          </a:xfrm>
          <a:prstGeom prst="roundRect">
            <a:avLst>
              <a:gd name="adj" fmla="val 7042"/>
            </a:avLst>
          </a:prstGeom>
          <a:solidFill>
            <a:srgbClr val="FFF0A8"/>
          </a:solidFill>
          <a:ln w="15875">
            <a:solidFill>
              <a:srgbClr val="003366"/>
            </a:solidFill>
          </a:ln>
        </p:spPr>
        <p:txBody>
          <a:bodyPr rtlCol="0" anchor="ctr"/>
          <a:lstStyle/>
          <a:p>
            <a:pPr algn="ctr"/>
          </a:p>
        </p:txBody>
      </p:sp>
      <p:sp>
        <p:nvSpPr>
          <p:cNvPr id="10" name="Etichetta"/>
          <p:cNvSpPr txBox="1"/>
          <p:nvPr/>
        </p:nvSpPr>
        <p:spPr>
          <a:xfrm>
            <a:off x="4480559" y="2286000"/>
            <a:ext cx="3291839" cy="868680"/>
          </a:xfrm>
          <a:prstGeom prst="rect">
            <a:avLst/>
          </a:prstGeom>
          <a:noFill/>
        </p:spPr>
        <p:txBody>
          <a:bodyPr wrap="square" anchor="ctr" lIns="73152" rIns="73152">
            <a:noAutofit/>
          </a:bodyPr>
          <a:lstStyle/>
          <a:p>
            <a:pPr algn="ctr"/>
            <a:r>
              <a:rPr sz="3800" b="0" lang="it-IT">
                <a:solidFill>
                  <a:srgbClr val="003366"/>
                </a:solidFill>
                <a:latin typeface="Edu NSW ACT Cursive"/>
              </a:rPr>
              <a:t>1991</a:t>
            </a:r>
          </a:p>
        </p:txBody>
      </p:sp>
      <p:sp>
        <p:nvSpPr>
          <p:cNvPr id="11" name="Passo, titolo"/>
          <p:cNvSpPr txBox="1"/>
          <p:nvPr/>
        </p:nvSpPr>
        <p:spPr>
          <a:xfrm>
            <a:off x="4480559" y="3154680"/>
            <a:ext cx="3291839" cy="505968"/>
          </a:xfrm>
          <a:prstGeom prst="rect">
            <a:avLst/>
          </a:prstGeom>
          <a:noFill/>
        </p:spPr>
        <p:txBody>
          <a:bodyPr wrap="square" anchor="t" lIns="73152" rIns="73152">
            <a:noAutofit/>
          </a:bodyPr>
          <a:lstStyle/>
          <a:p>
            <a:pPr algn="ctr">
              <a:spcAft>
                <a:spcPts val="0"/>
              </a:spcAft>
            </a:pPr>
            <a:r>
              <a:rPr sz="2600" b="1" lang="it-IT">
                <a:solidFill>
                  <a:srgbClr val="003366"/>
                </a:solidFill>
                <a:latin typeface="Arial"/>
              </a:rPr>
              <a:t>Gruppo Comunale</a:t>
            </a:r>
          </a:p>
        </p:txBody>
      </p:sp>
      <p:sp>
        <p:nvSpPr>
          <p:cNvPr id="12" name="Passo, testo"/>
          <p:cNvSpPr txBox="1"/>
          <p:nvPr/>
        </p:nvSpPr>
        <p:spPr>
          <a:xfrm>
            <a:off x="4480559" y="3660648"/>
            <a:ext cx="3291839" cy="1716023"/>
          </a:xfrm>
          <a:prstGeom prst="rect">
            <a:avLst/>
          </a:prstGeom>
          <a:noFill/>
        </p:spPr>
        <p:txBody>
          <a:bodyPr wrap="square" anchor="t" lIns="73152" rIns="73152">
            <a:noAutofit/>
          </a:bodyPr>
          <a:lstStyle/>
          <a:p>
            <a:pPr algn="ctr">
              <a:spcAft>
                <a:spcPts val="0"/>
              </a:spcAft>
            </a:pPr>
            <a:r>
              <a:rPr sz="2400" b="0" lang="it-IT">
                <a:solidFill>
                  <a:srgbClr val="212529"/>
                </a:solidFill>
                <a:latin typeface="Arial"/>
              </a:rPr>
              <a:t>Lo istituisce il Consiglio Comunale.</a:t>
            </a:r>
          </a:p>
        </p:txBody>
      </p:sp>
      <p:pic>
        <p:nvPicPr>
          <p:cNvPr id="13" name="Freccia"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854695" y="3753611"/>
            <a:ext cx="338328" cy="219456"/>
          </a:xfrm>
          <a:prstGeom prst="rect">
            <a:avLst/>
          </a:prstGeom>
        </p:spPr>
      </p:pic>
      <p:sp>
        <p:nvSpPr>
          <p:cNvPr id="14" name="Passo">
            <a:extLst>
              <a:ext uri="{C183D7F6-B498-43B3-948B-1728B52AA6E4}">
                <adec:decorative xmlns:adec="http://schemas.microsoft.com/office/drawing/2017/decorative" val="1"/>
              </a:ext>
            </a:extLst>
          </p:cNvPr>
          <p:cNvSpPr/>
          <p:nvPr/>
        </p:nvSpPr>
        <p:spPr>
          <a:xfrm>
            <a:off x="8229599" y="2240280"/>
            <a:ext cx="3383279" cy="3246120"/>
          </a:xfrm>
          <a:prstGeom prst="roundRect">
            <a:avLst>
              <a:gd name="adj" fmla="val 7042"/>
            </a:avLst>
          </a:prstGeom>
          <a:solidFill>
            <a:srgbClr val="F8DFE5"/>
          </a:solidFill>
          <a:ln w="15875">
            <a:solidFill>
              <a:srgbClr val="003366"/>
            </a:solidFill>
          </a:ln>
        </p:spPr>
        <p:txBody>
          <a:bodyPr rtlCol="0" anchor="ctr"/>
          <a:lstStyle/>
          <a:p>
            <a:pPr algn="ctr"/>
          </a:p>
        </p:txBody>
      </p:sp>
      <p:sp>
        <p:nvSpPr>
          <p:cNvPr id="15" name="Etichetta"/>
          <p:cNvSpPr txBox="1"/>
          <p:nvPr/>
        </p:nvSpPr>
        <p:spPr>
          <a:xfrm>
            <a:off x="8275319" y="2286000"/>
            <a:ext cx="3291839" cy="868680"/>
          </a:xfrm>
          <a:prstGeom prst="rect">
            <a:avLst/>
          </a:prstGeom>
          <a:noFill/>
        </p:spPr>
        <p:txBody>
          <a:bodyPr wrap="square" anchor="ctr" lIns="73152" rIns="73152">
            <a:noAutofit/>
          </a:bodyPr>
          <a:lstStyle/>
          <a:p>
            <a:pPr algn="ctr"/>
            <a:r>
              <a:rPr sz="3800" b="0" lang="it-IT">
                <a:solidFill>
                  <a:srgbClr val="003366"/>
                </a:solidFill>
                <a:latin typeface="Edu NSW ACT Cursive"/>
              </a:rPr>
              <a:t>Oggi</a:t>
            </a:r>
          </a:p>
        </p:txBody>
      </p:sp>
      <p:sp>
        <p:nvSpPr>
          <p:cNvPr id="16" name="Passo, titolo"/>
          <p:cNvSpPr txBox="1"/>
          <p:nvPr/>
        </p:nvSpPr>
        <p:spPr>
          <a:xfrm>
            <a:off x="8275319" y="3154680"/>
            <a:ext cx="3291839" cy="505968"/>
          </a:xfrm>
          <a:prstGeom prst="rect">
            <a:avLst/>
          </a:prstGeom>
          <a:noFill/>
        </p:spPr>
        <p:txBody>
          <a:bodyPr wrap="square" anchor="t" lIns="73152" rIns="73152">
            <a:noAutofit/>
          </a:bodyPr>
          <a:lstStyle/>
          <a:p>
            <a:pPr algn="ctr">
              <a:spcAft>
                <a:spcPts val="0"/>
              </a:spcAft>
            </a:pPr>
            <a:r>
              <a:rPr sz="2600" b="1" lang="it-IT">
                <a:solidFill>
                  <a:srgbClr val="003366"/>
                </a:solidFill>
                <a:latin typeface="Arial"/>
              </a:rPr>
              <a:t>Vicino e lontano</a:t>
            </a:r>
          </a:p>
        </p:txBody>
      </p:sp>
      <p:sp>
        <p:nvSpPr>
          <p:cNvPr id="17" name="Passo, testo"/>
          <p:cNvSpPr txBox="1"/>
          <p:nvPr/>
        </p:nvSpPr>
        <p:spPr>
          <a:xfrm>
            <a:off x="8275319" y="3660648"/>
            <a:ext cx="3291839" cy="1716023"/>
          </a:xfrm>
          <a:prstGeom prst="rect">
            <a:avLst/>
          </a:prstGeom>
          <a:noFill/>
        </p:spPr>
        <p:txBody>
          <a:bodyPr wrap="square" anchor="t" lIns="73152" rIns="73152">
            <a:noAutofit/>
          </a:bodyPr>
          <a:lstStyle/>
          <a:p>
            <a:pPr algn="ctr">
              <a:spcAft>
                <a:spcPts val="0"/>
              </a:spcAft>
            </a:pPr>
            <a:r>
              <a:rPr sz="2400" b="0" lang="it-IT">
                <a:solidFill>
                  <a:srgbClr val="212529"/>
                </a:solidFill>
                <a:latin typeface="Arial"/>
              </a:rPr>
              <a:t>A Genzano e dove c’è bisogno.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7211250"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Che cosa fanno i volontari</a:t>
            </a:r>
          </a:p>
        </p:txBody>
      </p:sp>
      <p:sp>
        <p:nvSpPr>
          <p:cNvPr id="4" name="Foglietto">
            <a:extLst>
              <a:ext uri="{C183D7F6-B498-43B3-948B-1728B52AA6E4}">
                <adec:decorative xmlns:adec="http://schemas.microsoft.com/office/drawing/2017/decorative" val="1"/>
              </a:ext>
            </a:extLst>
          </p:cNvPr>
          <p:cNvSpPr/>
          <p:nvPr/>
        </p:nvSpPr>
        <p:spPr>
          <a:xfrm rot="21480000">
            <a:off x="640080" y="1783080"/>
            <a:ext cx="2468880" cy="4206240"/>
          </a:xfrm>
          <a:prstGeom prst="rect">
            <a:avLst/>
          </a:prstGeom>
          <a:solidFill>
            <a:srgbClr val="FFF0A8"/>
          </a:solidFill>
          <a:ln>
            <a:noFill/>
          </a:ln>
          <a:effectLst>
            <a:outerShdw blurRad="63500" dist="25400" dir="5400000" algn="t" rotWithShape="0">
              <a:srgbClr val="000000">
                <a:alpha val="22000"/>
              </a:srgbClr>
            </a:outerShdw>
          </a:effectLst>
        </p:spPr>
        <p:txBody>
          <a:bodyPr rtlCol="0" anchor="ctr"/>
          <a:lstStyle/>
          <a:p>
            <a:pPr algn="ctr"/>
          </a:p>
        </p:txBody>
      </p:sp>
      <p:pic>
        <p:nvPicPr>
          <p:cNvPr id="5" name="Pittogramma" descr="Pittogramma: fiamme"/>
          <p:cNvPicPr>
            <a:picLocks noChangeAspect="1"/>
          </p:cNvPicPr>
          <p:nvPr/>
        </p:nvPicPr>
        <p:blipFill>
          <a:blip r:embed="rId3"/>
          <a:stretch>
            <a:fillRect/>
          </a:stretch>
        </p:blipFill>
        <p:spPr>
          <a:xfrm rot="21480000">
            <a:off x="914400" y="1965960"/>
            <a:ext cx="1920240" cy="1920240"/>
          </a:xfrm>
          <a:prstGeom prst="rect">
            <a:avLst/>
          </a:prstGeom>
        </p:spPr>
      </p:pic>
      <p:sp>
        <p:nvSpPr>
          <p:cNvPr id="6" name="Voce 1"/>
          <p:cNvSpPr txBox="1"/>
          <p:nvPr/>
        </p:nvSpPr>
        <p:spPr>
          <a:xfrm>
            <a:off x="731519" y="3977639"/>
            <a:ext cx="2286000" cy="1920239"/>
          </a:xfrm>
          <a:prstGeom prst="rect">
            <a:avLst/>
          </a:prstGeom>
          <a:noFill/>
        </p:spPr>
        <p:txBody>
          <a:bodyPr wrap="square" anchor="t" lIns="73152" rIns="73152">
            <a:noAutofit/>
          </a:bodyPr>
          <a:lstStyle/>
          <a:p>
            <a:pPr algn="ctr">
              <a:spcAft>
                <a:spcPts val="0"/>
              </a:spcAft>
            </a:pPr>
            <a:r>
              <a:rPr sz="2800" b="1" lang="it-IT">
                <a:solidFill>
                  <a:srgbClr val="003366"/>
                </a:solidFill>
                <a:latin typeface="Arial"/>
              </a:rPr>
              <a:t>Antincendio nei boschi</a:t>
            </a:r>
          </a:p>
        </p:txBody>
      </p:sp>
      <p:sp>
        <p:nvSpPr>
          <p:cNvPr id="7" name="Foglietto">
            <a:extLst>
              <a:ext uri="{C183D7F6-B498-43B3-948B-1728B52AA6E4}">
                <adec:decorative xmlns:adec="http://schemas.microsoft.com/office/drawing/2017/decorative" val="1"/>
              </a:ext>
            </a:extLst>
          </p:cNvPr>
          <p:cNvSpPr/>
          <p:nvPr/>
        </p:nvSpPr>
        <p:spPr>
          <a:xfrm rot="90000">
            <a:off x="3474720" y="1783080"/>
            <a:ext cx="2468880" cy="4206240"/>
          </a:xfrm>
          <a:prstGeom prst="rect">
            <a:avLst/>
          </a:prstGeom>
          <a:solidFill>
            <a:srgbClr val="F8DFE5"/>
          </a:solidFill>
          <a:ln>
            <a:noFill/>
          </a:ln>
          <a:effectLst>
            <a:outerShdw blurRad="63500" dist="25400" dir="5400000" algn="t" rotWithShape="0">
              <a:srgbClr val="000000">
                <a:alpha val="22000"/>
              </a:srgbClr>
            </a:outerShdw>
          </a:effectLst>
        </p:spPr>
        <p:txBody>
          <a:bodyPr rtlCol="0" anchor="ctr"/>
          <a:lstStyle/>
          <a:p>
            <a:pPr algn="ctr"/>
          </a:p>
        </p:txBody>
      </p:sp>
      <p:pic>
        <p:nvPicPr>
          <p:cNvPr id="8" name="Pittogramma" descr="Pittogramma: acqua che scende da un tubo"/>
          <p:cNvPicPr>
            <a:picLocks noChangeAspect="1"/>
          </p:cNvPicPr>
          <p:nvPr/>
        </p:nvPicPr>
        <p:blipFill>
          <a:blip r:embed="rId4"/>
          <a:stretch>
            <a:fillRect/>
          </a:stretch>
        </p:blipFill>
        <p:spPr>
          <a:xfrm rot="90000">
            <a:off x="3749039" y="1965960"/>
            <a:ext cx="1920240" cy="1920240"/>
          </a:xfrm>
          <a:prstGeom prst="rect">
            <a:avLst/>
          </a:prstGeom>
        </p:spPr>
      </p:pic>
      <p:sp>
        <p:nvSpPr>
          <p:cNvPr id="9" name="Voce 2"/>
          <p:cNvSpPr txBox="1"/>
          <p:nvPr/>
        </p:nvSpPr>
        <p:spPr>
          <a:xfrm>
            <a:off x="3566160" y="3977639"/>
            <a:ext cx="2286000" cy="1920239"/>
          </a:xfrm>
          <a:prstGeom prst="rect">
            <a:avLst/>
          </a:prstGeom>
          <a:noFill/>
        </p:spPr>
        <p:txBody>
          <a:bodyPr wrap="square" anchor="t" lIns="73152" rIns="73152">
            <a:noAutofit/>
          </a:bodyPr>
          <a:lstStyle/>
          <a:p>
            <a:pPr algn="ctr">
              <a:spcAft>
                <a:spcPts val="0"/>
              </a:spcAft>
            </a:pPr>
            <a:r>
              <a:rPr sz="2800" b="1" lang="it-IT">
                <a:solidFill>
                  <a:srgbClr val="003366"/>
                </a:solidFill>
                <a:latin typeface="Arial"/>
              </a:rPr>
              <a:t>Acqua e tende per chi ha bisogno</a:t>
            </a:r>
          </a:p>
        </p:txBody>
      </p:sp>
      <p:sp>
        <p:nvSpPr>
          <p:cNvPr id="10" name="Foglietto">
            <a:extLst>
              <a:ext uri="{C183D7F6-B498-43B3-948B-1728B52AA6E4}">
                <adec:decorative xmlns:adec="http://schemas.microsoft.com/office/drawing/2017/decorative" val="1"/>
              </a:ext>
            </a:extLst>
          </p:cNvPr>
          <p:cNvSpPr/>
          <p:nvPr/>
        </p:nvSpPr>
        <p:spPr>
          <a:xfrm rot="21510000">
            <a:off x="6309360" y="1783080"/>
            <a:ext cx="2468880" cy="4206240"/>
          </a:xfrm>
          <a:prstGeom prst="rect">
            <a:avLst/>
          </a:prstGeom>
          <a:solidFill>
            <a:srgbClr val="EDF7F0"/>
          </a:solidFill>
          <a:ln>
            <a:noFill/>
          </a:ln>
          <a:effectLst>
            <a:outerShdw blurRad="63500" dist="25400" dir="5400000" algn="t" rotWithShape="0">
              <a:srgbClr val="000000">
                <a:alpha val="22000"/>
              </a:srgbClr>
            </a:outerShdw>
          </a:effectLst>
        </p:spPr>
        <p:txBody>
          <a:bodyPr rtlCol="0" anchor="ctr"/>
          <a:lstStyle/>
          <a:p>
            <a:pPr algn="ctr"/>
          </a:p>
        </p:txBody>
      </p:sp>
      <p:pic>
        <p:nvPicPr>
          <p:cNvPr id="11" name="Pittogramma" descr="Pittogramma: due persone parlano alla radio"/>
          <p:cNvPicPr>
            <a:picLocks noChangeAspect="1"/>
          </p:cNvPicPr>
          <p:nvPr/>
        </p:nvPicPr>
        <p:blipFill>
          <a:blip r:embed="rId5"/>
          <a:stretch>
            <a:fillRect/>
          </a:stretch>
        </p:blipFill>
        <p:spPr>
          <a:xfrm rot="21510000">
            <a:off x="6583680" y="1965960"/>
            <a:ext cx="1920240" cy="1920240"/>
          </a:xfrm>
          <a:prstGeom prst="rect">
            <a:avLst/>
          </a:prstGeom>
        </p:spPr>
      </p:pic>
      <p:sp>
        <p:nvSpPr>
          <p:cNvPr id="12" name="Voce 3"/>
          <p:cNvSpPr txBox="1"/>
          <p:nvPr/>
        </p:nvSpPr>
        <p:spPr>
          <a:xfrm>
            <a:off x="6400800" y="3977639"/>
            <a:ext cx="2286000" cy="1920239"/>
          </a:xfrm>
          <a:prstGeom prst="rect">
            <a:avLst/>
          </a:prstGeom>
          <a:noFill/>
        </p:spPr>
        <p:txBody>
          <a:bodyPr wrap="square" anchor="t" lIns="73152" rIns="73152">
            <a:noAutofit/>
          </a:bodyPr>
          <a:lstStyle/>
          <a:p>
            <a:pPr algn="ctr">
              <a:spcAft>
                <a:spcPts val="0"/>
              </a:spcAft>
            </a:pPr>
            <a:r>
              <a:rPr sz="2800" b="1" lang="it-IT">
                <a:solidFill>
                  <a:srgbClr val="003366"/>
                </a:solidFill>
                <a:latin typeface="Arial"/>
              </a:rPr>
              <a:t>Radio per comunicare</a:t>
            </a:r>
          </a:p>
        </p:txBody>
      </p:sp>
      <p:sp>
        <p:nvSpPr>
          <p:cNvPr id="13" name="Foglietto">
            <a:extLst>
              <a:ext uri="{C183D7F6-B498-43B3-948B-1728B52AA6E4}">
                <adec:decorative xmlns:adec="http://schemas.microsoft.com/office/drawing/2017/decorative" val="1"/>
              </a:ext>
            </a:extLst>
          </p:cNvPr>
          <p:cNvSpPr/>
          <p:nvPr/>
        </p:nvSpPr>
        <p:spPr>
          <a:xfrm rot="120000">
            <a:off x="9144000" y="1783080"/>
            <a:ext cx="2468880" cy="4206240"/>
          </a:xfrm>
          <a:prstGeom prst="rect">
            <a:avLst/>
          </a:prstGeom>
          <a:solidFill>
            <a:srgbClr val="DCEEFA"/>
          </a:solidFill>
          <a:ln>
            <a:noFill/>
          </a:ln>
          <a:effectLst>
            <a:outerShdw blurRad="63500" dist="25400" dir="5400000" algn="t" rotWithShape="0">
              <a:srgbClr val="000000">
                <a:alpha val="22000"/>
              </a:srgbClr>
            </a:outerShdw>
          </a:effectLst>
        </p:spPr>
        <p:txBody>
          <a:bodyPr rtlCol="0" anchor="ctr"/>
          <a:lstStyle/>
          <a:p>
            <a:pPr algn="ctr"/>
          </a:p>
        </p:txBody>
      </p:sp>
      <p:pic>
        <p:nvPicPr>
          <p:cNvPr id="14" name="Pittogramma" descr="Pittogramma: una scuola"/>
          <p:cNvPicPr>
            <a:picLocks noChangeAspect="1"/>
          </p:cNvPicPr>
          <p:nvPr/>
        </p:nvPicPr>
        <p:blipFill>
          <a:blip r:embed="rId6"/>
          <a:stretch>
            <a:fillRect/>
          </a:stretch>
        </p:blipFill>
        <p:spPr>
          <a:xfrm rot="120000">
            <a:off x="9418320" y="1965960"/>
            <a:ext cx="1920240" cy="1920240"/>
          </a:xfrm>
          <a:prstGeom prst="rect">
            <a:avLst/>
          </a:prstGeom>
        </p:spPr>
      </p:pic>
      <p:sp>
        <p:nvSpPr>
          <p:cNvPr id="15" name="Voce 4"/>
          <p:cNvSpPr txBox="1"/>
          <p:nvPr/>
        </p:nvSpPr>
        <p:spPr>
          <a:xfrm>
            <a:off x="9235440" y="3977639"/>
            <a:ext cx="2286000" cy="1920239"/>
          </a:xfrm>
          <a:prstGeom prst="rect">
            <a:avLst/>
          </a:prstGeom>
          <a:noFill/>
        </p:spPr>
        <p:txBody>
          <a:bodyPr wrap="square" anchor="t" lIns="73152" rIns="73152">
            <a:noAutofit/>
          </a:bodyPr>
          <a:lstStyle/>
          <a:p>
            <a:pPr algn="ctr">
              <a:spcAft>
                <a:spcPts val="0"/>
              </a:spcAft>
            </a:pPr>
            <a:r>
              <a:rPr sz="2800" b="1" lang="it-IT">
                <a:solidFill>
                  <a:srgbClr val="003366"/>
                </a:solidFill>
                <a:latin typeface="Arial"/>
              </a:rPr>
              <a:t>Lezioni nelle scuole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5239575"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I mezzi del Gruppo</a:t>
            </a:r>
          </a:p>
        </p:txBody>
      </p:sp>
      <p:sp>
        <p:nvSpPr>
          <p:cNvPr id="4" name="Riquadro">
            <a:extLst>
              <a:ext uri="{C183D7F6-B498-43B3-948B-1728B52AA6E4}">
                <adec:decorative xmlns:adec="http://schemas.microsoft.com/office/drawing/2017/decorative" val="1"/>
              </a:ext>
            </a:extLst>
          </p:cNvPr>
          <p:cNvSpPr/>
          <p:nvPr/>
        </p:nvSpPr>
        <p:spPr>
          <a:xfrm>
            <a:off x="4160520" y="1600200"/>
            <a:ext cx="7406640" cy="4526280"/>
          </a:xfrm>
          <a:prstGeom prst="roundRect">
            <a:avLst>
              <a:gd name="adj" fmla="val 2424"/>
            </a:avLst>
          </a:prstGeom>
          <a:noFill/>
          <a:ln w="19050">
            <a:solidFill>
              <a:srgbClr val="003366"/>
            </a:solidFill>
            <a:prstDash val="dash"/>
          </a:ln>
        </p:spPr>
        <p:txBody>
          <a:bodyPr rtlCol="0" anchor="ctr"/>
          <a:lstStyle/>
          <a:p>
            <a:pPr algn="ctr"/>
          </a:p>
        </p:txBody>
      </p:sp>
      <p:sp>
        <p:nvSpPr>
          <p:cNvPr id="5" name="Testo"/>
          <p:cNvSpPr txBox="1"/>
          <p:nvPr/>
        </p:nvSpPr>
        <p:spPr>
          <a:xfrm>
            <a:off x="4434840" y="1783080"/>
            <a:ext cx="6903720" cy="4160520"/>
          </a:xfrm>
          <a:prstGeom prst="rect">
            <a:avLst/>
          </a:prstGeom>
          <a:noFill/>
        </p:spPr>
        <p:txBody>
          <a:bodyPr wrap="square" anchor="ctr" lIns="73152" rIns="73152">
            <a:noAutofit/>
          </a:bodyPr>
          <a:lstStyle/>
          <a:p>
            <a:pPr algn="l" marL="384048" indent="-384048">
              <a:spcAft>
                <a:spcPts val="1200"/>
              </a:spcAft>
              <a:buClr>
                <a:srgbClr val="003366"/>
              </a:buClr>
              <a:buFont typeface="Arial"/>
              <a:buChar char="•"/>
            </a:pPr>
            <a:r>
              <a:rPr sz="2800" b="0" lang="it-IT">
                <a:solidFill>
                  <a:srgbClr val="212529"/>
                </a:solidFill>
                <a:latin typeface="Arial"/>
              </a:rPr>
              <a:t>Un’autobotte da </a:t>
            </a:r>
            <a:r>
              <a:rPr sz="2800" b="0" lang="it-IT">
                <a:solidFill>
                  <a:srgbClr val="212529"/>
                </a:solidFill>
                <a:highlight>
                  <a:srgbClr val="DCEEFA"/>
                </a:highlight>
                <a:latin typeface="Arial"/>
              </a:rPr>
              <a:t>14.000 litri</a:t>
            </a:r>
            <a:r>
              <a:rPr sz="2800" b="0" lang="it-IT">
                <a:solidFill>
                  <a:srgbClr val="212529"/>
                </a:solidFill>
                <a:latin typeface="Arial"/>
              </a:rPr>
              <a:t> d’acqua.</a:t>
            </a:r>
          </a:p>
          <a:p>
            <a:pPr algn="l" marL="384048" indent="-384048">
              <a:spcAft>
                <a:spcPts val="1200"/>
              </a:spcAft>
              <a:buClr>
                <a:srgbClr val="003366"/>
              </a:buClr>
              <a:buFont typeface="Arial"/>
              <a:buChar char="•"/>
            </a:pPr>
            <a:r>
              <a:rPr sz="2800" b="0" lang="it-IT">
                <a:solidFill>
                  <a:srgbClr val="212529"/>
                </a:solidFill>
                <a:latin typeface="Arial"/>
              </a:rPr>
              <a:t>Una vasca da </a:t>
            </a:r>
            <a:r>
              <a:rPr sz="2800" b="0" lang="it-IT">
                <a:solidFill>
                  <a:srgbClr val="212529"/>
                </a:solidFill>
                <a:highlight>
                  <a:srgbClr val="DCEEFA"/>
                </a:highlight>
                <a:latin typeface="Arial"/>
              </a:rPr>
              <a:t>8.000 litri</a:t>
            </a:r>
            <a:r>
              <a:rPr sz="2800" b="0" lang="it-IT">
                <a:solidFill>
                  <a:srgbClr val="212529"/>
                </a:solidFill>
                <a:latin typeface="Arial"/>
              </a:rPr>
              <a:t> per gli elicotteri antincendio.</a:t>
            </a:r>
          </a:p>
          <a:p>
            <a:pPr algn="l" marL="384048" indent="-384048">
              <a:spcAft>
                <a:spcPts val="0"/>
              </a:spcAft>
              <a:buClr>
                <a:srgbClr val="003366"/>
              </a:buClr>
              <a:buFont typeface="Arial"/>
              <a:buChar char="•"/>
            </a:pPr>
            <a:r>
              <a:rPr sz="2800" b="0" lang="it-IT">
                <a:solidFill>
                  <a:srgbClr val="212529"/>
                </a:solidFill>
                <a:latin typeface="Arial"/>
              </a:rPr>
              <a:t>Una tenda di </a:t>
            </a:r>
            <a:r>
              <a:rPr sz="2800" b="0" lang="it-IT">
                <a:solidFill>
                  <a:srgbClr val="212529"/>
                </a:solidFill>
                <a:highlight>
                  <a:srgbClr val="DCEEFA"/>
                </a:highlight>
                <a:latin typeface="Arial"/>
              </a:rPr>
              <a:t>35 metri quadrati</a:t>
            </a:r>
            <a:r>
              <a:rPr sz="2800" b="0" lang="it-IT">
                <a:solidFill>
                  <a:srgbClr val="212529"/>
                </a:solidFill>
                <a:latin typeface="Arial"/>
              </a:rPr>
              <a:t> per accogliere le persone.</a:t>
            </a:r>
          </a:p>
        </p:txBody>
      </p:sp>
      <p:sp>
        <p:nvSpPr>
          <p:cNvPr id="6" name="Cartoncino">
            <a:extLst>
              <a:ext uri="{C183D7F6-B498-43B3-948B-1728B52AA6E4}">
                <adec:decorative xmlns:adec="http://schemas.microsoft.com/office/drawing/2017/decorative" val="1"/>
              </a:ext>
            </a:extLst>
          </p:cNvPr>
          <p:cNvSpPr/>
          <p:nvPr/>
        </p:nvSpPr>
        <p:spPr>
          <a:xfrm rot="21480000">
            <a:off x="777240" y="1691640"/>
            <a:ext cx="2240280" cy="224028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7" name="Pittogramma" descr="Pittogramma: un camion antincendio"/>
          <p:cNvPicPr>
            <a:picLocks noChangeAspect="1"/>
          </p:cNvPicPr>
          <p:nvPr/>
        </p:nvPicPr>
        <p:blipFill>
          <a:blip r:embed="rId3"/>
          <a:stretch>
            <a:fillRect/>
          </a:stretch>
        </p:blipFill>
        <p:spPr>
          <a:xfrm rot="21480000">
            <a:off x="934059" y="1848459"/>
            <a:ext cx="1926640" cy="1926640"/>
          </a:xfrm>
          <a:prstGeom prst="rect">
            <a:avLst/>
          </a:prstGeom>
        </p:spPr>
      </p:pic>
      <p:sp>
        <p:nvSpPr>
          <p:cNvPr id="8" name="Cartoncino">
            <a:extLst>
              <a:ext uri="{C183D7F6-B498-43B3-948B-1728B52AA6E4}">
                <adec:decorative xmlns:adec="http://schemas.microsoft.com/office/drawing/2017/decorative" val="1"/>
              </a:ext>
            </a:extLst>
          </p:cNvPr>
          <p:cNvSpPr/>
          <p:nvPr/>
        </p:nvSpPr>
        <p:spPr>
          <a:xfrm rot="180000">
            <a:off x="1325880" y="3977639"/>
            <a:ext cx="2103120" cy="210312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9" name="Pittogramma" descr="Pittogramma: un elicottero"/>
          <p:cNvPicPr>
            <a:picLocks noChangeAspect="1"/>
          </p:cNvPicPr>
          <p:nvPr/>
        </p:nvPicPr>
        <p:blipFill>
          <a:blip r:embed="rId4"/>
          <a:stretch>
            <a:fillRect/>
          </a:stretch>
        </p:blipFill>
        <p:spPr>
          <a:xfrm rot="180000">
            <a:off x="1473098" y="4124858"/>
            <a:ext cx="1808683" cy="1808683"/>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6008966"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Che cosa NON fanno</a:t>
            </a:r>
          </a:p>
        </p:txBody>
      </p:sp>
      <p:sp>
        <p:nvSpPr>
          <p:cNvPr id="4" name="Riquadro">
            <a:extLst>
              <a:ext uri="{C183D7F6-B498-43B3-948B-1728B52AA6E4}">
                <adec:decorative xmlns:adec="http://schemas.microsoft.com/office/drawing/2017/decorative" val="1"/>
              </a:ext>
            </a:extLst>
          </p:cNvPr>
          <p:cNvSpPr/>
          <p:nvPr/>
        </p:nvSpPr>
        <p:spPr>
          <a:xfrm>
            <a:off x="640080" y="1645920"/>
            <a:ext cx="10972800" cy="4526280"/>
          </a:xfrm>
          <a:prstGeom prst="roundRect">
            <a:avLst>
              <a:gd name="adj" fmla="val 2424"/>
            </a:avLst>
          </a:prstGeom>
          <a:solidFill>
            <a:srgbClr val="F8DFE5"/>
          </a:solidFill>
          <a:ln w="22225">
            <a:solidFill>
              <a:srgbClr val="B02A37"/>
            </a:solidFill>
            <a:prstDash val="dash"/>
          </a:ln>
        </p:spPr>
        <p:txBody>
          <a:bodyPr rtlCol="0" anchor="ctr"/>
          <a:lstStyle/>
          <a:p>
            <a:pPr algn="ctr"/>
          </a:p>
        </p:txBody>
      </p:sp>
      <p:pic>
        <p:nvPicPr>
          <p:cNvPr id="5" name="Icona"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744200" y="1783080"/>
            <a:ext cx="685800" cy="685800"/>
          </a:xfrm>
          <a:prstGeom prst="rect">
            <a:avLst/>
          </a:prstGeom>
        </p:spPr>
      </p:pic>
      <p:sp>
        <p:nvSpPr>
          <p:cNvPr id="6" name="Errori"/>
          <p:cNvSpPr txBox="1"/>
          <p:nvPr/>
        </p:nvSpPr>
        <p:spPr>
          <a:xfrm>
            <a:off x="914400" y="1783080"/>
            <a:ext cx="9784080" cy="4251960"/>
          </a:xfrm>
          <a:prstGeom prst="rect">
            <a:avLst/>
          </a:prstGeom>
          <a:noFill/>
        </p:spPr>
        <p:txBody>
          <a:bodyPr wrap="square" anchor="ctr" lIns="73152" rIns="73152">
            <a:noAutofit/>
          </a:bodyPr>
          <a:lstStyle/>
          <a:p>
            <a:pPr>
              <a:spcAft>
                <a:spcPts val="400"/>
              </a:spcAft>
            </a:pPr>
            <a:r>
              <a:rPr sz="2800" b="1" lang="it-IT">
                <a:solidFill>
                  <a:srgbClr val="B02A37"/>
                </a:solidFill>
                <a:latin typeface="Arial"/>
              </a:rPr>
              <a:t>«I volontari prendono il posto di pompieri e polizia.»</a:t>
            </a:r>
          </a:p>
          <a:p>
            <a:pPr>
              <a:spcAft>
                <a:spcPts val="1800"/>
              </a:spcAft>
            </a:pPr>
            <a:r>
              <a:rPr sz="2800" b="0" lang="it-IT">
                <a:solidFill>
                  <a:srgbClr val="212529"/>
                </a:solidFill>
                <a:latin typeface="Arial"/>
              </a:rPr>
              <a:t>Li aiutano, ma non li sostituiscono.</a:t>
            </a:r>
          </a:p>
          <a:p>
            <a:pPr>
              <a:spcAft>
                <a:spcPts val="400"/>
              </a:spcAft>
            </a:pPr>
            <a:r>
              <a:rPr sz="2800" b="1" lang="it-IT">
                <a:solidFill>
                  <a:srgbClr val="B02A37"/>
                </a:solidFill>
                <a:latin typeface="Arial"/>
              </a:rPr>
              <a:t>«I volontari partono da soli, quando vogliono.»</a:t>
            </a:r>
          </a:p>
          <a:p>
            <a:pPr>
              <a:spcAft>
                <a:spcPts val="1800"/>
              </a:spcAft>
            </a:pPr>
            <a:r>
              <a:rPr sz="2800" b="0" lang="it-IT">
                <a:solidFill>
                  <a:srgbClr val="212529"/>
                </a:solidFill>
                <a:latin typeface="Arial"/>
              </a:rPr>
              <a:t>Li attivano il Sindaco o la Sala Operativa.</a:t>
            </a:r>
          </a:p>
          <a:p>
            <a:pPr>
              <a:spcAft>
                <a:spcPts val="400"/>
              </a:spcAft>
            </a:pPr>
            <a:r>
              <a:rPr sz="2800" b="1" lang="it-IT">
                <a:solidFill>
                  <a:srgbClr val="B02A37"/>
                </a:solidFill>
                <a:latin typeface="Arial"/>
              </a:rPr>
              <a:t>«Un bravo volontario fa tutto da solo.»</a:t>
            </a:r>
          </a:p>
          <a:p>
            <a:pPr>
              <a:spcAft>
                <a:spcPts val="0"/>
              </a:spcAft>
            </a:pPr>
            <a:r>
              <a:rPr sz="2800" b="0" lang="it-IT">
                <a:solidFill>
                  <a:srgbClr val="212529"/>
                </a:solidFill>
                <a:latin typeface="Arial"/>
              </a:rPr>
              <a:t>Si lavora sempre in squadra.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5869051"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Volontari da grandi?</a:t>
            </a:r>
          </a:p>
        </p:txBody>
      </p:sp>
      <p:sp>
        <p:nvSpPr>
          <p:cNvPr id="4" name="Riquadro">
            <a:extLst>
              <a:ext uri="{C183D7F6-B498-43B3-948B-1728B52AA6E4}">
                <adec:decorative xmlns:adec="http://schemas.microsoft.com/office/drawing/2017/decorative" val="1"/>
              </a:ext>
            </a:extLst>
          </p:cNvPr>
          <p:cNvSpPr/>
          <p:nvPr/>
        </p:nvSpPr>
        <p:spPr>
          <a:xfrm>
            <a:off x="640080" y="1600200"/>
            <a:ext cx="7406640" cy="4526280"/>
          </a:xfrm>
          <a:prstGeom prst="roundRect">
            <a:avLst>
              <a:gd name="adj" fmla="val 2424"/>
            </a:avLst>
          </a:prstGeom>
          <a:noFill/>
          <a:ln w="19050">
            <a:solidFill>
              <a:srgbClr val="003366"/>
            </a:solidFill>
            <a:prstDash val="dash"/>
          </a:ln>
        </p:spPr>
        <p:txBody>
          <a:bodyPr rtlCol="0" anchor="ctr"/>
          <a:lstStyle/>
          <a:p>
            <a:pPr algn="ctr"/>
          </a:p>
        </p:txBody>
      </p:sp>
      <p:sp>
        <p:nvSpPr>
          <p:cNvPr id="5" name="Testo"/>
          <p:cNvSpPr txBox="1"/>
          <p:nvPr/>
        </p:nvSpPr>
        <p:spPr>
          <a:xfrm>
            <a:off x="914400" y="1783080"/>
            <a:ext cx="6903720" cy="4160520"/>
          </a:xfrm>
          <a:prstGeom prst="rect">
            <a:avLst/>
          </a:prstGeom>
          <a:noFill/>
        </p:spPr>
        <p:txBody>
          <a:bodyPr wrap="square" anchor="ctr" lIns="73152" rIns="73152">
            <a:noAutofit/>
          </a:bodyPr>
          <a:lstStyle/>
          <a:p>
            <a:pPr algn="l" marL="384048" indent="-384048">
              <a:spcAft>
                <a:spcPts val="1200"/>
              </a:spcAft>
              <a:buClr>
                <a:srgbClr val="003366"/>
              </a:buClr>
              <a:buFont typeface="Arial"/>
              <a:buChar char="•"/>
            </a:pPr>
            <a:r>
              <a:rPr sz="2800" b="0" lang="it-IT">
                <a:solidFill>
                  <a:srgbClr val="212529"/>
                </a:solidFill>
                <a:latin typeface="Arial"/>
              </a:rPr>
              <a:t>Si può entrare nel Gruppo a </a:t>
            </a:r>
            <a:r>
              <a:rPr sz="2800" b="0" lang="it-IT">
                <a:solidFill>
                  <a:srgbClr val="212529"/>
                </a:solidFill>
                <a:highlight>
                  <a:srgbClr val="DCEEFA"/>
                </a:highlight>
                <a:latin typeface="Arial"/>
              </a:rPr>
              <a:t>16 anni</a:t>
            </a:r>
            <a:r>
              <a:rPr sz="2800" b="0" lang="it-IT">
                <a:solidFill>
                  <a:srgbClr val="212529"/>
                </a:solidFill>
                <a:latin typeface="Arial"/>
              </a:rPr>
              <a:t>.</a:t>
            </a:r>
          </a:p>
          <a:p>
            <a:pPr algn="l" marL="384048" indent="-384048">
              <a:spcAft>
                <a:spcPts val="1200"/>
              </a:spcAft>
              <a:buClr>
                <a:srgbClr val="003366"/>
              </a:buClr>
              <a:buFont typeface="Arial"/>
              <a:buChar char="•"/>
            </a:pPr>
            <a:r>
              <a:rPr sz="2800" b="0" lang="it-IT">
                <a:solidFill>
                  <a:srgbClr val="212529"/>
                </a:solidFill>
                <a:latin typeface="Arial"/>
              </a:rPr>
              <a:t>Il corso di base è obbligatorio ed è gratis.</a:t>
            </a:r>
          </a:p>
          <a:p>
            <a:pPr algn="l" marL="384048" indent="-384048">
              <a:spcAft>
                <a:spcPts val="1200"/>
              </a:spcAft>
              <a:buClr>
                <a:srgbClr val="003366"/>
              </a:buClr>
              <a:buFont typeface="Arial"/>
              <a:buChar char="•"/>
            </a:pPr>
            <a:r>
              <a:rPr sz="2800" b="0" lang="it-IT">
                <a:solidFill>
                  <a:srgbClr val="212529"/>
                </a:solidFill>
                <a:latin typeface="Arial"/>
              </a:rPr>
              <a:t>Sul campo si va dai </a:t>
            </a:r>
            <a:r>
              <a:rPr sz="2800" b="0" lang="it-IT">
                <a:solidFill>
                  <a:srgbClr val="212529"/>
                </a:solidFill>
                <a:highlight>
                  <a:srgbClr val="DCEEFA"/>
                </a:highlight>
                <a:latin typeface="Arial"/>
              </a:rPr>
              <a:t>18 anni</a:t>
            </a:r>
            <a:r>
              <a:rPr sz="2800" b="0" lang="it-IT">
                <a:solidFill>
                  <a:srgbClr val="212529"/>
                </a:solidFill>
                <a:latin typeface="Arial"/>
              </a:rPr>
              <a:t>.</a:t>
            </a:r>
          </a:p>
          <a:p>
            <a:pPr algn="l" marL="384048" indent="-384048">
              <a:spcAft>
                <a:spcPts val="0"/>
              </a:spcAft>
              <a:buClr>
                <a:srgbClr val="003366"/>
              </a:buClr>
              <a:buFont typeface="Arial"/>
              <a:buChar char="•"/>
            </a:pPr>
            <a:r>
              <a:rPr sz="2800" b="0" lang="it-IT">
                <a:solidFill>
                  <a:srgbClr val="212529"/>
                </a:solidFill>
                <a:latin typeface="Arial"/>
              </a:rPr>
              <a:t>L’impegno è di circa 16 ore al mese.</a:t>
            </a:r>
          </a:p>
        </p:txBody>
      </p:sp>
      <p:sp>
        <p:nvSpPr>
          <p:cNvPr id="6" name="Cartoncino">
            <a:extLst>
              <a:ext uri="{C183D7F6-B498-43B3-948B-1728B52AA6E4}">
                <adec:decorative xmlns:adec="http://schemas.microsoft.com/office/drawing/2017/decorative" val="1"/>
              </a:ext>
            </a:extLst>
          </p:cNvPr>
          <p:cNvSpPr/>
          <p:nvPr/>
        </p:nvSpPr>
        <p:spPr>
          <a:xfrm rot="120000">
            <a:off x="8503920" y="2057400"/>
            <a:ext cx="2926080" cy="292608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7" name="Pittogramma" descr="Pittogramma: un calendario"/>
          <p:cNvPicPr>
            <a:picLocks noChangeAspect="1"/>
          </p:cNvPicPr>
          <p:nvPr/>
        </p:nvPicPr>
        <p:blipFill>
          <a:blip r:embed="rId3"/>
          <a:stretch>
            <a:fillRect/>
          </a:stretch>
        </p:blipFill>
        <p:spPr>
          <a:xfrm rot="120000">
            <a:off x="8708745" y="2262225"/>
            <a:ext cx="2516428" cy="251642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7508316"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Aiutarsi è un dovere di tutti</a:t>
            </a:r>
          </a:p>
        </p:txBody>
      </p:sp>
      <p:sp>
        <p:nvSpPr>
          <p:cNvPr id="4" name="Riquadro">
            <a:extLst>
              <a:ext uri="{C183D7F6-B498-43B3-948B-1728B52AA6E4}">
                <adec:decorative xmlns:adec="http://schemas.microsoft.com/office/drawing/2017/decorative" val="1"/>
              </a:ext>
            </a:extLst>
          </p:cNvPr>
          <p:cNvSpPr/>
          <p:nvPr/>
        </p:nvSpPr>
        <p:spPr>
          <a:xfrm>
            <a:off x="4160520" y="1600200"/>
            <a:ext cx="7406640" cy="4526280"/>
          </a:xfrm>
          <a:prstGeom prst="roundRect">
            <a:avLst>
              <a:gd name="adj" fmla="val 2424"/>
            </a:avLst>
          </a:prstGeom>
          <a:noFill/>
          <a:ln w="19050">
            <a:solidFill>
              <a:srgbClr val="003366"/>
            </a:solidFill>
            <a:prstDash val="dash"/>
          </a:ln>
        </p:spPr>
        <p:txBody>
          <a:bodyPr rtlCol="0" anchor="ctr"/>
          <a:lstStyle/>
          <a:p>
            <a:pPr algn="ctr"/>
          </a:p>
        </p:txBody>
      </p:sp>
      <p:sp>
        <p:nvSpPr>
          <p:cNvPr id="5" name="Testo"/>
          <p:cNvSpPr txBox="1"/>
          <p:nvPr/>
        </p:nvSpPr>
        <p:spPr>
          <a:xfrm>
            <a:off x="4434840" y="1783080"/>
            <a:ext cx="6903720" cy="4160520"/>
          </a:xfrm>
          <a:prstGeom prst="rect">
            <a:avLst/>
          </a:prstGeom>
          <a:noFill/>
        </p:spPr>
        <p:txBody>
          <a:bodyPr wrap="square" anchor="ctr" lIns="73152" rIns="73152">
            <a:noAutofit/>
          </a:bodyPr>
          <a:lstStyle/>
          <a:p>
            <a:pPr algn="l" marL="384048" indent="-384048">
              <a:spcAft>
                <a:spcPts val="1200"/>
              </a:spcAft>
              <a:buClr>
                <a:srgbClr val="003366"/>
              </a:buClr>
              <a:buFont typeface="Arial"/>
              <a:buChar char="•"/>
            </a:pPr>
            <a:r>
              <a:rPr sz="2800" b="0" lang="it-IT">
                <a:solidFill>
                  <a:srgbClr val="212529"/>
                </a:solidFill>
                <a:latin typeface="Arial"/>
              </a:rPr>
              <a:t>La Costituzione è la legge più importante d’Italia.</a:t>
            </a:r>
          </a:p>
          <a:p>
            <a:pPr algn="l" marL="384048" indent="-384048">
              <a:spcAft>
                <a:spcPts val="1200"/>
              </a:spcAft>
              <a:buClr>
                <a:srgbClr val="003366"/>
              </a:buClr>
              <a:buFont typeface="Arial"/>
              <a:buChar char="•"/>
            </a:pPr>
            <a:r>
              <a:rPr sz="2800" b="0" lang="it-IT">
                <a:solidFill>
                  <a:srgbClr val="212529"/>
                </a:solidFill>
                <a:latin typeface="Arial"/>
              </a:rPr>
              <a:t>L’articolo 2 chiede a tutti la </a:t>
            </a:r>
            <a:r>
              <a:rPr sz="2800" b="0" lang="it-IT">
                <a:solidFill>
                  <a:srgbClr val="212529"/>
                </a:solidFill>
                <a:highlight>
                  <a:srgbClr val="FFF0A8"/>
                </a:highlight>
                <a:latin typeface="Arial"/>
              </a:rPr>
              <a:t>solidarietà</a:t>
            </a:r>
            <a:r>
              <a:rPr sz="2800" b="0" lang="it-IT">
                <a:solidFill>
                  <a:srgbClr val="212529"/>
                </a:solidFill>
                <a:latin typeface="Arial"/>
              </a:rPr>
              <a:t>.</a:t>
            </a:r>
          </a:p>
          <a:p>
            <a:pPr algn="l" marL="384048" indent="-384048">
              <a:spcAft>
                <a:spcPts val="1200"/>
              </a:spcAft>
              <a:buClr>
                <a:srgbClr val="003366"/>
              </a:buClr>
              <a:buFont typeface="Arial"/>
              <a:buChar char="•"/>
            </a:pPr>
            <a:r>
              <a:rPr sz="2800" b="0" lang="it-IT">
                <a:solidFill>
                  <a:srgbClr val="212529"/>
                </a:solidFill>
                <a:latin typeface="Arial"/>
              </a:rPr>
              <a:t>Solidarietà vuol dire aiutarsi l’uno con l’altro.</a:t>
            </a:r>
          </a:p>
          <a:p>
            <a:pPr algn="l" marL="384048" indent="-384048">
              <a:spcAft>
                <a:spcPts val="0"/>
              </a:spcAft>
              <a:buClr>
                <a:srgbClr val="003366"/>
              </a:buClr>
              <a:buFont typeface="Arial"/>
              <a:buChar char="•"/>
            </a:pPr>
            <a:r>
              <a:rPr sz="2800" b="0" lang="it-IT">
                <a:solidFill>
                  <a:srgbClr val="212529"/>
                </a:solidFill>
                <a:latin typeface="Arial"/>
              </a:rPr>
              <a:t>I volontari la mettono in pratica.</a:t>
            </a:r>
          </a:p>
        </p:txBody>
      </p:sp>
      <p:sp>
        <p:nvSpPr>
          <p:cNvPr id="6" name="Cartoncino">
            <a:extLst>
              <a:ext uri="{C183D7F6-B498-43B3-948B-1728B52AA6E4}">
                <adec:decorative xmlns:adec="http://schemas.microsoft.com/office/drawing/2017/decorative" val="1"/>
              </a:ext>
            </a:extLst>
          </p:cNvPr>
          <p:cNvSpPr/>
          <p:nvPr/>
        </p:nvSpPr>
        <p:spPr>
          <a:xfrm rot="21480000">
            <a:off x="777240" y="2057400"/>
            <a:ext cx="2926080" cy="292608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7" name="Pittogramma" descr="Pittogramma: un gruppo di persone"/>
          <p:cNvPicPr>
            <a:picLocks noChangeAspect="1"/>
          </p:cNvPicPr>
          <p:nvPr/>
        </p:nvPicPr>
        <p:blipFill>
          <a:blip r:embed="rId3"/>
          <a:stretch>
            <a:fillRect/>
          </a:stretch>
        </p:blipFill>
        <p:spPr>
          <a:xfrm rot="21480000">
            <a:off x="982065" y="2262225"/>
            <a:ext cx="2516428" cy="251642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6286754"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Intervista al volontario</a:t>
            </a:r>
          </a:p>
        </p:txBody>
      </p:sp>
      <p:sp>
        <p:nvSpPr>
          <p:cNvPr id="4" name="Riquadro">
            <a:extLst>
              <a:ext uri="{C183D7F6-B498-43B3-948B-1728B52AA6E4}">
                <adec:decorative xmlns:adec="http://schemas.microsoft.com/office/drawing/2017/decorative" val="1"/>
              </a:ext>
            </a:extLst>
          </p:cNvPr>
          <p:cNvSpPr/>
          <p:nvPr/>
        </p:nvSpPr>
        <p:spPr>
          <a:xfrm>
            <a:off x="640080" y="1938528"/>
            <a:ext cx="7635240" cy="3154680"/>
          </a:xfrm>
          <a:prstGeom prst="roundRect">
            <a:avLst>
              <a:gd name="adj" fmla="val 3478"/>
            </a:avLst>
          </a:prstGeom>
          <a:noFill/>
          <a:ln w="19050">
            <a:solidFill>
              <a:srgbClr val="003366"/>
            </a:solidFill>
            <a:prstDash val="dash"/>
          </a:ln>
        </p:spPr>
        <p:txBody>
          <a:bodyPr rtlCol="0" anchor="ctr"/>
          <a:lstStyle/>
          <a:p>
            <a:pPr algn="ctr"/>
          </a:p>
        </p:txBody>
      </p:sp>
      <p:sp>
        <p:nvSpPr>
          <p:cNvPr id="5" name="Linguetta"/>
          <p:cNvSpPr/>
          <p:nvPr/>
        </p:nvSpPr>
        <p:spPr>
          <a:xfrm>
            <a:off x="868680" y="1481328"/>
            <a:ext cx="2654625" cy="590550"/>
          </a:xfrm>
          <a:prstGeom prst="round2SameRect">
            <a:avLst>
              <a:gd name="adj1" fmla="val 28000"/>
              <a:gd name="adj2" fmla="val 0"/>
            </a:avLst>
          </a:prstGeom>
          <a:solidFill>
            <a:srgbClr val="DCEEFA"/>
          </a:solidFill>
          <a:ln w="15875">
            <a:solidFill>
              <a:srgbClr val="003366"/>
            </a:solidFill>
          </a:ln>
        </p:spPr>
        <p:txBody>
          <a:bodyPr rtlCol="0" anchor="ctr" wrap="none" lIns="182880" rIns="182880" tIns="0" bIns="0">
            <a:noAutofit/>
          </a:bodyPr>
          <a:lstStyle/>
          <a:p>
            <a:pPr algn="l"/>
            <a:r>
              <a:rPr sz="3000" b="0" lang="it-IT">
                <a:solidFill>
                  <a:srgbClr val="003366"/>
                </a:solidFill>
                <a:latin typeface="Edu NSW ACT Cursive"/>
              </a:rPr>
              <a:t>Come si fa</a:t>
            </a:r>
          </a:p>
        </p:txBody>
      </p:sp>
      <p:sp>
        <p:nvSpPr>
          <p:cNvPr id="6" name="Numero"/>
          <p:cNvSpPr/>
          <p:nvPr/>
        </p:nvSpPr>
        <p:spPr>
          <a:xfrm>
            <a:off x="868680" y="2284475"/>
            <a:ext cx="603504" cy="603504"/>
          </a:xfrm>
          <a:prstGeom prst="ellipse">
            <a:avLst/>
          </a:prstGeom>
          <a:solidFill>
            <a:srgbClr val="FFFFFF"/>
          </a:solidFill>
          <a:ln w="25400">
            <a:solidFill>
              <a:srgbClr val="003366"/>
            </a:solidFill>
          </a:ln>
        </p:spPr>
        <p:txBody>
          <a:bodyPr rtlCol="0" anchor="ctr" wrap="square" lIns="0" rIns="0" tIns="0" bIns="0">
            <a:noAutofit/>
          </a:bodyPr>
          <a:lstStyle/>
          <a:p>
            <a:pPr algn="ctr"/>
            <a:r>
              <a:rPr sz="3000" b="0" lang="it-IT">
                <a:solidFill>
                  <a:srgbClr val="003366"/>
                </a:solidFill>
                <a:latin typeface="Edu NSW ACT Cursive"/>
              </a:rPr>
              <a:t>1</a:t>
            </a:r>
          </a:p>
        </p:txBody>
      </p:sp>
      <p:sp>
        <p:nvSpPr>
          <p:cNvPr id="7" name="Passo 1"/>
          <p:cNvSpPr txBox="1"/>
          <p:nvPr/>
        </p:nvSpPr>
        <p:spPr>
          <a:xfrm>
            <a:off x="1645920" y="2121408"/>
            <a:ext cx="6492240" cy="929640"/>
          </a:xfrm>
          <a:prstGeom prst="rect">
            <a:avLst/>
          </a:prstGeom>
          <a:noFill/>
        </p:spPr>
        <p:txBody>
          <a:bodyPr wrap="square" anchor="ctr" lIns="73152" rIns="73152">
            <a:noAutofit/>
          </a:bodyPr>
          <a:lstStyle/>
          <a:p>
            <a:pPr algn="l">
              <a:spcAft>
                <a:spcPts val="0"/>
              </a:spcAft>
            </a:pPr>
            <a:r>
              <a:rPr sz="2600" b="0" lang="it-IT">
                <a:solidFill>
                  <a:srgbClr val="212529"/>
                </a:solidFill>
                <a:latin typeface="Arial"/>
              </a:rPr>
              <a:t>In gruppo scegliete le domande: 5 sono già pronte.</a:t>
            </a:r>
          </a:p>
        </p:txBody>
      </p:sp>
      <p:sp>
        <p:nvSpPr>
          <p:cNvPr id="8" name="Numero"/>
          <p:cNvSpPr/>
          <p:nvPr/>
        </p:nvSpPr>
        <p:spPr>
          <a:xfrm>
            <a:off x="868680" y="3214115"/>
            <a:ext cx="603504" cy="603504"/>
          </a:xfrm>
          <a:prstGeom prst="ellipse">
            <a:avLst/>
          </a:prstGeom>
          <a:solidFill>
            <a:srgbClr val="FFFFFF"/>
          </a:solidFill>
          <a:ln w="25400">
            <a:solidFill>
              <a:srgbClr val="003366"/>
            </a:solidFill>
          </a:ln>
        </p:spPr>
        <p:txBody>
          <a:bodyPr rtlCol="0" anchor="ctr" wrap="square" lIns="0" rIns="0" tIns="0" bIns="0">
            <a:noAutofit/>
          </a:bodyPr>
          <a:lstStyle/>
          <a:p>
            <a:pPr algn="ctr"/>
            <a:r>
              <a:rPr sz="3000" b="0" lang="it-IT">
                <a:solidFill>
                  <a:srgbClr val="003366"/>
                </a:solidFill>
                <a:latin typeface="Edu NSW ACT Cursive"/>
              </a:rPr>
              <a:t>2</a:t>
            </a:r>
          </a:p>
        </p:txBody>
      </p:sp>
      <p:sp>
        <p:nvSpPr>
          <p:cNvPr id="9" name="Passo 2"/>
          <p:cNvSpPr txBox="1"/>
          <p:nvPr/>
        </p:nvSpPr>
        <p:spPr>
          <a:xfrm>
            <a:off x="1645920" y="3051048"/>
            <a:ext cx="6492240" cy="929640"/>
          </a:xfrm>
          <a:prstGeom prst="rect">
            <a:avLst/>
          </a:prstGeom>
          <a:noFill/>
        </p:spPr>
        <p:txBody>
          <a:bodyPr wrap="square" anchor="ctr" lIns="73152" rIns="73152">
            <a:noAutofit/>
          </a:bodyPr>
          <a:lstStyle/>
          <a:p>
            <a:pPr algn="l">
              <a:spcAft>
                <a:spcPts val="0"/>
              </a:spcAft>
            </a:pPr>
            <a:r>
              <a:rPr sz="2600" b="0" lang="it-IT">
                <a:solidFill>
                  <a:srgbClr val="212529"/>
                </a:solidFill>
                <a:latin typeface="Arial"/>
              </a:rPr>
              <a:t>Aggiungete le vostre e intervistate il volontario.</a:t>
            </a:r>
          </a:p>
        </p:txBody>
      </p:sp>
      <p:sp>
        <p:nvSpPr>
          <p:cNvPr id="10" name="Numero"/>
          <p:cNvSpPr/>
          <p:nvPr/>
        </p:nvSpPr>
        <p:spPr>
          <a:xfrm>
            <a:off x="868680" y="4143756"/>
            <a:ext cx="603504" cy="603504"/>
          </a:xfrm>
          <a:prstGeom prst="ellipse">
            <a:avLst/>
          </a:prstGeom>
          <a:solidFill>
            <a:srgbClr val="FFFFFF"/>
          </a:solidFill>
          <a:ln w="25400">
            <a:solidFill>
              <a:srgbClr val="003366"/>
            </a:solidFill>
          </a:ln>
        </p:spPr>
        <p:txBody>
          <a:bodyPr rtlCol="0" anchor="ctr" wrap="square" lIns="0" rIns="0" tIns="0" bIns="0">
            <a:noAutofit/>
          </a:bodyPr>
          <a:lstStyle/>
          <a:p>
            <a:pPr algn="ctr"/>
            <a:r>
              <a:rPr sz="3000" b="0" lang="it-IT">
                <a:solidFill>
                  <a:srgbClr val="003366"/>
                </a:solidFill>
                <a:latin typeface="Edu NSW ACT Cursive"/>
              </a:rPr>
              <a:t>3</a:t>
            </a:r>
          </a:p>
        </p:txBody>
      </p:sp>
      <p:sp>
        <p:nvSpPr>
          <p:cNvPr id="11" name="Passo 3"/>
          <p:cNvSpPr txBox="1"/>
          <p:nvPr/>
        </p:nvSpPr>
        <p:spPr>
          <a:xfrm>
            <a:off x="1645920" y="3980688"/>
            <a:ext cx="6492240" cy="929640"/>
          </a:xfrm>
          <a:prstGeom prst="rect">
            <a:avLst/>
          </a:prstGeom>
          <a:noFill/>
        </p:spPr>
        <p:txBody>
          <a:bodyPr wrap="square" anchor="ctr" lIns="73152" rIns="73152">
            <a:noAutofit/>
          </a:bodyPr>
          <a:lstStyle/>
          <a:p>
            <a:pPr algn="l">
              <a:spcAft>
                <a:spcPts val="0"/>
              </a:spcAft>
            </a:pPr>
            <a:r>
              <a:rPr sz="2600" b="0" lang="it-IT">
                <a:solidFill>
                  <a:srgbClr val="212529"/>
                </a:solidFill>
                <a:latin typeface="Arial"/>
              </a:rPr>
              <a:t>Prendete appunti: poi scriverete un articolo.</a:t>
            </a:r>
          </a:p>
        </p:txBody>
      </p:sp>
      <p:sp>
        <p:nvSpPr>
          <p:cNvPr id="12" name="Materiale"/>
          <p:cNvSpPr txBox="1"/>
          <p:nvPr/>
        </p:nvSpPr>
        <p:spPr>
          <a:xfrm>
            <a:off x="640080" y="5212080"/>
            <a:ext cx="7772400" cy="1371600"/>
          </a:xfrm>
          <a:prstGeom prst="rect">
            <a:avLst/>
          </a:prstGeom>
          <a:noFill/>
        </p:spPr>
        <p:txBody>
          <a:bodyPr wrap="square" anchor="t" lIns="73152" rIns="73152">
            <a:noAutofit/>
          </a:bodyPr>
          <a:lstStyle/>
          <a:p>
            <a:pPr>
              <a:spcAft>
                <a:spcPts val="600"/>
              </a:spcAft>
            </a:pPr>
            <a:r>
              <a:rPr sz="2400" b="1" lang="it-IT">
                <a:solidFill>
                  <a:srgbClr val="212529"/>
                </a:solidFill>
                <a:latin typeface="Arial"/>
              </a:rPr>
              <a:t>Scheda: </a:t>
            </a:r>
            <a:r>
              <a:rPr sz="2400" b="0" lang="it-IT" u="sng">
                <a:solidFill>
                  <a:srgbClr val="003366"/>
                </a:solidFill>
                <a:latin typeface="Arial"/>
                <a:hlinkClick r:id="rId3"/>
              </a:rPr>
              <a:t>Scheda «Intervista al volontario»</a:t>
            </a:r>
          </a:p>
          <a:p>
            <a:r>
              <a:rPr sz="2400" b="0" lang="it-IT">
                <a:solidFill>
                  <a:srgbClr val="212529"/>
                </a:solidFill>
                <a:latin typeface="Arial"/>
              </a:rPr>
              <a:t>Una scheda per gruppo. Per le classi 4ª e 5ª anche «La Costituzione e la Protezione Civile».</a:t>
            </a:r>
          </a:p>
        </p:txBody>
      </p:sp>
      <p:sp>
        <p:nvSpPr>
          <p:cNvPr id="13" name="Durata"/>
          <p:cNvSpPr/>
          <p:nvPr/>
        </p:nvSpPr>
        <p:spPr>
          <a:xfrm rot="180000">
            <a:off x="8686800" y="1691640"/>
            <a:ext cx="2788920" cy="1097280"/>
          </a:xfrm>
          <a:prstGeom prst="rect">
            <a:avLst/>
          </a:prstGeom>
          <a:solidFill>
            <a:srgbClr val="FFF0A8"/>
          </a:solidFill>
          <a:ln>
            <a:noFill/>
          </a:ln>
          <a:effectLst>
            <a:outerShdw blurRad="63500" dist="25400" dir="5400000" algn="t" rotWithShape="0">
              <a:srgbClr val="000000">
                <a:alpha val="22000"/>
              </a:srgbClr>
            </a:outerShdw>
          </a:effectLst>
        </p:spPr>
        <p:txBody>
          <a:bodyPr rtlCol="0" anchor="ctr" wrap="none" lIns="109728" rIns="109728" tIns="36576" bIns="36576">
            <a:noAutofit/>
          </a:bodyPr>
          <a:lstStyle/>
          <a:p>
            <a:pPr algn="ctr"/>
            <a:r>
              <a:rPr sz="4000" b="0" lang="it-IT">
                <a:solidFill>
                  <a:srgbClr val="003366"/>
                </a:solidFill>
                <a:latin typeface="Edu NSW ACT Cursive"/>
              </a:rPr>
              <a:t>18 minuti</a:t>
            </a:r>
          </a:p>
        </p:txBody>
      </p:sp>
      <p:sp>
        <p:nvSpPr>
          <p:cNvPr id="14" name="Cartoncino">
            <a:extLst>
              <a:ext uri="{C183D7F6-B498-43B3-948B-1728B52AA6E4}">
                <adec:decorative xmlns:adec="http://schemas.microsoft.com/office/drawing/2017/decorative" val="1"/>
              </a:ext>
            </a:extLst>
          </p:cNvPr>
          <p:cNvSpPr/>
          <p:nvPr/>
        </p:nvSpPr>
        <p:spPr>
          <a:xfrm rot="21480000">
            <a:off x="8961120" y="3246120"/>
            <a:ext cx="2468880" cy="246888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15" name="Pittogramma" descr="Pittogramma: una persona ascolta"/>
          <p:cNvPicPr>
            <a:picLocks noChangeAspect="1"/>
          </p:cNvPicPr>
          <p:nvPr/>
        </p:nvPicPr>
        <p:blipFill>
          <a:blip r:embed="rId4"/>
          <a:stretch>
            <a:fillRect/>
          </a:stretch>
        </p:blipFill>
        <p:spPr>
          <a:xfrm rot="21480000">
            <a:off x="9133941" y="3418941"/>
            <a:ext cx="2123236" cy="212323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3326904"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Ricordiamo</a:t>
            </a:r>
          </a:p>
        </p:txBody>
      </p:sp>
      <p:sp>
        <p:nvSpPr>
          <p:cNvPr id="4" name="Riquadro">
            <a:extLst>
              <a:ext uri="{C183D7F6-B498-43B3-948B-1728B52AA6E4}">
                <adec:decorative xmlns:adec="http://schemas.microsoft.com/office/drawing/2017/decorative" val="1"/>
              </a:ext>
            </a:extLst>
          </p:cNvPr>
          <p:cNvSpPr/>
          <p:nvPr/>
        </p:nvSpPr>
        <p:spPr>
          <a:xfrm>
            <a:off x="640080" y="1600200"/>
            <a:ext cx="10972800" cy="4572000"/>
          </a:xfrm>
          <a:prstGeom prst="roundRect">
            <a:avLst>
              <a:gd name="adj" fmla="val 2400"/>
            </a:avLst>
          </a:prstGeom>
          <a:solidFill>
            <a:srgbClr val="EDF7F0"/>
          </a:solidFill>
          <a:ln w="22225">
            <a:solidFill>
              <a:srgbClr val="146C43"/>
            </a:solidFill>
            <a:prstDash val="dash"/>
          </a:ln>
        </p:spPr>
        <p:txBody>
          <a:bodyPr rtlCol="0" anchor="ctr"/>
          <a:lstStyle/>
          <a:p>
            <a:pPr algn="ctr"/>
          </a:p>
        </p:txBody>
      </p:sp>
      <p:sp>
        <p:nvSpPr>
          <p:cNvPr id="5" name="Cartoncino">
            <a:extLst>
              <a:ext uri="{C183D7F6-B498-43B3-948B-1728B52AA6E4}">
                <adec:decorative xmlns:adec="http://schemas.microsoft.com/office/drawing/2017/decorative" val="1"/>
              </a:ext>
            </a:extLst>
          </p:cNvPr>
          <p:cNvSpPr/>
          <p:nvPr/>
        </p:nvSpPr>
        <p:spPr>
          <a:xfrm rot="21480000">
            <a:off x="960119" y="1889759"/>
            <a:ext cx="1188720" cy="118872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6" name="Pittogramma" descr="Pittogramma: una persona aiuta un’altra a rialzarsi"/>
          <p:cNvPicPr>
            <a:picLocks noChangeAspect="1"/>
          </p:cNvPicPr>
          <p:nvPr/>
        </p:nvPicPr>
        <p:blipFill>
          <a:blip r:embed="rId3"/>
          <a:stretch>
            <a:fillRect/>
          </a:stretch>
        </p:blipFill>
        <p:spPr>
          <a:xfrm rot="21480000">
            <a:off x="1043330" y="1972970"/>
            <a:ext cx="1022299" cy="1022299"/>
          </a:xfrm>
          <a:prstGeom prst="rect">
            <a:avLst/>
          </a:prstGeom>
        </p:spPr>
      </p:pic>
      <p:sp>
        <p:nvSpPr>
          <p:cNvPr id="7" name="Ricordiamo 1"/>
          <p:cNvSpPr txBox="1"/>
          <p:nvPr/>
        </p:nvSpPr>
        <p:spPr>
          <a:xfrm>
            <a:off x="2468880" y="1783080"/>
            <a:ext cx="8869680" cy="1402080"/>
          </a:xfrm>
          <a:prstGeom prst="rect">
            <a:avLst/>
          </a:prstGeom>
          <a:noFill/>
        </p:spPr>
        <p:txBody>
          <a:bodyPr wrap="square" anchor="ctr" lIns="73152" rIns="73152">
            <a:noAutofit/>
          </a:bodyPr>
          <a:lstStyle/>
          <a:p>
            <a:pPr algn="l">
              <a:spcAft>
                <a:spcPts val="0"/>
              </a:spcAft>
            </a:pPr>
            <a:r>
              <a:rPr sz="3000" b="1" lang="it-IT">
                <a:solidFill>
                  <a:srgbClr val="212529"/>
                </a:solidFill>
                <a:latin typeface="Arial"/>
              </a:rPr>
              <a:t>I volontari scelgono di aiutare, senza essere pagati.</a:t>
            </a:r>
          </a:p>
        </p:txBody>
      </p:sp>
      <p:sp>
        <p:nvSpPr>
          <p:cNvPr id="8" name="Cartoncino">
            <a:extLst>
              <a:ext uri="{C183D7F6-B498-43B3-948B-1728B52AA6E4}">
                <adec:decorative xmlns:adec="http://schemas.microsoft.com/office/drawing/2017/decorative" val="1"/>
              </a:ext>
            </a:extLst>
          </p:cNvPr>
          <p:cNvSpPr/>
          <p:nvPr/>
        </p:nvSpPr>
        <p:spPr>
          <a:xfrm rot="120000">
            <a:off x="960119" y="3291840"/>
            <a:ext cx="1188720" cy="118872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9" name="Pittogramma" descr="Pittogramma: un gruppo di persone"/>
          <p:cNvPicPr>
            <a:picLocks noChangeAspect="1"/>
          </p:cNvPicPr>
          <p:nvPr/>
        </p:nvPicPr>
        <p:blipFill>
          <a:blip r:embed="rId4"/>
          <a:stretch>
            <a:fillRect/>
          </a:stretch>
        </p:blipFill>
        <p:spPr>
          <a:xfrm rot="120000">
            <a:off x="1043330" y="3375050"/>
            <a:ext cx="1022299" cy="1022299"/>
          </a:xfrm>
          <a:prstGeom prst="rect">
            <a:avLst/>
          </a:prstGeom>
        </p:spPr>
      </p:pic>
      <p:sp>
        <p:nvSpPr>
          <p:cNvPr id="10" name="Ricordiamo 2"/>
          <p:cNvSpPr txBox="1"/>
          <p:nvPr/>
        </p:nvSpPr>
        <p:spPr>
          <a:xfrm>
            <a:off x="2468880" y="3185160"/>
            <a:ext cx="8869680" cy="1402080"/>
          </a:xfrm>
          <a:prstGeom prst="rect">
            <a:avLst/>
          </a:prstGeom>
          <a:noFill/>
        </p:spPr>
        <p:txBody>
          <a:bodyPr wrap="square" anchor="ctr" lIns="73152" rIns="73152">
            <a:noAutofit/>
          </a:bodyPr>
          <a:lstStyle/>
          <a:p>
            <a:pPr algn="l">
              <a:spcAft>
                <a:spcPts val="0"/>
              </a:spcAft>
            </a:pPr>
            <a:r>
              <a:rPr sz="3000" b="1" lang="it-IT">
                <a:solidFill>
                  <a:srgbClr val="212529"/>
                </a:solidFill>
                <a:latin typeface="Arial"/>
              </a:rPr>
              <a:t>Lavorano in squadra, quando li attivano le autorità.</a:t>
            </a:r>
          </a:p>
        </p:txBody>
      </p:sp>
      <p:sp>
        <p:nvSpPr>
          <p:cNvPr id="11" name="Cartoncino">
            <a:extLst>
              <a:ext uri="{C183D7F6-B498-43B3-948B-1728B52AA6E4}">
                <adec:decorative xmlns:adec="http://schemas.microsoft.com/office/drawing/2017/decorative" val="1"/>
              </a:ext>
            </a:extLst>
          </p:cNvPr>
          <p:cNvSpPr/>
          <p:nvPr/>
        </p:nvSpPr>
        <p:spPr>
          <a:xfrm rot="21540000">
            <a:off x="960119" y="4693920"/>
            <a:ext cx="1188720" cy="1188720"/>
          </a:xfrm>
          <a:prstGeom prst="rect">
            <a:avLst/>
          </a:prstGeom>
          <a:solidFill>
            <a:srgbClr val="FFFFFF"/>
          </a:solidFill>
          <a:ln w="9525">
            <a:solidFill>
              <a:srgbClr val="ADB5BD"/>
            </a:solidFill>
          </a:ln>
          <a:effectLst>
            <a:outerShdw blurRad="63500" dist="25400" dir="5400000" algn="t" rotWithShape="0">
              <a:srgbClr val="000000">
                <a:alpha val="22000"/>
              </a:srgbClr>
            </a:outerShdw>
          </a:effectLst>
        </p:spPr>
        <p:txBody>
          <a:bodyPr rtlCol="0" anchor="ctr"/>
          <a:lstStyle/>
          <a:p>
            <a:pPr algn="ctr"/>
          </a:p>
        </p:txBody>
      </p:sp>
      <p:pic>
        <p:nvPicPr>
          <p:cNvPr id="12" name="Pittogramma" descr="Pittogramma: una mano aiuta un’altra mano"/>
          <p:cNvPicPr>
            <a:picLocks noChangeAspect="1"/>
          </p:cNvPicPr>
          <p:nvPr/>
        </p:nvPicPr>
        <p:blipFill>
          <a:blip r:embed="rId5"/>
          <a:stretch>
            <a:fillRect/>
          </a:stretch>
        </p:blipFill>
        <p:spPr>
          <a:xfrm rot="21540000">
            <a:off x="1043330" y="4777130"/>
            <a:ext cx="1022299" cy="1022299"/>
          </a:xfrm>
          <a:prstGeom prst="rect">
            <a:avLst/>
          </a:prstGeom>
        </p:spPr>
      </p:pic>
      <p:sp>
        <p:nvSpPr>
          <p:cNvPr id="13" name="Ricordiamo 3"/>
          <p:cNvSpPr txBox="1"/>
          <p:nvPr/>
        </p:nvSpPr>
        <p:spPr>
          <a:xfrm>
            <a:off x="2468880" y="4587240"/>
            <a:ext cx="8869680" cy="1402080"/>
          </a:xfrm>
          <a:prstGeom prst="rect">
            <a:avLst/>
          </a:prstGeom>
          <a:noFill/>
        </p:spPr>
        <p:txBody>
          <a:bodyPr wrap="square" anchor="ctr" lIns="73152" rIns="73152">
            <a:noAutofit/>
          </a:bodyPr>
          <a:lstStyle/>
          <a:p>
            <a:pPr algn="l">
              <a:spcAft>
                <a:spcPts val="0"/>
              </a:spcAft>
            </a:pPr>
            <a:r>
              <a:rPr sz="3000" b="1" lang="it-IT">
                <a:solidFill>
                  <a:srgbClr val="212529"/>
                </a:solidFill>
                <a:latin typeface="Arial"/>
              </a:rPr>
              <a:t>Aiutarsi è un dovere di tutti: si chiama solidarietà.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48080"/>
            <a:ext cx="5014074" cy="201168"/>
          </a:xfrm>
          <a:prstGeom prst="rect">
            <a:avLst/>
          </a:prstGeom>
        </p:spPr>
      </p:pic>
      <p:sp>
        <p:nvSpPr>
          <p:cNvPr id="2" name="Title 1"/>
          <p:cNvSpPr>
            <a:spLocks noGrp="1"/>
          </p:cNvSpPr>
          <p:nvPr>
            <p:ph type="title"/>
          </p:nvPr>
        </p:nvSpPr>
        <p:spPr>
          <a:xfrm>
            <a:off x="640080" y="228600"/>
            <a:ext cx="10972800" cy="1230630"/>
          </a:xfrm>
        </p:spPr>
        <p:txBody>
          <a:bodyPr wrap="square" anchor="b">
            <a:noAutofit/>
          </a:bodyPr>
          <a:lstStyle/>
          <a:p>
            <a:pPr algn="l"/>
            <a:r>
              <a:rPr sz="4600" b="0" lang="it-IT">
                <a:solidFill>
                  <a:srgbClr val="003366"/>
                </a:solidFill>
                <a:latin typeface="Edu NSW ACT Cursive"/>
              </a:rPr>
              <a:t>Per saperne di più</a:t>
            </a:r>
          </a:p>
        </p:txBody>
      </p:sp>
      <p:sp>
        <p:nvSpPr>
          <p:cNvPr id="4" name="Riquadro">
            <a:extLst>
              <a:ext uri="{C183D7F6-B498-43B3-948B-1728B52AA6E4}">
                <adec:decorative xmlns:adec="http://schemas.microsoft.com/office/drawing/2017/decorative" val="1"/>
              </a:ext>
            </a:extLst>
          </p:cNvPr>
          <p:cNvSpPr/>
          <p:nvPr/>
        </p:nvSpPr>
        <p:spPr>
          <a:xfrm>
            <a:off x="640080" y="1965960"/>
            <a:ext cx="10972800" cy="4526280"/>
          </a:xfrm>
          <a:prstGeom prst="roundRect">
            <a:avLst>
              <a:gd name="adj" fmla="val 2424"/>
            </a:avLst>
          </a:prstGeom>
          <a:noFill/>
          <a:ln w="19050">
            <a:solidFill>
              <a:srgbClr val="003366"/>
            </a:solidFill>
            <a:prstDash val="dash"/>
          </a:ln>
        </p:spPr>
        <p:txBody>
          <a:bodyPr rtlCol="0" anchor="ctr"/>
          <a:lstStyle/>
          <a:p>
            <a:pPr algn="ctr"/>
          </a:p>
        </p:txBody>
      </p:sp>
      <p:sp>
        <p:nvSpPr>
          <p:cNvPr id="5" name="Linguetta"/>
          <p:cNvSpPr/>
          <p:nvPr/>
        </p:nvSpPr>
        <p:spPr>
          <a:xfrm>
            <a:off x="868680" y="1508760"/>
            <a:ext cx="4014155" cy="590550"/>
          </a:xfrm>
          <a:prstGeom prst="round2SameRect">
            <a:avLst>
              <a:gd name="adj1" fmla="val 28000"/>
              <a:gd name="adj2" fmla="val 0"/>
            </a:avLst>
          </a:prstGeom>
          <a:solidFill>
            <a:srgbClr val="DCEEFA"/>
          </a:solidFill>
          <a:ln w="15875">
            <a:solidFill>
              <a:srgbClr val="003366"/>
            </a:solidFill>
          </a:ln>
        </p:spPr>
        <p:txBody>
          <a:bodyPr rtlCol="0" anchor="ctr" wrap="none" lIns="182880" rIns="182880" tIns="0" bIns="0">
            <a:noAutofit/>
          </a:bodyPr>
          <a:lstStyle/>
          <a:p>
            <a:pPr algn="l"/>
            <a:r>
              <a:rPr sz="3000" b="0" lang="it-IT">
                <a:solidFill>
                  <a:srgbClr val="003366"/>
                </a:solidFill>
                <a:latin typeface="Edu NSW ACT Cursive"/>
              </a:rPr>
              <a:t>Le pagine del sito</a:t>
            </a:r>
          </a:p>
        </p:txBody>
      </p:sp>
      <p:sp>
        <p:nvSpPr>
          <p:cNvPr id="6" name="Fonti"/>
          <p:cNvSpPr txBox="1"/>
          <p:nvPr/>
        </p:nvSpPr>
        <p:spPr>
          <a:xfrm>
            <a:off x="914400" y="2148840"/>
            <a:ext cx="10424160" cy="4206240"/>
          </a:xfrm>
          <a:prstGeom prst="rect">
            <a:avLst/>
          </a:prstGeom>
          <a:noFill/>
        </p:spPr>
        <p:txBody>
          <a:bodyPr wrap="square" anchor="t" lIns="73152" rIns="73152">
            <a:noAutofit/>
          </a:bodyPr>
          <a:lstStyle/>
          <a:p>
            <a:pPr marL="384048" indent="-384048">
              <a:spcAft>
                <a:spcPts val="400"/>
              </a:spcAft>
              <a:buClr>
                <a:srgbClr val="003366"/>
              </a:buClr>
              <a:buFont typeface="Arial"/>
              <a:buChar char="•"/>
            </a:pPr>
            <a:r>
              <a:rPr sz="2400" b="0" lang="it-IT" u="sng">
                <a:solidFill>
                  <a:srgbClr val="003366"/>
                </a:solidFill>
                <a:latin typeface="Arial"/>
                <a:hlinkClick r:id="rId3"/>
              </a:rPr>
              <a:t>Chi siamo</a:t>
            </a:r>
          </a:p>
          <a:p>
            <a:pPr marL="384048" indent="-384048">
              <a:spcAft>
                <a:spcPts val="400"/>
              </a:spcAft>
              <a:buClr>
                <a:srgbClr val="003366"/>
              </a:buClr>
              <a:buFont typeface="Arial"/>
              <a:buChar char="•"/>
            </a:pPr>
            <a:r>
              <a:rPr sz="2400" b="0" lang="it-IT" u="sng">
                <a:solidFill>
                  <a:srgbClr val="003366"/>
                </a:solidFill>
                <a:latin typeface="Arial"/>
                <a:hlinkClick r:id="rId4"/>
              </a:rPr>
              <a:t>Diventa volontario</a:t>
            </a:r>
          </a:p>
          <a:p>
            <a:pPr marL="384048" indent="-384048">
              <a:spcAft>
                <a:spcPts val="400"/>
              </a:spcAft>
              <a:buClr>
                <a:srgbClr val="003366"/>
              </a:buClr>
              <a:buFont typeface="Arial"/>
              <a:buChar char="•"/>
            </a:pPr>
            <a:r>
              <a:rPr sz="2400" b="0" lang="it-IT" u="sng">
                <a:solidFill>
                  <a:srgbClr val="003366"/>
                </a:solidFill>
                <a:latin typeface="Arial"/>
                <a:hlinkClick r:id="rId5"/>
              </a:rPr>
              <a:t>Manuale: il Codice, Capo V (volontariato)</a:t>
            </a:r>
          </a:p>
          <a:p>
            <a:pPr marL="384048" indent="-384048">
              <a:spcAft>
                <a:spcPts val="400"/>
              </a:spcAft>
              <a:buClr>
                <a:srgbClr val="003366"/>
              </a:buClr>
              <a:buFont typeface="Arial"/>
              <a:buChar char="•"/>
            </a:pPr>
            <a:r>
              <a:rPr sz="2400" b="0" lang="it-IT" u="sng">
                <a:solidFill>
                  <a:srgbClr val="003366"/>
                </a:solidFill>
                <a:latin typeface="Arial"/>
                <a:hlinkClick r:id="rId6"/>
              </a:rPr>
              <a:t>Biblioteca delle idee sbagliate: chiamare il Gruppo</a:t>
            </a:r>
          </a:p>
          <a:p>
            <a:pPr marL="384048" indent="-384048">
              <a:spcAft>
                <a:spcPts val="400"/>
              </a:spcAft>
              <a:buClr>
                <a:srgbClr val="003366"/>
              </a:buClr>
              <a:buFont typeface="Arial"/>
              <a:buChar char="•"/>
            </a:pPr>
            <a:r>
              <a:rPr sz="2400" b="0" lang="it-IT" u="sng">
                <a:solidFill>
                  <a:srgbClr val="003366"/>
                </a:solidFill>
                <a:latin typeface="Arial"/>
                <a:hlinkClick r:id="rId7"/>
              </a:rPr>
              <a:t>Scheda «Intervista al volontario»</a:t>
            </a:r>
          </a:p>
          <a:p>
            <a:pPr marL="384048" indent="-384048">
              <a:spcAft>
                <a:spcPts val="400"/>
              </a:spcAft>
              <a:buClr>
                <a:srgbClr val="003366"/>
              </a:buClr>
              <a:buFont typeface="Arial"/>
              <a:buChar char="•"/>
            </a:pPr>
            <a:r>
              <a:rPr sz="2400" b="0" lang="it-IT" u="sng">
                <a:solidFill>
                  <a:srgbClr val="003366"/>
                </a:solidFill>
                <a:latin typeface="Arial"/>
                <a:hlinkClick r:id="rId8"/>
              </a:rPr>
              <a:t>Scheda «La Costituzione e la Protezione Civile»</a:t>
            </a:r>
          </a:p>
          <a:p>
            <a:pPr marL="384048" indent="-384048">
              <a:spcAft>
                <a:spcPts val="400"/>
              </a:spcAft>
              <a:buClr>
                <a:srgbClr val="003366"/>
              </a:buClr>
              <a:buFont typeface="Arial"/>
              <a:buChar char="•"/>
            </a:pPr>
            <a:r>
              <a:rPr sz="2400" b="0" lang="it-IT" u="sng">
                <a:solidFill>
                  <a:srgbClr val="003366"/>
                </a:solidFill>
                <a:latin typeface="Arial"/>
                <a:hlinkClick r:id="rId9"/>
              </a:rPr>
              <a:t>Percorsi didattici: Percorso 1</a:t>
            </a:r>
          </a:p>
          <a:p>
            <a:pPr>
              <a:spcBef>
                <a:spcPts val="1000"/>
              </a:spcBef>
            </a:pPr>
            <a:r>
              <a:rPr sz="2400" b="0" lang="it-IT">
                <a:solidFill>
                  <a:srgbClr val="212529"/>
                </a:solidFill>
                <a:latin typeface="Arial"/>
              </a:rPr>
              <a:t>Tutte le pagine sono su protezionecivilegenzano.it.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ennellata"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8368" y="1185672"/>
            <a:ext cx="2309164" cy="201168"/>
          </a:xfrm>
          <a:prstGeom prst="rect">
            <a:avLst/>
          </a:prstGeom>
        </p:spPr>
      </p:pic>
      <p:sp>
        <p:nvSpPr>
          <p:cNvPr id="2" name="Title 1"/>
          <p:cNvSpPr>
            <a:spLocks noGrp="1"/>
          </p:cNvSpPr>
          <p:nvPr>
            <p:ph type="title"/>
          </p:nvPr>
        </p:nvSpPr>
        <p:spPr>
          <a:xfrm>
            <a:off x="640080" y="228600"/>
            <a:ext cx="10972800" cy="1280160"/>
          </a:xfrm>
        </p:spPr>
        <p:txBody>
          <a:bodyPr wrap="square" anchor="b">
            <a:noAutofit/>
          </a:bodyPr>
          <a:lstStyle/>
          <a:p>
            <a:pPr algn="l"/>
            <a:r>
              <a:rPr sz="4800" b="0" lang="it-IT">
                <a:solidFill>
                  <a:srgbClr val="003366"/>
                </a:solidFill>
                <a:latin typeface="Edu NSW ACT Cursive"/>
              </a:rPr>
              <a:t>Grazie!</a:t>
            </a:r>
          </a:p>
        </p:txBody>
      </p:sp>
      <p:sp>
        <p:nvSpPr>
          <p:cNvPr id="4" name="Crediti"/>
          <p:cNvSpPr txBox="1"/>
          <p:nvPr/>
        </p:nvSpPr>
        <p:spPr>
          <a:xfrm>
            <a:off x="640080" y="1645920"/>
            <a:ext cx="10972800" cy="2560320"/>
          </a:xfrm>
          <a:prstGeom prst="rect">
            <a:avLst/>
          </a:prstGeom>
          <a:noFill/>
        </p:spPr>
        <p:txBody>
          <a:bodyPr wrap="square" anchor="t" lIns="73152" rIns="73152">
            <a:noAutofit/>
          </a:bodyPr>
          <a:lstStyle/>
          <a:p>
            <a:pPr algn="l">
              <a:spcAft>
                <a:spcPts val="600"/>
              </a:spcAft>
            </a:pPr>
            <a:r>
              <a:rPr sz="2400" b="0" lang="it-IT">
                <a:solidFill>
                  <a:srgbClr val="212529"/>
                </a:solidFill>
                <a:latin typeface="Arial"/>
              </a:rPr>
              <a:t>Testi e disegni: Gruppo Comunale Volontari di Protezione Civile di Genzano di Roma.</a:t>
            </a:r>
          </a:p>
          <a:p>
            <a:pPr algn="l">
              <a:spcAft>
                <a:spcPts val="600"/>
              </a:spcAft>
            </a:pPr>
            <a:r>
              <a:rPr sz="2400" b="0" lang="it-IT">
                <a:solidFill>
                  <a:srgbClr val="212529"/>
                </a:solidFill>
                <a:latin typeface="Arial"/>
              </a:rPr>
              <a:t>Pittogrammi: Sergio Palao, ARASAAC (arasaac.org), proprietà del Governo di Aragona.</a:t>
            </a:r>
          </a:p>
          <a:p>
            <a:pPr algn="l">
              <a:spcAft>
                <a:spcPts val="0"/>
              </a:spcAft>
            </a:pPr>
            <a:r>
              <a:rPr sz="2400" b="0" lang="it-IT">
                <a:solidFill>
                  <a:srgbClr val="212529"/>
                </a:solidFill>
                <a:latin typeface="Arial"/>
              </a:rPr>
              <a:t>Licenza: CC BY-NC-SA 4.0. Si può riusare citando la fonte, senza scopo di lucro.</a:t>
            </a:r>
          </a:p>
        </p:txBody>
      </p:sp>
      <p:pic>
        <p:nvPicPr>
          <p:cNvPr id="5" name="Logo Quality Label" descr="Logo Quality Label del Corpo europeo di solidarietà"/>
          <p:cNvPicPr>
            <a:picLocks noChangeAspect="1"/>
          </p:cNvPicPr>
          <p:nvPr/>
        </p:nvPicPr>
        <p:blipFill>
          <a:blip r:embed="rId3"/>
          <a:stretch>
            <a:fillRect/>
          </a:stretch>
        </p:blipFill>
        <p:spPr>
          <a:xfrm>
            <a:off x="777239" y="4434840"/>
            <a:ext cx="1645920" cy="1645920"/>
          </a:xfrm>
          <a:prstGeom prst="rect">
            <a:avLst/>
          </a:prstGeom>
        </p:spPr>
      </p:pic>
      <p:sp>
        <p:nvSpPr>
          <p:cNvPr id="6" name="Codice di accreditamento"/>
          <p:cNvSpPr txBox="1"/>
          <p:nvPr/>
        </p:nvSpPr>
        <p:spPr>
          <a:xfrm>
            <a:off x="2560320" y="4526280"/>
            <a:ext cx="3749039" cy="1463040"/>
          </a:xfrm>
          <a:prstGeom prst="rect">
            <a:avLst/>
          </a:prstGeom>
          <a:noFill/>
        </p:spPr>
        <p:txBody>
          <a:bodyPr wrap="square" anchor="ctr" lIns="73152" rIns="73152">
            <a:noAutofit/>
          </a:bodyPr>
          <a:lstStyle/>
          <a:p>
            <a:r>
              <a:rPr sz="2400" b="0" lang="it-IT">
                <a:solidFill>
                  <a:srgbClr val="212529"/>
                </a:solidFill>
                <a:latin typeface="Arial"/>
              </a:rPr>
              <a:t>Corpo europeo di solidarietà</a:t>
            </a:r>
          </a:p>
          <a:p>
            <a:r>
              <a:rPr sz="2600" b="1" lang="it-IT">
                <a:solidFill>
                  <a:srgbClr val="003366"/>
                </a:solidFill>
                <a:latin typeface="Arial"/>
              </a:rPr>
              <a:t>Codice E10435833</a:t>
            </a:r>
          </a:p>
        </p:txBody>
      </p:sp>
      <p:pic>
        <p:nvPicPr>
          <p:cNvPr id="7" name="Logo FE.PI.VOL." descr="Logo del Coordinamento FE.PI.VOL., Federazione Pronto Intervento Volontariato"/>
          <p:cNvPicPr>
            <a:picLocks noChangeAspect="1"/>
          </p:cNvPicPr>
          <p:nvPr/>
        </p:nvPicPr>
        <p:blipFill>
          <a:blip r:embed="rId4"/>
          <a:stretch>
            <a:fillRect/>
          </a:stretch>
        </p:blipFill>
        <p:spPr>
          <a:xfrm>
            <a:off x="6583680" y="4434840"/>
            <a:ext cx="1645920" cy="1645920"/>
          </a:xfrm>
          <a:prstGeom prst="rect">
            <a:avLst/>
          </a:prstGeom>
        </p:spPr>
      </p:pic>
      <p:pic>
        <p:nvPicPr>
          <p:cNvPr id="8" name="Logo SNPC Volontariato" descr="Logo del Servizio nazionale della protezione civile, Volontariato"/>
          <p:cNvPicPr>
            <a:picLocks noChangeAspect="1"/>
          </p:cNvPicPr>
          <p:nvPr/>
        </p:nvPicPr>
        <p:blipFill>
          <a:blip r:embed="rId5"/>
          <a:stretch>
            <a:fillRect/>
          </a:stretch>
        </p:blipFill>
        <p:spPr>
          <a:xfrm>
            <a:off x="8961120" y="4348772"/>
            <a:ext cx="1508760" cy="1818055"/>
          </a:xfrm>
          <a:prstGeom prst="rect">
            <a:avLst/>
          </a:prstGeom>
        </p:spPr>
      </p:pic>
    </p:spTree>
  </p:cSld>
  <p:clrMapOvr>
    <a:masterClrMapping/>
  </p:clrMapOvr>
</p:sld>
</file>

<file path=ppt/theme/theme1.xml><?xml version="1.0" encoding="utf-8"?>
<a:theme xmlns:a="http://schemas.openxmlformats.org/drawingml/2006/main" name="Office Theme">
  <a:themeElements>
    <a:clrScheme name="Appunti illustrati">
      <a:dk1>
        <a:srgbClr val="212529"/>
      </a:dk1>
      <a:lt1>
        <a:srgbClr val="FFFFFF"/>
      </a:lt1>
      <a:dk2>
        <a:srgbClr val="003366"/>
      </a:dk2>
      <a:lt2>
        <a:srgbClr val="FFFDF7"/>
      </a:lt2>
      <a:accent1>
        <a:srgbClr val="003366"/>
      </a:accent1>
      <a:accent2>
        <a:srgbClr val="B45309"/>
      </a:accent2>
      <a:accent3>
        <a:srgbClr val="146C43"/>
      </a:accent3>
      <a:accent4>
        <a:srgbClr val="B02A37"/>
      </a:accent4>
      <a:accent5>
        <a:srgbClr val="0369A1"/>
      </a:accent5>
      <a:accent6>
        <a:srgbClr val="6F42C1"/>
      </a:accent6>
      <a:hlink>
        <a:srgbClr val="003366"/>
      </a:hlink>
      <a:folHlink>
        <a:srgbClr val="4A2C7F"/>
      </a:folHlink>
    </a:clrScheme>
    <a:fontScheme name="Appunti illustrati">
      <a:majorFont>
        <a:latin typeface="Edu NSW ACT Cursiv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PresentationFormat>Widescreen</PresentationFormat>
  <Slides>14</Slides>
  <Notes>14</Notes>
  <HiddenSlides>0</HiddenSlides>
  <MMClips>0</MMClips>
  <ScaleCrop>false</ScaleCrop>
  <Company>Gruppo Comunale Volontari di Protezione Civile di Genzano di Roma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Lezione 4: I volontari della Protezione Civile</dc:title>
  <dc:subject>Percorso 1 · Protezione Civile di base · Primaria, classi III-V</dc:subject>
  <dc:creator>Gruppo Comunale Volontari di Protezione Civile di Genzano di Roma</dc:creator>
  <cp:keywords>protezione civile; scuola primaria; educazione civica; Genzano di Roma</cp:keywords>
  <dc:description>Slide per chi conduce le lezioni nelle scuole, con le note per chi parla in ogni slide.</dc:description>
  <cp:lastModifiedBy>Gruppo Comunale Volontari di Protezione Civile di Genzano di Roma</cp:lastModifiedBy>
  <cp:revision>1</cp:revision>
  <dcterms:created xsi:type="dcterms:W3CDTF">2026-10-16T09:00:00Z</dcterms:created>
  <dcterms:modified xsi:type="dcterms:W3CDTF">2026-10-16T09:00:00Z</dcterms:modified>
  <cp:category>Formazione</cp:category>
  <dc:language>it-IT</dc:language>
  <cp:lastPrinted>2026-10-16T09:00:00Z</cp:lastPrinted>
</cp:coreProperties>
</file>