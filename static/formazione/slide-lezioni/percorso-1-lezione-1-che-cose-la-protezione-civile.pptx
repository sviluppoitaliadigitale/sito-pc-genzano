
<file path=[Content_Types].xml><?xml version="1.0" encoding="utf-8"?>
<Types xmlns="http://schemas.openxmlformats.org/package/2006/content-types">
  <Default Extension="fntdata" ContentType="application/x-fontdata"/>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embeddedFontLst>
    <p:embeddedFont>
      <p:font typeface="Edu NSW ACT Cursive" pitchFamily="66" charset="0"/>
      <p:regular r:id="rIdCarattere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Carattere1"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lang="it-IT"/>
              <a:t>Cosa dire: Presentati: il tuo nome e che sei un volontario del Gruppo Comunale Volontari di Protezione Civile di Genzano di Roma. Spiega che farete quattro incontri da un’ora: oggi che cos’è la Protezione Civile, poi il 112, i rischi del nostro territorio e i volontari. Di’ che l’obiettivo è prepararsi, non spaventarsi.</a:t>
            </a:r>
          </a:p>
          <a:p>
            <a:r>
              <a:rPr sz="1400" lang="it-IT"/>
              <a:t>Domanda alla classe: Avete mai sentito le parole «Protezione Civile»? Dove?</a:t>
            </a:r>
          </a:p>
          <a:p>
            <a:r>
              <a:rPr sz="1400" lang="it-IT"/>
              <a:t>Tempo: 2 minuti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lang="it-IT"/>
              <a:t>Cosa dire: Leggi i tre punti. Anticipa che alla fine della lezione farete un gioco tutti insieme.</a:t>
            </a:r>
          </a:p>
          <a:p>
            <a:r>
              <a:rPr sz="1400" lang="it-IT"/>
              <a:t>Domanda alla classe: Secondo voi, che cosa vuol dire «proteggere»?</a:t>
            </a:r>
          </a:p>
          <a:p>
            <a:r>
              <a:rPr sz="1400" lang="it-IT"/>
              <a:t>Tempo: 2 minuti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lang="it-IT"/>
              <a:t>Cosa dire: Leggi la storia e raccogli le risposte alla lavagna, senza correggerle: alla fine della lezione le riprenderete per vedere che cosa avete scoperto.</a:t>
            </a:r>
          </a:p>
          <a:p>
            <a:r>
              <a:rPr sz="1400" lang="it-IT"/>
              <a:t>Domanda alla classe: Voi che cosa rispondereste a Flavio?</a:t>
            </a:r>
          </a:p>
          <a:p>
            <a:r>
              <a:rPr sz="1400" lang="it-IT"/>
              <a:t>Tempo: 5 minuti</a:t>
            </a:r>
          </a:p>
          <a:p>
            <a:r>
              <a:rPr sz="1400" lang="it-IT"/>
              <a:t>Attenzione: Accogli ogni risposta. Se un bambino racconta un’emergenza vissuta in famiglia, ascoltalo con calma, ringrazialo e rassicura la classe: oggi scopriamo come si viene aiutati.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lang="it-IT"/>
              <a:t>Cosa dire: La Protezione Civile non è un ufficio e non è un corpo solo: è un sistema formato da tanti soggetti diversi che lavorano insieme per proteggere le persone, gli animali, l’ambiente e i beni dai pericoli. Animali e ambiente li ha aggiunti esplicitamente il Codice della protezione civile del 2018.</a:t>
            </a:r>
          </a:p>
          <a:p>
            <a:r>
              <a:rPr sz="1400" lang="it-IT"/>
              <a:t>Domanda alla classe: Che cosa vuol dire, secondo voi, «lavorare in squadra»?</a:t>
            </a:r>
          </a:p>
          <a:p>
            <a:r>
              <a:rPr sz="1400" lang="it-IT"/>
              <a:t>Tempo: 3 minuti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lang="it-IT"/>
              <a:t>Cosa dire: Presenta le squadre. I Vigili del Fuoco spengono gli incendi, salvano le persone in pericolo e intervengono quando qualcosa crolla. Il soccorso sanitario porta medici e infermieri dove servono. Le forze dell’ordine si occupano della sicurezza e aiutano quando bisogna allontanarsi. I volontari aiutano la popolazione: distribuiscono acqua e cibo, montano le tende, assistono le persone fragili. Il Sindaco è la prima autorità di protezione civile nel Comune; Prefetto, Regione e Stato coordinano le emergenze più gravi.</a:t>
            </a:r>
          </a:p>
          <a:p>
            <a:r>
              <a:rPr sz="1400" lang="it-IT"/>
              <a:t>Domanda alla classe: Avete mai visto una di queste squadre al lavoro?</a:t>
            </a:r>
          </a:p>
          <a:p>
            <a:r>
              <a:rPr sz="1400" lang="it-IT"/>
              <a:t>Tempo: 5 minuti</a:t>
            </a:r>
          </a:p>
          <a:p>
            <a:r>
              <a:rPr sz="1400" lang="it-IT"/>
              <a:t>Attenzione: Se un bambino ha un genitore in una di queste squadre, valorizzalo senza chiedere dettagli sul suo lavoro.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lang="it-IT"/>
              <a:t>Cosa dire: Le attività della Protezione Civile sono quattro. Prima di un evento la previsione studia che cosa può succedere, dove e quando, e la prevenzione riduce i danni in anticipo. Durante l’evento c’è il soccorso, che la legge di oggi chiama gestione dell’emergenza: salvare le persone e assisterle. Dopo viene il superamento, cioè il ritorno alla vita normale, che spesso è la fase più lunga.</a:t>
            </a:r>
          </a:p>
          <a:p>
            <a:r>
              <a:rPr sz="1400" lang="it-IT"/>
              <a:t>Domanda alla classe: Secondo voi, quale di queste quattro è la più importante?</a:t>
            </a:r>
          </a:p>
          <a:p>
            <a:r>
              <a:rPr sz="1400" lang="it-IT"/>
              <a:t>Tempo: 6 minuti</a:t>
            </a:r>
          </a:p>
          <a:p>
            <a:r>
              <a:rPr sz="1400" lang="it-IT"/>
              <a:t>Attenzione: Servono tutte. Puoi aggiungere che la prevenzione è la fase più silenziosa ed è anche quella che salva più vite.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lang="it-IT"/>
              <a:t>Cosa dire: Prevedere non vuol dire indovinare. Una perturbazione si vede arrivare con ore o giorni di anticipo, e la Regione emette i bollettini di allerta. Il momento esatto di un terremoto invece nessuno lo sa prevedere: si sa dove i terremoti sono più probabili. Per questo conta la prevenzione: case costruite bene, mobili alti fissati al muro, il piano di emergenza della famiglia, le prove di evacuazione a scuola.</a:t>
            </a:r>
          </a:p>
          <a:p>
            <a:r>
              <a:rPr sz="1400" lang="it-IT"/>
              <a:t>Domanda alla classe: Chi di voi ha già fatto una prova di evacuazione a scuola? Che cosa avete fatto?</a:t>
            </a:r>
          </a:p>
          <a:p>
            <a:r>
              <a:rPr sz="1400" lang="it-IT"/>
              <a:t>Tempo: 5 minuti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lang="it-IT"/>
              <a:t>Cosa dire: Racconta in modo semplice: la sera del 9 ottobre 1963 una frana del Monte Toc precipitò nel lago artificiale del Vajont e l’onda superò la diga. Gli studi geologici avevano segnalato il pericolo, ma mancò la decisione di agire. È il caso che ha fatto capire all’Italia che molti disastri non sono una fatalità: sono rischi conosciuti che non sono stati ridotti.</a:t>
            </a:r>
          </a:p>
          <a:p>
            <a:r>
              <a:rPr sz="1400" lang="it-IT"/>
              <a:t>Domanda alla classe: Secondo voi, che cosa si sarebbe dovuto fare?</a:t>
            </a:r>
          </a:p>
          <a:p>
            <a:r>
              <a:rPr sz="1400" lang="it-IT"/>
              <a:t>Tempo: 4 minuti</a:t>
            </a:r>
          </a:p>
          <a:p>
            <a:r>
              <a:rPr sz="1400" lang="it-IT"/>
              <a:t>Attenzione: Non entrare nei dettagli sulle vittime e non mostrare video del disastro: il kit per la primaria consiglia di evitarli. Se un bambino chiede quante persone sono morte, rispondi che sono state tante e riporta l’attenzione su che cosa abbiamo imparato.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lang="it-IT"/>
              <a:t>Cosa dire: Dopo il terremoto del Friuli del 1976 Giuseppe Zamberletti, chiamato a guidare i soccorsi, mise centri di coordinamento vicino ai paesi colpiti e fece lavorare insieme Regione, Comuni e volontari: per questo è considerato il padre della protezione civile italiana. Dopo il terremoto dell’Irpinia del 1980 i soccorsi arrivarono di nuovo in ritardo, e nel 1982 nacque il Dipartimento della Protezione Civile presso la Presidenza del Consiglio dei ministri. Nel 1992 una legge creò il Servizio nazionale, che mette insieme Stato, Regioni, Comuni, vigili del fuoco, forze dell’ordine, sanità e volontariato. Oggi la regola è il Codice della protezione civile del 2018. Proprio nel 1981 nasce anche il primo gruppo di volontari di protezione civile di Genzano.</a:t>
            </a:r>
          </a:p>
          <a:p>
            <a:r>
              <a:rPr sz="1400" lang="it-IT"/>
              <a:t>Domanda alla classe: Perché secondo voi è importante che tutti lavorino insieme?</a:t>
            </a:r>
          </a:p>
          <a:p>
            <a:r>
              <a:rPr sz="1400" lang="it-IT"/>
              <a:t>Tempo: 5 minuti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lang="it-IT"/>
              <a:t>Cosa dire: Leggi una frase alla volta e lascia rispondere la classe con le dita. Frasi e risposte: 1) «La Regione prepara il bollettino di allerta per domani»: previsione. 2) «A scuola facciamo la prova di evacuazione»: prevenzione. 3) «A casa fissiamo la libreria al muro»: prevenzione. 4) «I Vigili del Fuoco spengono un incendio»: soccorso. 5) «I volontari montano una tenda per chi non può tornare a casa»: soccorso. 6) «Dopo un terremoto si riparano le scuole e le case»: superamento. 7) «Gli esperti studiano dove i terremoti sono più probabili»: previsione.</a:t>
            </a:r>
          </a:p>
          <a:p>
            <a:r>
              <a:rPr sz="1400" lang="it-IT"/>
              <a:t>Domanda alla classe: Quale frase vi ha fatto discutere di più?</a:t>
            </a:r>
          </a:p>
          <a:p>
            <a:r>
              <a:rPr sz="1400" lang="it-IT"/>
              <a:t>Tempo: 15 minuti</a:t>
            </a:r>
          </a:p>
          <a:p>
            <a:r>
              <a:rPr sz="1400" lang="it-IT"/>
              <a:t>Attenzione: Alcune azioni stanno a cavallo fra due attività: se un bambino lo nota, dagli ragione e spiega che le quattro attività convivono e si toccano.</a:t>
            </a:r>
          </a:p>
          <a:p>
            <a:r>
              <a:rPr sz="1400" lang="it-IT"/>
              <a:t>Scheda da distribuire: https://www.protezionecivilegenzano.it/formazione/kit-scuola-primaria/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lang="it-IT"/>
              <a:t>Cosa dire: Ripeti i tre punti e torna alle risposte scritte alla lavagna all’inizio: che cosa avete scoperto? Il cittadino che sa che cosa fare è il primo anello della catena della protezione civile.</a:t>
            </a:r>
          </a:p>
          <a:p>
            <a:r>
              <a:rPr sz="1400" lang="it-IT"/>
              <a:t>Domanda alla classe: Che cosa racconterete a casa di questa lezione?</a:t>
            </a:r>
          </a:p>
          <a:p>
            <a:r>
              <a:rPr sz="1400" lang="it-IT"/>
              <a:t>Tempo: 5 minuti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lang="it-IT"/>
              <a:t>Cosa dire: Questa slide serve all’insegnante: elenca le pagine del sito da cui vengono i contenuti della lezione. Non serve leggerla alla classe.</a:t>
            </a:r>
          </a:p>
          <a:p>
            <a:r>
              <a:rPr sz="1400" lang="it-IT"/>
              <a:t>Tempo: 0 minuti (slide per l’insegnante, non conta nell’ora)</a:t>
            </a:r>
          </a:p>
          <a:p>
            <a:r>
              <a:rPr sz="1400" lang="it-IT"/>
              <a:t>Indirizzi completi:</a:t>
            </a:r>
          </a:p>
          <a:p>
            <a:r>
              <a:rPr sz="1400" lang="it-IT"/>
              <a:t>- Kit per la scuola primaria, Modulo 1: https://www.protezionecivilegenzano.it/formazione/kit-scuola-primaria/</a:t>
            </a:r>
          </a:p>
          <a:p>
            <a:r>
              <a:rPr sz="1400" lang="it-IT"/>
              <a:t>- Manuale, capitolo 1: che cos’è la protezione civile: https://www.protezionecivilegenzano.it/manuale/01-che-cose-la-protezione-civile/</a:t>
            </a:r>
          </a:p>
          <a:p>
            <a:r>
              <a:rPr sz="1400" lang="it-IT"/>
              <a:t>- Manuale, capitolo 2: la storia in Italia: https://www.protezionecivilegenzano.it/manuale/02-storia-della-protezione-civile-in-italia/</a:t>
            </a:r>
          </a:p>
          <a:p>
            <a:r>
              <a:rPr sz="1400" lang="it-IT"/>
              <a:t>- Manuale: le quattro attività: https://www.protezionecivilegenzano.it/manuale/61-le-quattro-attivita/</a:t>
            </a:r>
          </a:p>
          <a:p>
            <a:r>
              <a:rPr sz="1400" lang="it-IT"/>
              <a:t>- Rischio sismico: cosa fare prima: https://www.protezionecivilegenzano.it/rischi-prevenzione/rischio-sismico/</a:t>
            </a:r>
          </a:p>
          <a:p>
            <a:r>
              <a:rPr sz="1400" lang="it-IT"/>
              <a:t>- Chi siamo: https://www.protezionecivilegenzano.it/chi-siamo/</a:t>
            </a:r>
          </a:p>
          <a:p>
            <a:r>
              <a:rPr sz="1400" lang="it-IT"/>
              <a:t>- Percorsi didattici: Percorso 1: https://www.protezionecivilegenzano.it/formazione/percorsi-didattici/#percorso-1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lang="it-IT"/>
              <a:t>Cosa dire: Saluta e annuncia il prossimo incontro: il 112, il numero che fa arrivare tutta la squadra.</a:t>
            </a:r>
          </a:p>
          <a:p>
            <a:r>
              <a:rPr sz="1400" lang="it-IT"/>
              <a:t>Domanda alla classe: Che cosa vorreste chiedere ai volontari la prossima volta?</a:t>
            </a:r>
          </a:p>
          <a:p>
            <a:r>
              <a:rPr sz="1400" lang="it-IT"/>
              <a:t>Tempo: 3 minuti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377" y="2130425"/>
            <a:ext cx="1036294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754" y="3886200"/>
            <a:ext cx="8534186"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p>
            <a:r>
              <a:rPr lang="en-US" smtClean="0"/>
              <a:t>Click to edit Master title style</a:t>
            </a:r>
            <a:endParaRPr lang="en-US"/>
          </a:p>
        </p:txBody>
      </p:sp>
      <p:sp>
        <p:nvSpPr>
          <p:cNvPr id="3" name="Content Placeholder 2"/>
          <p:cNvSpPr>
            <a:spLocks noGrp="1"/>
          </p:cNvSpPr>
          <p:nvPr>
            <p:ph idx="1"/>
          </p:nvPr>
        </p:nvSpPr>
        <p:spPr>
          <a:xfrm>
            <a:off x="812758" y="0"/>
            <a:ext cx="14629667" cy="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59" y="4406900"/>
            <a:ext cx="1036294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59" y="2906713"/>
            <a:ext cx="1036294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09584" y="1600200"/>
            <a:ext cx="538466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445" y="1600200"/>
            <a:ext cx="538466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3854" y="0"/>
            <a:ext cx="5147475" cy="0"/>
          </a:xfrm>
        </p:spPr>
        <p:txBody>
          <a:bodyPr/>
          <a:lstStyle/>
          <a:p>
            <a:endParaRPr lang="en-US"/>
          </a:p>
        </p:txBody>
      </p:sp>
      <p:sp>
        <p:nvSpPr>
          <p:cNvPr id="7" name="Slide Number Placeholder 6"/>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584" y="1535113"/>
            <a:ext cx="538678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584" y="2174875"/>
            <a:ext cx="538678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211" y="1535113"/>
            <a:ext cx="538889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211" y="2174875"/>
            <a:ext cx="538889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a:xfrm>
            <a:off x="5553854" y="0"/>
            <a:ext cx="5147475" cy="0"/>
          </a:xfrm>
        </p:spPr>
        <p:txBody>
          <a:bodyPr/>
          <a:lstStyle/>
          <a:p>
            <a:endParaRPr lang="en-US"/>
          </a:p>
        </p:txBody>
      </p:sp>
      <p:sp>
        <p:nvSpPr>
          <p:cNvPr id="9" name="Slide Number Placeholder 8"/>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a:xfrm>
            <a:off x="5553854" y="0"/>
            <a:ext cx="5147475" cy="0"/>
          </a:xfrm>
        </p:spPr>
        <p:txBody>
          <a:bodyPr/>
          <a:lstStyle/>
          <a:p>
            <a:endParaRPr lang="en-US"/>
          </a:p>
        </p:txBody>
      </p:sp>
      <p:sp>
        <p:nvSpPr>
          <p:cNvPr id="5" name="Slide Number Placeholder 4"/>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a:xfrm>
            <a:off x="5553854" y="0"/>
            <a:ext cx="5147475" cy="0"/>
          </a:xfrm>
        </p:spPr>
        <p:txBody>
          <a:bodyPr/>
          <a:lstStyle/>
          <a:p>
            <a:endParaRPr lang="en-US"/>
          </a:p>
        </p:txBody>
      </p:sp>
      <p:sp>
        <p:nvSpPr>
          <p:cNvPr id="4" name="Slide Number Placeholder 3"/>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84" y="273050"/>
            <a:ext cx="401098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614" y="273050"/>
            <a:ext cx="681549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584" y="1435100"/>
            <a:ext cx="401098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3854" y="0"/>
            <a:ext cx="5147475" cy="0"/>
          </a:xfrm>
        </p:spPr>
        <p:txBody>
          <a:bodyPr/>
          <a:lstStyle/>
          <a:p>
            <a:endParaRPr lang="en-US"/>
          </a:p>
        </p:txBody>
      </p:sp>
      <p:sp>
        <p:nvSpPr>
          <p:cNvPr id="7" name="Slide Number Placeholder 6"/>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657" y="4800600"/>
            <a:ext cx="7315017"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657" y="612775"/>
            <a:ext cx="7315017"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657" y="5367338"/>
            <a:ext cx="7315017"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3854" y="0"/>
            <a:ext cx="5147475" cy="0"/>
          </a:xfrm>
        </p:spPr>
        <p:txBody>
          <a:bodyPr/>
          <a:lstStyle/>
          <a:p>
            <a:endParaRPr lang="en-US"/>
          </a:p>
        </p:txBody>
      </p:sp>
      <p:sp>
        <p:nvSpPr>
          <p:cNvPr id="7" name="Slide Number Placeholder 6"/>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812758" y="0"/>
            <a:ext cx="14629667" cy="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8979" y="274638"/>
            <a:ext cx="2743131"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584" y="274638"/>
            <a:ext cx="8026199"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DF7"/>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84" y="274638"/>
            <a:ext cx="10972525"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584" y="1600200"/>
            <a:ext cx="10972525"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584" y="6356350"/>
            <a:ext cx="2844728"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495" y="6356350"/>
            <a:ext cx="3860703"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381" y="6356350"/>
            <a:ext cx="284472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9.png"/><Relationship Id="rId7" Type="http://schemas.openxmlformats.org/officeDocument/2006/relationships/image" Target="../media/image15.png"/><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hyperlink" Target="https://www.protezionecivilegenzano.it/formazione/kit-scuola-primaria/" TargetMode="External"/><Relationship Id="rId4" Type="http://schemas.openxmlformats.org/officeDocument/2006/relationships/image" Target="../media/image18.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hyperlink" Target="https://www.protezionecivilegenzano.it/formazione/kit-scuola-primaria/" TargetMode="External"/><Relationship Id="rId4" Type="http://schemas.openxmlformats.org/officeDocument/2006/relationships/hyperlink" Target="https://www.protezionecivilegenzano.it/manuale/01-che-cose-la-protezione-civile/" TargetMode="External"/><Relationship Id="rId5" Type="http://schemas.openxmlformats.org/officeDocument/2006/relationships/hyperlink" Target="https://www.protezionecivilegenzano.it/manuale/02-storia-della-protezione-civile-in-italia/" TargetMode="External"/><Relationship Id="rId6" Type="http://schemas.openxmlformats.org/officeDocument/2006/relationships/hyperlink" Target="https://www.protezionecivilegenzano.it/manuale/61-le-quattro-attivita/" TargetMode="External"/><Relationship Id="rId7" Type="http://schemas.openxmlformats.org/officeDocument/2006/relationships/hyperlink" Target="https://www.protezionecivilegenzano.it/rischi-prevenzione/rischio-sismico/" TargetMode="External"/><Relationship Id="rId8" Type="http://schemas.openxmlformats.org/officeDocument/2006/relationships/hyperlink" Target="https://www.protezionecivilegenzano.it/chi-siamo/" TargetMode="External"/><Relationship Id="rId9" Type="http://schemas.openxmlformats.org/officeDocument/2006/relationships/hyperlink" Target="https://www.protezionecivilegenzano.it/formazione/percorsi-didattici/#percorso-1" TargetMode="Externa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ennellata"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8368" y="3471265"/>
            <a:ext cx="6368897" cy="201168"/>
          </a:xfrm>
          <a:prstGeom prst="rect">
            <a:avLst/>
          </a:prstGeom>
        </p:spPr>
      </p:pic>
      <p:sp>
        <p:nvSpPr>
          <p:cNvPr id="2" name="Title 1"/>
          <p:cNvSpPr>
            <a:spLocks noGrp="1"/>
          </p:cNvSpPr>
          <p:nvPr>
            <p:ph type="title"/>
          </p:nvPr>
        </p:nvSpPr>
        <p:spPr>
          <a:xfrm>
            <a:off x="640080" y="1325880"/>
            <a:ext cx="7223760" cy="2563977"/>
          </a:xfrm>
        </p:spPr>
        <p:txBody>
          <a:bodyPr wrap="square" anchor="b">
            <a:noAutofit/>
          </a:bodyPr>
          <a:lstStyle/>
          <a:p>
            <a:pPr algn="l">
              <a:lnSpc>
                <a:spcPct val="78000"/>
              </a:lnSpc>
            </a:pPr>
            <a:r>
              <a:rPr sz="6400" b="0" lang="it-IT">
                <a:solidFill>
                  <a:srgbClr val="003366"/>
                </a:solidFill>
                <a:latin typeface="Edu NSW ACT Cursive"/>
              </a:rPr>
              <a:t>Che cos’è la</a:t>
            </a:r>
            <a:br/>
            <a:r>
              <a:rPr sz="6400" b="0" lang="it-IT">
                <a:solidFill>
                  <a:srgbClr val="003366"/>
                </a:solidFill>
                <a:latin typeface="Edu NSW ACT Cursive"/>
              </a:rPr>
              <a:t>Protezione Civile</a:t>
            </a:r>
          </a:p>
        </p:txBody>
      </p:sp>
      <p:sp>
        <p:nvSpPr>
          <p:cNvPr id="3" name="Percorso"/>
          <p:cNvSpPr txBox="1"/>
          <p:nvPr/>
        </p:nvSpPr>
        <p:spPr>
          <a:xfrm>
            <a:off x="640080" y="411480"/>
            <a:ext cx="7863840" cy="914400"/>
          </a:xfrm>
          <a:prstGeom prst="rect">
            <a:avLst/>
          </a:prstGeom>
          <a:noFill/>
        </p:spPr>
        <p:txBody>
          <a:bodyPr wrap="square" anchor="t" lIns="73152" rIns="73152">
            <a:noAutofit/>
          </a:bodyPr>
          <a:lstStyle/>
          <a:p>
            <a:pPr algn="l">
              <a:spcAft>
                <a:spcPts val="200"/>
              </a:spcAft>
            </a:pPr>
            <a:r>
              <a:rPr sz="2400" b="1" lang="it-IT">
                <a:solidFill>
                  <a:srgbClr val="003366"/>
                </a:solidFill>
                <a:latin typeface="Arial"/>
              </a:rPr>
              <a:t>Percorso 1 · Protezione Civile di base</a:t>
            </a:r>
          </a:p>
          <a:p>
            <a:pPr algn="l">
              <a:spcAft>
                <a:spcPts val="0"/>
              </a:spcAft>
            </a:pPr>
            <a:r>
              <a:rPr sz="2400" b="0" lang="it-IT">
                <a:solidFill>
                  <a:srgbClr val="003366"/>
                </a:solidFill>
                <a:latin typeface="Arial"/>
              </a:rPr>
              <a:t>Primaria, classi III-V</a:t>
            </a:r>
          </a:p>
        </p:txBody>
      </p:sp>
      <p:sp>
        <p:nvSpPr>
          <p:cNvPr id="5" name="Lezione"/>
          <p:cNvSpPr/>
          <p:nvPr/>
        </p:nvSpPr>
        <p:spPr>
          <a:xfrm rot="21420000">
            <a:off x="685800" y="4301337"/>
            <a:ext cx="3538354" cy="822960"/>
          </a:xfrm>
          <a:prstGeom prst="rect">
            <a:avLst/>
          </a:prstGeom>
          <a:solidFill>
            <a:srgbClr val="FFF0A8"/>
          </a:solidFill>
          <a:ln>
            <a:noFill/>
          </a:ln>
          <a:effectLst>
            <a:outerShdw blurRad="63500" dist="25400" dir="5400000" algn="t" rotWithShape="0">
              <a:srgbClr val="000000">
                <a:alpha val="22000"/>
              </a:srgbClr>
            </a:outerShdw>
          </a:effectLst>
        </p:spPr>
        <p:txBody>
          <a:bodyPr rtlCol="0" anchor="ctr" wrap="none" lIns="109728" rIns="109728" tIns="36576" bIns="36576">
            <a:noAutofit/>
          </a:bodyPr>
          <a:lstStyle/>
          <a:p>
            <a:pPr algn="ctr"/>
            <a:r>
              <a:rPr sz="3400" b="0" lang="it-IT">
                <a:solidFill>
                  <a:srgbClr val="003366"/>
                </a:solidFill>
                <a:latin typeface="Edu NSW ACT Cursive"/>
              </a:rPr>
              <a:t>Lezione 1 di 4</a:t>
            </a:r>
          </a:p>
        </p:txBody>
      </p:sp>
      <p:sp>
        <p:nvSpPr>
          <p:cNvPr id="6" name="Durata"/>
          <p:cNvSpPr/>
          <p:nvPr/>
        </p:nvSpPr>
        <p:spPr>
          <a:xfrm rot="120000">
            <a:off x="4589914" y="4347057"/>
            <a:ext cx="1920240" cy="777240"/>
          </a:xfrm>
          <a:prstGeom prst="rect">
            <a:avLst/>
          </a:prstGeom>
          <a:solidFill>
            <a:srgbClr val="DCEEFA"/>
          </a:solidFill>
          <a:ln>
            <a:noFill/>
          </a:ln>
          <a:effectLst>
            <a:outerShdw blurRad="63500" dist="25400" dir="5400000" algn="t" rotWithShape="0">
              <a:srgbClr val="000000">
                <a:alpha val="22000"/>
              </a:srgbClr>
            </a:outerShdw>
          </a:effectLst>
        </p:spPr>
        <p:txBody>
          <a:bodyPr rtlCol="0" anchor="ctr" wrap="none" lIns="109728" rIns="109728" tIns="36576" bIns="36576">
            <a:noAutofit/>
          </a:bodyPr>
          <a:lstStyle/>
          <a:p>
            <a:pPr algn="ctr"/>
            <a:r>
              <a:rPr sz="3400" b="0" lang="it-IT">
                <a:solidFill>
                  <a:srgbClr val="003366"/>
                </a:solidFill>
                <a:latin typeface="Edu NSW ACT Cursive"/>
              </a:rPr>
              <a:t>Un’ora</a:t>
            </a:r>
          </a:p>
        </p:txBody>
      </p:sp>
      <p:pic>
        <p:nvPicPr>
          <p:cNvPr id="7" name="Logo del Gruppo" descr="Logo del Gruppo Comunale Volontari di Protezione Civile di Genzano di Roma"/>
          <p:cNvPicPr>
            <a:picLocks noChangeAspect="1"/>
          </p:cNvPicPr>
          <p:nvPr/>
        </p:nvPicPr>
        <p:blipFill>
          <a:blip r:embed="rId3"/>
          <a:stretch>
            <a:fillRect/>
          </a:stretch>
        </p:blipFill>
        <p:spPr>
          <a:xfrm>
            <a:off x="10469880" y="320040"/>
            <a:ext cx="1325880" cy="1325880"/>
          </a:xfrm>
          <a:prstGeom prst="rect">
            <a:avLst/>
          </a:prstGeom>
        </p:spPr>
      </p:pic>
      <p:sp>
        <p:nvSpPr>
          <p:cNvPr id="8" name="Cartoncino">
            <a:extLst>
              <a:ext uri="{C183D7F6-B498-43B3-948B-1728B52AA6E4}">
                <adec:decorative xmlns:adec="http://schemas.microsoft.com/office/drawing/2017/decorative" val="1"/>
              </a:ext>
            </a:extLst>
          </p:cNvPr>
          <p:cNvSpPr/>
          <p:nvPr/>
        </p:nvSpPr>
        <p:spPr>
          <a:xfrm rot="120000">
            <a:off x="8275320" y="2057400"/>
            <a:ext cx="3108960" cy="3108960"/>
          </a:xfrm>
          <a:prstGeom prst="rect">
            <a:avLst/>
          </a:prstGeom>
          <a:solidFill>
            <a:srgbClr val="FFFFFF"/>
          </a:solidFill>
          <a:ln w="9525">
            <a:solidFill>
              <a:srgbClr val="ADB5BD"/>
            </a:solidFill>
          </a:ln>
          <a:effectLst>
            <a:outerShdw blurRad="63500" dist="25400" dir="5400000" algn="t" rotWithShape="0">
              <a:srgbClr val="000000">
                <a:alpha val="22000"/>
              </a:srgbClr>
            </a:outerShdw>
          </a:effectLst>
        </p:spPr>
        <p:txBody>
          <a:bodyPr rtlCol="0" anchor="ctr"/>
          <a:lstStyle/>
          <a:p>
            <a:pPr algn="ctr"/>
          </a:p>
        </p:txBody>
      </p:sp>
      <p:pic>
        <p:nvPicPr>
          <p:cNvPr id="9" name="Pittogramma" descr="Pittogramma: una mano aiuta un’altra mano"/>
          <p:cNvPicPr>
            <a:picLocks noChangeAspect="1"/>
          </p:cNvPicPr>
          <p:nvPr/>
        </p:nvPicPr>
        <p:blipFill>
          <a:blip r:embed="rId4"/>
          <a:stretch>
            <a:fillRect/>
          </a:stretch>
        </p:blipFill>
        <p:spPr>
          <a:xfrm rot="120000">
            <a:off x="8492947" y="2275027"/>
            <a:ext cx="2673705" cy="2673705"/>
          </a:xfrm>
          <a:prstGeom prst="rect">
            <a:avLst/>
          </a:prstGeom>
        </p:spPr>
      </p:pic>
      <p:sp>
        <p:nvSpPr>
          <p:cNvPr id="10" name="Firma"/>
          <p:cNvSpPr txBox="1"/>
          <p:nvPr/>
        </p:nvSpPr>
        <p:spPr>
          <a:xfrm>
            <a:off x="640080" y="5989320"/>
            <a:ext cx="10972800" cy="502920"/>
          </a:xfrm>
          <a:prstGeom prst="rect">
            <a:avLst/>
          </a:prstGeom>
          <a:noFill/>
        </p:spPr>
        <p:txBody>
          <a:bodyPr wrap="square" anchor="t" lIns="73152" rIns="73152">
            <a:noAutofit/>
          </a:bodyPr>
          <a:lstStyle/>
          <a:p>
            <a:pPr algn="l">
              <a:spcAft>
                <a:spcPts val="0"/>
              </a:spcAft>
            </a:pPr>
            <a:r>
              <a:rPr sz="2400" b="0" lang="it-IT">
                <a:solidFill>
                  <a:srgbClr val="003366"/>
                </a:solidFill>
                <a:latin typeface="Arial"/>
              </a:rPr>
              <a:t>Gruppo Comunale Volontari di Protezione Civile · Genzano di Roma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ennellata"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8368" y="1148080"/>
            <a:ext cx="4313618" cy="201168"/>
          </a:xfrm>
          <a:prstGeom prst="rect">
            <a:avLst/>
          </a:prstGeom>
        </p:spPr>
      </p:pic>
      <p:sp>
        <p:nvSpPr>
          <p:cNvPr id="2" name="Title 1"/>
          <p:cNvSpPr>
            <a:spLocks noGrp="1"/>
          </p:cNvSpPr>
          <p:nvPr>
            <p:ph type="title"/>
          </p:nvPr>
        </p:nvSpPr>
        <p:spPr>
          <a:xfrm>
            <a:off x="640080" y="228600"/>
            <a:ext cx="10972800" cy="1230630"/>
          </a:xfrm>
        </p:spPr>
        <p:txBody>
          <a:bodyPr wrap="square" anchor="b">
            <a:noAutofit/>
          </a:bodyPr>
          <a:lstStyle/>
          <a:p>
            <a:pPr algn="l"/>
            <a:r>
              <a:rPr sz="4600" b="0" lang="it-IT">
                <a:solidFill>
                  <a:srgbClr val="003366"/>
                </a:solidFill>
                <a:latin typeface="Edu NSW ACT Cursive"/>
              </a:rPr>
              <a:t>Oggi scopriamo</a:t>
            </a:r>
          </a:p>
        </p:txBody>
      </p:sp>
      <p:sp>
        <p:nvSpPr>
          <p:cNvPr id="4" name="Riquadro">
            <a:extLst>
              <a:ext uri="{C183D7F6-B498-43B3-948B-1728B52AA6E4}">
                <adec:decorative xmlns:adec="http://schemas.microsoft.com/office/drawing/2017/decorative" val="1"/>
              </a:ext>
            </a:extLst>
          </p:cNvPr>
          <p:cNvSpPr/>
          <p:nvPr/>
        </p:nvSpPr>
        <p:spPr>
          <a:xfrm>
            <a:off x="640080" y="1600200"/>
            <a:ext cx="7818120" cy="4526280"/>
          </a:xfrm>
          <a:prstGeom prst="roundRect">
            <a:avLst>
              <a:gd name="adj" fmla="val 2424"/>
            </a:avLst>
          </a:prstGeom>
          <a:noFill/>
          <a:ln w="19050">
            <a:solidFill>
              <a:srgbClr val="003366"/>
            </a:solidFill>
            <a:prstDash val="dash"/>
          </a:ln>
        </p:spPr>
        <p:txBody>
          <a:bodyPr rtlCol="0" anchor="ctr"/>
          <a:lstStyle/>
          <a:p>
            <a:pPr algn="ctr"/>
          </a:p>
        </p:txBody>
      </p:sp>
      <p:sp>
        <p:nvSpPr>
          <p:cNvPr id="5" name="Numero"/>
          <p:cNvSpPr/>
          <p:nvPr/>
        </p:nvSpPr>
        <p:spPr>
          <a:xfrm>
            <a:off x="914400" y="2110740"/>
            <a:ext cx="731520" cy="731520"/>
          </a:xfrm>
          <a:prstGeom prst="ellipse">
            <a:avLst/>
          </a:prstGeom>
          <a:solidFill>
            <a:srgbClr val="FFFFFF"/>
          </a:solidFill>
          <a:ln w="25400">
            <a:solidFill>
              <a:srgbClr val="003366"/>
            </a:solidFill>
          </a:ln>
        </p:spPr>
        <p:txBody>
          <a:bodyPr rtlCol="0" anchor="ctr" wrap="square" lIns="0" rIns="0" tIns="0" bIns="0">
            <a:noAutofit/>
          </a:bodyPr>
          <a:lstStyle/>
          <a:p>
            <a:pPr algn="ctr"/>
            <a:r>
              <a:rPr sz="3400" b="0" lang="it-IT">
                <a:solidFill>
                  <a:srgbClr val="003366"/>
                </a:solidFill>
                <a:latin typeface="Edu NSW ACT Cursive"/>
              </a:rPr>
              <a:t>1</a:t>
            </a:r>
          </a:p>
        </p:txBody>
      </p:sp>
      <p:sp>
        <p:nvSpPr>
          <p:cNvPr id="6" name="Obiettivo 1"/>
          <p:cNvSpPr txBox="1"/>
          <p:nvPr/>
        </p:nvSpPr>
        <p:spPr>
          <a:xfrm>
            <a:off x="1874519" y="1783080"/>
            <a:ext cx="6355080" cy="1386840"/>
          </a:xfrm>
          <a:prstGeom prst="rect">
            <a:avLst/>
          </a:prstGeom>
          <a:noFill/>
        </p:spPr>
        <p:txBody>
          <a:bodyPr wrap="square" anchor="ctr" lIns="73152" rIns="73152">
            <a:noAutofit/>
          </a:bodyPr>
          <a:lstStyle/>
          <a:p>
            <a:pPr algn="l">
              <a:spcAft>
                <a:spcPts val="0"/>
              </a:spcAft>
            </a:pPr>
            <a:r>
              <a:rPr sz="2800" b="0" lang="it-IT">
                <a:solidFill>
                  <a:srgbClr val="212529"/>
                </a:solidFill>
                <a:latin typeface="Arial"/>
              </a:rPr>
              <a:t>Chi fa parte della Protezione Civile.</a:t>
            </a:r>
          </a:p>
        </p:txBody>
      </p:sp>
      <p:sp>
        <p:nvSpPr>
          <p:cNvPr id="7" name="Numero"/>
          <p:cNvSpPr/>
          <p:nvPr/>
        </p:nvSpPr>
        <p:spPr>
          <a:xfrm>
            <a:off x="914400" y="3497580"/>
            <a:ext cx="731520" cy="731520"/>
          </a:xfrm>
          <a:prstGeom prst="ellipse">
            <a:avLst/>
          </a:prstGeom>
          <a:solidFill>
            <a:srgbClr val="FFFFFF"/>
          </a:solidFill>
          <a:ln w="25400">
            <a:solidFill>
              <a:srgbClr val="003366"/>
            </a:solidFill>
          </a:ln>
        </p:spPr>
        <p:txBody>
          <a:bodyPr rtlCol="0" anchor="ctr" wrap="square" lIns="0" rIns="0" tIns="0" bIns="0">
            <a:noAutofit/>
          </a:bodyPr>
          <a:lstStyle/>
          <a:p>
            <a:pPr algn="ctr"/>
            <a:r>
              <a:rPr sz="3400" b="0" lang="it-IT">
                <a:solidFill>
                  <a:srgbClr val="003366"/>
                </a:solidFill>
                <a:latin typeface="Edu NSW ACT Cursive"/>
              </a:rPr>
              <a:t>2</a:t>
            </a:r>
          </a:p>
        </p:txBody>
      </p:sp>
      <p:sp>
        <p:nvSpPr>
          <p:cNvPr id="8" name="Obiettivo 2"/>
          <p:cNvSpPr txBox="1"/>
          <p:nvPr/>
        </p:nvSpPr>
        <p:spPr>
          <a:xfrm>
            <a:off x="1874519" y="3169920"/>
            <a:ext cx="6355080" cy="1386840"/>
          </a:xfrm>
          <a:prstGeom prst="rect">
            <a:avLst/>
          </a:prstGeom>
          <a:noFill/>
        </p:spPr>
        <p:txBody>
          <a:bodyPr wrap="square" anchor="ctr" lIns="73152" rIns="73152">
            <a:noAutofit/>
          </a:bodyPr>
          <a:lstStyle/>
          <a:p>
            <a:pPr algn="l">
              <a:spcAft>
                <a:spcPts val="0"/>
              </a:spcAft>
            </a:pPr>
            <a:r>
              <a:rPr sz="2800" b="0" lang="it-IT">
                <a:solidFill>
                  <a:srgbClr val="212529"/>
                </a:solidFill>
                <a:latin typeface="Arial"/>
              </a:rPr>
              <a:t>Che cosa fa: prima, durante e dopo un’emergenza.</a:t>
            </a:r>
          </a:p>
        </p:txBody>
      </p:sp>
      <p:sp>
        <p:nvSpPr>
          <p:cNvPr id="9" name="Numero"/>
          <p:cNvSpPr/>
          <p:nvPr/>
        </p:nvSpPr>
        <p:spPr>
          <a:xfrm>
            <a:off x="914400" y="4884420"/>
            <a:ext cx="731520" cy="731520"/>
          </a:xfrm>
          <a:prstGeom prst="ellipse">
            <a:avLst/>
          </a:prstGeom>
          <a:solidFill>
            <a:srgbClr val="FFFFFF"/>
          </a:solidFill>
          <a:ln w="25400">
            <a:solidFill>
              <a:srgbClr val="003366"/>
            </a:solidFill>
          </a:ln>
        </p:spPr>
        <p:txBody>
          <a:bodyPr rtlCol="0" anchor="ctr" wrap="square" lIns="0" rIns="0" tIns="0" bIns="0">
            <a:noAutofit/>
          </a:bodyPr>
          <a:lstStyle/>
          <a:p>
            <a:pPr algn="ctr"/>
            <a:r>
              <a:rPr sz="3400" b="0" lang="it-IT">
                <a:solidFill>
                  <a:srgbClr val="003366"/>
                </a:solidFill>
                <a:latin typeface="Edu NSW ACT Cursive"/>
              </a:rPr>
              <a:t>3</a:t>
            </a:r>
          </a:p>
        </p:txBody>
      </p:sp>
      <p:sp>
        <p:nvSpPr>
          <p:cNvPr id="10" name="Obiettivo 3"/>
          <p:cNvSpPr txBox="1"/>
          <p:nvPr/>
        </p:nvSpPr>
        <p:spPr>
          <a:xfrm>
            <a:off x="1874519" y="4556760"/>
            <a:ext cx="6355080" cy="1386840"/>
          </a:xfrm>
          <a:prstGeom prst="rect">
            <a:avLst/>
          </a:prstGeom>
          <a:noFill/>
        </p:spPr>
        <p:txBody>
          <a:bodyPr wrap="square" anchor="ctr" lIns="73152" rIns="73152">
            <a:noAutofit/>
          </a:bodyPr>
          <a:lstStyle/>
          <a:p>
            <a:pPr algn="l">
              <a:spcAft>
                <a:spcPts val="0"/>
              </a:spcAft>
            </a:pPr>
            <a:r>
              <a:rPr sz="2800" b="0" lang="it-IT">
                <a:solidFill>
                  <a:srgbClr val="212529"/>
                </a:solidFill>
                <a:latin typeface="Arial"/>
              </a:rPr>
              <a:t>Perché in Italia è nata.</a:t>
            </a:r>
          </a:p>
        </p:txBody>
      </p:sp>
      <p:sp>
        <p:nvSpPr>
          <p:cNvPr id="11" name="Cartoncino">
            <a:extLst>
              <a:ext uri="{C183D7F6-B498-43B3-948B-1728B52AA6E4}">
                <adec:decorative xmlns:adec="http://schemas.microsoft.com/office/drawing/2017/decorative" val="1"/>
              </a:ext>
            </a:extLst>
          </p:cNvPr>
          <p:cNvSpPr/>
          <p:nvPr/>
        </p:nvSpPr>
        <p:spPr>
          <a:xfrm rot="120000">
            <a:off x="8915400" y="2011680"/>
            <a:ext cx="2651760" cy="2651760"/>
          </a:xfrm>
          <a:prstGeom prst="rect">
            <a:avLst/>
          </a:prstGeom>
          <a:solidFill>
            <a:srgbClr val="FFFFFF"/>
          </a:solidFill>
          <a:ln w="9525">
            <a:solidFill>
              <a:srgbClr val="ADB5BD"/>
            </a:solidFill>
          </a:ln>
          <a:effectLst>
            <a:outerShdw blurRad="63500" dist="25400" dir="5400000" algn="t" rotWithShape="0">
              <a:srgbClr val="000000">
                <a:alpha val="22000"/>
              </a:srgbClr>
            </a:outerShdw>
          </a:effectLst>
        </p:spPr>
        <p:txBody>
          <a:bodyPr rtlCol="0" anchor="ctr"/>
          <a:lstStyle/>
          <a:p>
            <a:pPr algn="ctr"/>
          </a:p>
        </p:txBody>
      </p:sp>
      <p:pic>
        <p:nvPicPr>
          <p:cNvPr id="12" name="Pittogramma" descr="Pittogramma: una scuola"/>
          <p:cNvPicPr>
            <a:picLocks noChangeAspect="1"/>
          </p:cNvPicPr>
          <p:nvPr/>
        </p:nvPicPr>
        <p:blipFill>
          <a:blip r:embed="rId3"/>
          <a:stretch>
            <a:fillRect/>
          </a:stretch>
        </p:blipFill>
        <p:spPr>
          <a:xfrm rot="120000">
            <a:off x="9101023" y="2197303"/>
            <a:ext cx="2280513" cy="2280513"/>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ennellata"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8368" y="1148080"/>
            <a:ext cx="6371170" cy="201168"/>
          </a:xfrm>
          <a:prstGeom prst="rect">
            <a:avLst/>
          </a:prstGeom>
        </p:spPr>
      </p:pic>
      <p:sp>
        <p:nvSpPr>
          <p:cNvPr id="2" name="Title 1"/>
          <p:cNvSpPr>
            <a:spLocks noGrp="1"/>
          </p:cNvSpPr>
          <p:nvPr>
            <p:ph type="title"/>
          </p:nvPr>
        </p:nvSpPr>
        <p:spPr>
          <a:xfrm>
            <a:off x="640080" y="228600"/>
            <a:ext cx="10972800" cy="1230630"/>
          </a:xfrm>
        </p:spPr>
        <p:txBody>
          <a:bodyPr wrap="square" anchor="b">
            <a:noAutofit/>
          </a:bodyPr>
          <a:lstStyle/>
          <a:p>
            <a:pPr algn="l"/>
            <a:r>
              <a:rPr sz="4600" b="0" lang="it-IT">
                <a:solidFill>
                  <a:srgbClr val="003366"/>
                </a:solidFill>
                <a:latin typeface="Edu NSW ACT Cursive"/>
              </a:rPr>
              <a:t>Flavio vede un camion</a:t>
            </a:r>
          </a:p>
        </p:txBody>
      </p:sp>
      <p:sp>
        <p:nvSpPr>
          <p:cNvPr id="4" name="Cartoncino">
            <a:extLst>
              <a:ext uri="{C183D7F6-B498-43B3-948B-1728B52AA6E4}">
                <adec:decorative xmlns:adec="http://schemas.microsoft.com/office/drawing/2017/decorative" val="1"/>
              </a:ext>
            </a:extLst>
          </p:cNvPr>
          <p:cNvSpPr/>
          <p:nvPr/>
        </p:nvSpPr>
        <p:spPr>
          <a:xfrm rot="21480000">
            <a:off x="777240" y="1783080"/>
            <a:ext cx="2606040" cy="2606040"/>
          </a:xfrm>
          <a:prstGeom prst="rect">
            <a:avLst/>
          </a:prstGeom>
          <a:solidFill>
            <a:srgbClr val="FFFFFF"/>
          </a:solidFill>
          <a:ln w="9525">
            <a:solidFill>
              <a:srgbClr val="ADB5BD"/>
            </a:solidFill>
          </a:ln>
          <a:effectLst>
            <a:outerShdw blurRad="63500" dist="25400" dir="5400000" algn="t" rotWithShape="0">
              <a:srgbClr val="000000">
                <a:alpha val="22000"/>
              </a:srgbClr>
            </a:outerShdw>
          </a:effectLst>
        </p:spPr>
        <p:txBody>
          <a:bodyPr rtlCol="0" anchor="ctr"/>
          <a:lstStyle/>
          <a:p>
            <a:pPr algn="ctr"/>
          </a:p>
        </p:txBody>
      </p:sp>
      <p:pic>
        <p:nvPicPr>
          <p:cNvPr id="5" name="Pittogramma" descr="Pittogramma: un bambino"/>
          <p:cNvPicPr>
            <a:picLocks noChangeAspect="1"/>
          </p:cNvPicPr>
          <p:nvPr/>
        </p:nvPicPr>
        <p:blipFill>
          <a:blip r:embed="rId3"/>
          <a:stretch>
            <a:fillRect/>
          </a:stretch>
        </p:blipFill>
        <p:spPr>
          <a:xfrm rot="21480000">
            <a:off x="959662" y="1965502"/>
            <a:ext cx="2241194" cy="2241194"/>
          </a:xfrm>
          <a:prstGeom prst="rect">
            <a:avLst/>
          </a:prstGeom>
        </p:spPr>
      </p:pic>
      <p:sp>
        <p:nvSpPr>
          <p:cNvPr id="6" name="Nome"/>
          <p:cNvSpPr/>
          <p:nvPr/>
        </p:nvSpPr>
        <p:spPr>
          <a:xfrm rot="120000">
            <a:off x="1051560" y="4617720"/>
            <a:ext cx="2103120" cy="713232"/>
          </a:xfrm>
          <a:prstGeom prst="rect">
            <a:avLst/>
          </a:prstGeom>
          <a:solidFill>
            <a:srgbClr val="DCEEFA"/>
          </a:solidFill>
          <a:ln>
            <a:noFill/>
          </a:ln>
          <a:effectLst>
            <a:outerShdw blurRad="63500" dist="25400" dir="5400000" algn="t" rotWithShape="0">
              <a:srgbClr val="000000">
                <a:alpha val="22000"/>
              </a:srgbClr>
            </a:outerShdw>
          </a:effectLst>
        </p:spPr>
        <p:txBody>
          <a:bodyPr rtlCol="0" anchor="ctr" wrap="none" lIns="109728" rIns="109728" tIns="36576" bIns="36576">
            <a:noAutofit/>
          </a:bodyPr>
          <a:lstStyle/>
          <a:p>
            <a:pPr algn="ctr"/>
            <a:r>
              <a:rPr sz="3200" b="0" lang="it-IT">
                <a:solidFill>
                  <a:srgbClr val="003366"/>
                </a:solidFill>
                <a:latin typeface="Edu NSW ACT Cursive"/>
              </a:rPr>
              <a:t>Flavio</a:t>
            </a:r>
          </a:p>
        </p:txBody>
      </p:sp>
      <p:sp>
        <p:nvSpPr>
          <p:cNvPr id="7" name="Foglietto della storia">
            <a:extLst>
              <a:ext uri="{C183D7F6-B498-43B3-948B-1728B52AA6E4}">
                <adec:decorative xmlns:adec="http://schemas.microsoft.com/office/drawing/2017/decorative" val="1"/>
              </a:ext>
            </a:extLst>
          </p:cNvPr>
          <p:cNvSpPr/>
          <p:nvPr/>
        </p:nvSpPr>
        <p:spPr>
          <a:xfrm rot="21540000">
            <a:off x="3794760" y="1645920"/>
            <a:ext cx="7726679" cy="3154680"/>
          </a:xfrm>
          <a:prstGeom prst="rect">
            <a:avLst/>
          </a:prstGeom>
          <a:solidFill>
            <a:srgbClr val="FFF0A8"/>
          </a:solidFill>
          <a:ln>
            <a:noFill/>
          </a:ln>
          <a:effectLst>
            <a:outerShdw blurRad="63500" dist="25400" dir="5400000" algn="t" rotWithShape="0">
              <a:srgbClr val="000000">
                <a:alpha val="22000"/>
              </a:srgbClr>
            </a:outerShdw>
          </a:effectLst>
        </p:spPr>
        <p:txBody>
          <a:bodyPr rtlCol="0" anchor="ctr"/>
          <a:lstStyle/>
          <a:p>
            <a:pPr algn="ctr"/>
          </a:p>
        </p:txBody>
      </p:sp>
      <p:sp>
        <p:nvSpPr>
          <p:cNvPr id="8" name="Storia"/>
          <p:cNvSpPr txBox="1"/>
          <p:nvPr/>
        </p:nvSpPr>
        <p:spPr>
          <a:xfrm>
            <a:off x="4069080" y="1783080"/>
            <a:ext cx="7223760" cy="2880360"/>
          </a:xfrm>
          <a:prstGeom prst="rect">
            <a:avLst/>
          </a:prstGeom>
          <a:noFill/>
        </p:spPr>
        <p:txBody>
          <a:bodyPr wrap="square" anchor="ctr" lIns="73152" rIns="73152">
            <a:noAutofit/>
          </a:bodyPr>
          <a:lstStyle/>
          <a:p>
            <a:pPr algn="l">
              <a:spcAft>
                <a:spcPts val="1200"/>
              </a:spcAft>
            </a:pPr>
            <a:r>
              <a:rPr sz="2800" b="0" lang="it-IT">
                <a:solidFill>
                  <a:srgbClr val="212529"/>
                </a:solidFill>
                <a:latin typeface="Arial"/>
              </a:rPr>
              <a:t>Flavio è in piazza con la nonna.</a:t>
            </a:r>
          </a:p>
          <a:p>
            <a:pPr algn="l">
              <a:spcAft>
                <a:spcPts val="1200"/>
              </a:spcAft>
            </a:pPr>
            <a:r>
              <a:rPr sz="2800" b="0" lang="it-IT">
                <a:solidFill>
                  <a:srgbClr val="212529"/>
                </a:solidFill>
                <a:latin typeface="Arial"/>
              </a:rPr>
              <a:t>Passa un camion con la scritta «Protezione Civile».</a:t>
            </a:r>
          </a:p>
          <a:p>
            <a:pPr algn="l">
              <a:spcAft>
                <a:spcPts val="0"/>
              </a:spcAft>
            </a:pPr>
            <a:r>
              <a:rPr sz="2800" b="0" lang="it-IT">
                <a:solidFill>
                  <a:srgbClr val="212529"/>
                </a:solidFill>
                <a:latin typeface="Arial"/>
              </a:rPr>
              <a:t>Flavio chiede: «Chi sono? Che cosa fanno?»</a:t>
            </a:r>
          </a:p>
        </p:txBody>
      </p:sp>
      <p:sp>
        <p:nvSpPr>
          <p:cNvPr id="9" name="Riquadro">
            <a:extLst>
              <a:ext uri="{C183D7F6-B498-43B3-948B-1728B52AA6E4}">
                <adec:decorative xmlns:adec="http://schemas.microsoft.com/office/drawing/2017/decorative" val="1"/>
              </a:ext>
            </a:extLst>
          </p:cNvPr>
          <p:cNvSpPr/>
          <p:nvPr/>
        </p:nvSpPr>
        <p:spPr>
          <a:xfrm>
            <a:off x="3794760" y="5120640"/>
            <a:ext cx="7726679" cy="1188720"/>
          </a:xfrm>
          <a:prstGeom prst="roundRect">
            <a:avLst>
              <a:gd name="adj" fmla="val 9230"/>
            </a:avLst>
          </a:prstGeom>
          <a:noFill/>
          <a:ln w="19050">
            <a:solidFill>
              <a:srgbClr val="003366"/>
            </a:solidFill>
            <a:prstDash val="dash"/>
          </a:ln>
        </p:spPr>
        <p:txBody>
          <a:bodyPr rtlCol="0" anchor="ctr"/>
          <a:lstStyle/>
          <a:p>
            <a:pPr algn="ctr"/>
          </a:p>
        </p:txBody>
      </p:sp>
      <p:pic>
        <p:nvPicPr>
          <p:cNvPr id="10" name="Icona"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023360" y="5349240"/>
            <a:ext cx="731520" cy="731520"/>
          </a:xfrm>
          <a:prstGeom prst="rect">
            <a:avLst/>
          </a:prstGeom>
        </p:spPr>
      </p:pic>
      <p:sp>
        <p:nvSpPr>
          <p:cNvPr id="11" name="Domanda"/>
          <p:cNvSpPr txBox="1"/>
          <p:nvPr/>
        </p:nvSpPr>
        <p:spPr>
          <a:xfrm>
            <a:off x="4846320" y="5166360"/>
            <a:ext cx="6583680" cy="1097280"/>
          </a:xfrm>
          <a:prstGeom prst="rect">
            <a:avLst/>
          </a:prstGeom>
          <a:noFill/>
        </p:spPr>
        <p:txBody>
          <a:bodyPr wrap="square" anchor="ctr" lIns="73152" rIns="73152">
            <a:noAutofit/>
          </a:bodyPr>
          <a:lstStyle/>
          <a:p>
            <a:pPr algn="l">
              <a:spcAft>
                <a:spcPts val="0"/>
              </a:spcAft>
            </a:pPr>
            <a:r>
              <a:rPr sz="2800" b="1" lang="it-IT">
                <a:solidFill>
                  <a:srgbClr val="003366"/>
                </a:solidFill>
                <a:latin typeface="Arial"/>
              </a:rPr>
              <a:t>Voi che cosa gli rispondereste?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ennellata"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8368" y="1148080"/>
            <a:ext cx="8408276" cy="201168"/>
          </a:xfrm>
          <a:prstGeom prst="rect">
            <a:avLst/>
          </a:prstGeom>
        </p:spPr>
      </p:pic>
      <p:sp>
        <p:nvSpPr>
          <p:cNvPr id="2" name="Title 1"/>
          <p:cNvSpPr>
            <a:spLocks noGrp="1"/>
          </p:cNvSpPr>
          <p:nvPr>
            <p:ph type="title"/>
          </p:nvPr>
        </p:nvSpPr>
        <p:spPr>
          <a:xfrm>
            <a:off x="640080" y="228600"/>
            <a:ext cx="10972800" cy="1230630"/>
          </a:xfrm>
        </p:spPr>
        <p:txBody>
          <a:bodyPr wrap="square" anchor="b">
            <a:noAutofit/>
          </a:bodyPr>
          <a:lstStyle/>
          <a:p>
            <a:pPr algn="l"/>
            <a:r>
              <a:rPr sz="4600" b="0" lang="it-IT">
                <a:solidFill>
                  <a:srgbClr val="003366"/>
                </a:solidFill>
                <a:latin typeface="Edu NSW ACT Cursive"/>
              </a:rPr>
              <a:t>Una squadra di tante squadre</a:t>
            </a:r>
          </a:p>
        </p:txBody>
      </p:sp>
      <p:sp>
        <p:nvSpPr>
          <p:cNvPr id="4" name="Riquadro">
            <a:extLst>
              <a:ext uri="{C183D7F6-B498-43B3-948B-1728B52AA6E4}">
                <adec:decorative xmlns:adec="http://schemas.microsoft.com/office/drawing/2017/decorative" val="1"/>
              </a:ext>
            </a:extLst>
          </p:cNvPr>
          <p:cNvSpPr/>
          <p:nvPr/>
        </p:nvSpPr>
        <p:spPr>
          <a:xfrm>
            <a:off x="640080" y="1600200"/>
            <a:ext cx="7406640" cy="4526280"/>
          </a:xfrm>
          <a:prstGeom prst="roundRect">
            <a:avLst>
              <a:gd name="adj" fmla="val 2424"/>
            </a:avLst>
          </a:prstGeom>
          <a:noFill/>
          <a:ln w="19050">
            <a:solidFill>
              <a:srgbClr val="003366"/>
            </a:solidFill>
            <a:prstDash val="dash"/>
          </a:ln>
        </p:spPr>
        <p:txBody>
          <a:bodyPr rtlCol="0" anchor="ctr"/>
          <a:lstStyle/>
          <a:p>
            <a:pPr algn="ctr"/>
          </a:p>
        </p:txBody>
      </p:sp>
      <p:sp>
        <p:nvSpPr>
          <p:cNvPr id="5" name="Testo"/>
          <p:cNvSpPr txBox="1"/>
          <p:nvPr/>
        </p:nvSpPr>
        <p:spPr>
          <a:xfrm>
            <a:off x="914400" y="1783080"/>
            <a:ext cx="6903720" cy="4160520"/>
          </a:xfrm>
          <a:prstGeom prst="rect">
            <a:avLst/>
          </a:prstGeom>
          <a:noFill/>
        </p:spPr>
        <p:txBody>
          <a:bodyPr wrap="square" anchor="ctr" lIns="73152" rIns="73152">
            <a:noAutofit/>
          </a:bodyPr>
          <a:lstStyle/>
          <a:p>
            <a:pPr algn="l" marL="384048" indent="-384048">
              <a:spcAft>
                <a:spcPts val="1200"/>
              </a:spcAft>
              <a:buClr>
                <a:srgbClr val="003366"/>
              </a:buClr>
              <a:buFont typeface="Arial"/>
              <a:buChar char="•"/>
            </a:pPr>
            <a:r>
              <a:rPr sz="2800" b="0" lang="it-IT">
                <a:solidFill>
                  <a:srgbClr val="212529"/>
                </a:solidFill>
                <a:latin typeface="Arial"/>
              </a:rPr>
              <a:t>La Protezione Civile non è una persona sola.</a:t>
            </a:r>
          </a:p>
          <a:p>
            <a:pPr algn="l" marL="384048" indent="-384048">
              <a:spcAft>
                <a:spcPts val="1200"/>
              </a:spcAft>
              <a:buClr>
                <a:srgbClr val="003366"/>
              </a:buClr>
              <a:buFont typeface="Arial"/>
              <a:buChar char="•"/>
            </a:pPr>
            <a:r>
              <a:rPr sz="2800" b="0" lang="it-IT">
                <a:solidFill>
                  <a:srgbClr val="212529"/>
                </a:solidFill>
                <a:latin typeface="Arial"/>
              </a:rPr>
              <a:t>È un </a:t>
            </a:r>
            <a:r>
              <a:rPr sz="2800" b="0" lang="it-IT">
                <a:solidFill>
                  <a:srgbClr val="212529"/>
                </a:solidFill>
                <a:highlight>
                  <a:srgbClr val="FFF0A8"/>
                </a:highlight>
                <a:latin typeface="Arial"/>
              </a:rPr>
              <a:t>sistema</a:t>
            </a:r>
            <a:r>
              <a:rPr sz="2800" b="0" lang="it-IT">
                <a:solidFill>
                  <a:srgbClr val="212529"/>
                </a:solidFill>
                <a:latin typeface="Arial"/>
              </a:rPr>
              <a:t>: tanti che lavorano insieme.</a:t>
            </a:r>
          </a:p>
          <a:p>
            <a:pPr algn="l" marL="384048" indent="-384048">
              <a:spcAft>
                <a:spcPts val="0"/>
              </a:spcAft>
              <a:buClr>
                <a:srgbClr val="003366"/>
              </a:buClr>
              <a:buFont typeface="Arial"/>
              <a:buChar char="•"/>
            </a:pPr>
            <a:r>
              <a:rPr sz="2800" b="0" lang="it-IT">
                <a:solidFill>
                  <a:srgbClr val="212529"/>
                </a:solidFill>
                <a:latin typeface="Arial"/>
              </a:rPr>
              <a:t>Protegge persone, animali, ambiente e case dai pericoli.</a:t>
            </a:r>
          </a:p>
        </p:txBody>
      </p:sp>
      <p:sp>
        <p:nvSpPr>
          <p:cNvPr id="6" name="Cartoncino">
            <a:extLst>
              <a:ext uri="{C183D7F6-B498-43B3-948B-1728B52AA6E4}">
                <adec:decorative xmlns:adec="http://schemas.microsoft.com/office/drawing/2017/decorative" val="1"/>
              </a:ext>
            </a:extLst>
          </p:cNvPr>
          <p:cNvSpPr/>
          <p:nvPr/>
        </p:nvSpPr>
        <p:spPr>
          <a:xfrm rot="120000">
            <a:off x="8503920" y="2057400"/>
            <a:ext cx="2926080" cy="2926080"/>
          </a:xfrm>
          <a:prstGeom prst="rect">
            <a:avLst/>
          </a:prstGeom>
          <a:solidFill>
            <a:srgbClr val="FFFFFF"/>
          </a:solidFill>
          <a:ln w="9525">
            <a:solidFill>
              <a:srgbClr val="ADB5BD"/>
            </a:solidFill>
          </a:ln>
          <a:effectLst>
            <a:outerShdw blurRad="63500" dist="25400" dir="5400000" algn="t" rotWithShape="0">
              <a:srgbClr val="000000">
                <a:alpha val="22000"/>
              </a:srgbClr>
            </a:outerShdw>
          </a:effectLst>
        </p:spPr>
        <p:txBody>
          <a:bodyPr rtlCol="0" anchor="ctr"/>
          <a:lstStyle/>
          <a:p>
            <a:pPr algn="ctr"/>
          </a:p>
        </p:txBody>
      </p:sp>
      <p:pic>
        <p:nvPicPr>
          <p:cNvPr id="7" name="Pittogramma" descr="Pittogramma: un gruppo di persone"/>
          <p:cNvPicPr>
            <a:picLocks noChangeAspect="1"/>
          </p:cNvPicPr>
          <p:nvPr/>
        </p:nvPicPr>
        <p:blipFill>
          <a:blip r:embed="rId3"/>
          <a:stretch>
            <a:fillRect/>
          </a:stretch>
        </p:blipFill>
        <p:spPr>
          <a:xfrm rot="120000">
            <a:off x="8708745" y="2262225"/>
            <a:ext cx="2516428" cy="251642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ennellata"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8368" y="1148080"/>
            <a:ext cx="7269378" cy="201168"/>
          </a:xfrm>
          <a:prstGeom prst="rect">
            <a:avLst/>
          </a:prstGeom>
        </p:spPr>
      </p:pic>
      <p:sp>
        <p:nvSpPr>
          <p:cNvPr id="2" name="Title 1"/>
          <p:cNvSpPr>
            <a:spLocks noGrp="1"/>
          </p:cNvSpPr>
          <p:nvPr>
            <p:ph type="title"/>
          </p:nvPr>
        </p:nvSpPr>
        <p:spPr>
          <a:xfrm>
            <a:off x="640080" y="228600"/>
            <a:ext cx="10972800" cy="1230630"/>
          </a:xfrm>
        </p:spPr>
        <p:txBody>
          <a:bodyPr wrap="square" anchor="b">
            <a:noAutofit/>
          </a:bodyPr>
          <a:lstStyle/>
          <a:p>
            <a:pPr algn="l"/>
            <a:r>
              <a:rPr sz="4600" b="0" lang="it-IT">
                <a:solidFill>
                  <a:srgbClr val="003366"/>
                </a:solidFill>
                <a:latin typeface="Edu NSW ACT Cursive"/>
              </a:rPr>
              <a:t>Chi fa parte della squadra</a:t>
            </a:r>
          </a:p>
        </p:txBody>
      </p:sp>
      <p:sp>
        <p:nvSpPr>
          <p:cNvPr id="4" name="Foglietto">
            <a:extLst>
              <a:ext uri="{C183D7F6-B498-43B3-948B-1728B52AA6E4}">
                <adec:decorative xmlns:adec="http://schemas.microsoft.com/office/drawing/2017/decorative" val="1"/>
              </a:ext>
            </a:extLst>
          </p:cNvPr>
          <p:cNvSpPr/>
          <p:nvPr/>
        </p:nvSpPr>
        <p:spPr>
          <a:xfrm rot="21480000">
            <a:off x="640080" y="1783080"/>
            <a:ext cx="2468880" cy="3520440"/>
          </a:xfrm>
          <a:prstGeom prst="rect">
            <a:avLst/>
          </a:prstGeom>
          <a:solidFill>
            <a:srgbClr val="FFF0A8"/>
          </a:solidFill>
          <a:ln>
            <a:noFill/>
          </a:ln>
          <a:effectLst>
            <a:outerShdw blurRad="63500" dist="25400" dir="5400000" algn="t" rotWithShape="0">
              <a:srgbClr val="000000">
                <a:alpha val="22000"/>
              </a:srgbClr>
            </a:outerShdw>
          </a:effectLst>
        </p:spPr>
        <p:txBody>
          <a:bodyPr rtlCol="0" anchor="ctr"/>
          <a:lstStyle/>
          <a:p>
            <a:pPr algn="ctr"/>
          </a:p>
        </p:txBody>
      </p:sp>
      <p:pic>
        <p:nvPicPr>
          <p:cNvPr id="5" name="Pittogramma" descr="Pittogramma: un vigile del fuoco con l’estintore"/>
          <p:cNvPicPr>
            <a:picLocks noChangeAspect="1"/>
          </p:cNvPicPr>
          <p:nvPr/>
        </p:nvPicPr>
        <p:blipFill>
          <a:blip r:embed="rId3"/>
          <a:stretch>
            <a:fillRect/>
          </a:stretch>
        </p:blipFill>
        <p:spPr>
          <a:xfrm rot="21480000">
            <a:off x="914400" y="1965960"/>
            <a:ext cx="1920240" cy="1920240"/>
          </a:xfrm>
          <a:prstGeom prst="rect">
            <a:avLst/>
          </a:prstGeom>
        </p:spPr>
      </p:pic>
      <p:sp>
        <p:nvSpPr>
          <p:cNvPr id="6" name="Voce 1"/>
          <p:cNvSpPr txBox="1"/>
          <p:nvPr/>
        </p:nvSpPr>
        <p:spPr>
          <a:xfrm>
            <a:off x="731519" y="3977639"/>
            <a:ext cx="2286000" cy="1234440"/>
          </a:xfrm>
          <a:prstGeom prst="rect">
            <a:avLst/>
          </a:prstGeom>
          <a:noFill/>
        </p:spPr>
        <p:txBody>
          <a:bodyPr wrap="square" anchor="t" lIns="73152" rIns="73152">
            <a:noAutofit/>
          </a:bodyPr>
          <a:lstStyle/>
          <a:p>
            <a:pPr algn="ctr">
              <a:spcAft>
                <a:spcPts val="0"/>
              </a:spcAft>
            </a:pPr>
            <a:r>
              <a:rPr sz="2800" b="1" lang="it-IT">
                <a:solidFill>
                  <a:srgbClr val="003366"/>
                </a:solidFill>
                <a:latin typeface="Arial"/>
              </a:rPr>
              <a:t>Vigili del Fuoco</a:t>
            </a:r>
          </a:p>
        </p:txBody>
      </p:sp>
      <p:sp>
        <p:nvSpPr>
          <p:cNvPr id="7" name="Foglietto">
            <a:extLst>
              <a:ext uri="{C183D7F6-B498-43B3-948B-1728B52AA6E4}">
                <adec:decorative xmlns:adec="http://schemas.microsoft.com/office/drawing/2017/decorative" val="1"/>
              </a:ext>
            </a:extLst>
          </p:cNvPr>
          <p:cNvSpPr/>
          <p:nvPr/>
        </p:nvSpPr>
        <p:spPr>
          <a:xfrm rot="90000">
            <a:off x="3474720" y="1783080"/>
            <a:ext cx="2468880" cy="3520440"/>
          </a:xfrm>
          <a:prstGeom prst="rect">
            <a:avLst/>
          </a:prstGeom>
          <a:solidFill>
            <a:srgbClr val="F8DFE5"/>
          </a:solidFill>
          <a:ln>
            <a:noFill/>
          </a:ln>
          <a:effectLst>
            <a:outerShdw blurRad="63500" dist="25400" dir="5400000" algn="t" rotWithShape="0">
              <a:srgbClr val="000000">
                <a:alpha val="22000"/>
              </a:srgbClr>
            </a:outerShdw>
          </a:effectLst>
        </p:spPr>
        <p:txBody>
          <a:bodyPr rtlCol="0" anchor="ctr"/>
          <a:lstStyle/>
          <a:p>
            <a:pPr algn="ctr"/>
          </a:p>
        </p:txBody>
      </p:sp>
      <p:pic>
        <p:nvPicPr>
          <p:cNvPr id="8" name="Pittogramma" descr="Pittogramma: un’ambulanza"/>
          <p:cNvPicPr>
            <a:picLocks noChangeAspect="1"/>
          </p:cNvPicPr>
          <p:nvPr/>
        </p:nvPicPr>
        <p:blipFill>
          <a:blip r:embed="rId4"/>
          <a:stretch>
            <a:fillRect/>
          </a:stretch>
        </p:blipFill>
        <p:spPr>
          <a:xfrm rot="90000">
            <a:off x="3749039" y="1965960"/>
            <a:ext cx="1920240" cy="1920240"/>
          </a:xfrm>
          <a:prstGeom prst="rect">
            <a:avLst/>
          </a:prstGeom>
        </p:spPr>
      </p:pic>
      <p:sp>
        <p:nvSpPr>
          <p:cNvPr id="9" name="Voce 2"/>
          <p:cNvSpPr txBox="1"/>
          <p:nvPr/>
        </p:nvSpPr>
        <p:spPr>
          <a:xfrm>
            <a:off x="3566160" y="3977639"/>
            <a:ext cx="2286000" cy="1234440"/>
          </a:xfrm>
          <a:prstGeom prst="rect">
            <a:avLst/>
          </a:prstGeom>
          <a:noFill/>
        </p:spPr>
        <p:txBody>
          <a:bodyPr wrap="square" anchor="t" lIns="73152" rIns="73152">
            <a:noAutofit/>
          </a:bodyPr>
          <a:lstStyle/>
          <a:p>
            <a:pPr algn="ctr">
              <a:spcAft>
                <a:spcPts val="0"/>
              </a:spcAft>
            </a:pPr>
            <a:r>
              <a:rPr sz="2800" b="1" lang="it-IT">
                <a:solidFill>
                  <a:srgbClr val="003366"/>
                </a:solidFill>
                <a:latin typeface="Arial"/>
              </a:rPr>
              <a:t>Medici e ambulanze</a:t>
            </a:r>
          </a:p>
        </p:txBody>
      </p:sp>
      <p:sp>
        <p:nvSpPr>
          <p:cNvPr id="10" name="Foglietto">
            <a:extLst>
              <a:ext uri="{C183D7F6-B498-43B3-948B-1728B52AA6E4}">
                <adec:decorative xmlns:adec="http://schemas.microsoft.com/office/drawing/2017/decorative" val="1"/>
              </a:ext>
            </a:extLst>
          </p:cNvPr>
          <p:cNvSpPr/>
          <p:nvPr/>
        </p:nvSpPr>
        <p:spPr>
          <a:xfrm rot="21510000">
            <a:off x="6309360" y="1783080"/>
            <a:ext cx="2468880" cy="3520440"/>
          </a:xfrm>
          <a:prstGeom prst="rect">
            <a:avLst/>
          </a:prstGeom>
          <a:solidFill>
            <a:srgbClr val="EDF7F0"/>
          </a:solidFill>
          <a:ln>
            <a:noFill/>
          </a:ln>
          <a:effectLst>
            <a:outerShdw blurRad="63500" dist="25400" dir="5400000" algn="t" rotWithShape="0">
              <a:srgbClr val="000000">
                <a:alpha val="22000"/>
              </a:srgbClr>
            </a:outerShdw>
          </a:effectLst>
        </p:spPr>
        <p:txBody>
          <a:bodyPr rtlCol="0" anchor="ctr"/>
          <a:lstStyle/>
          <a:p>
            <a:pPr algn="ctr"/>
          </a:p>
        </p:txBody>
      </p:sp>
      <p:pic>
        <p:nvPicPr>
          <p:cNvPr id="11" name="Pittogramma" descr="Pittogramma: un poliziotto accanto all’auto della polizia"/>
          <p:cNvPicPr>
            <a:picLocks noChangeAspect="1"/>
          </p:cNvPicPr>
          <p:nvPr/>
        </p:nvPicPr>
        <p:blipFill>
          <a:blip r:embed="rId5"/>
          <a:stretch>
            <a:fillRect/>
          </a:stretch>
        </p:blipFill>
        <p:spPr>
          <a:xfrm rot="21510000">
            <a:off x="6583680" y="1965960"/>
            <a:ext cx="1920240" cy="1920240"/>
          </a:xfrm>
          <a:prstGeom prst="rect">
            <a:avLst/>
          </a:prstGeom>
        </p:spPr>
      </p:pic>
      <p:sp>
        <p:nvSpPr>
          <p:cNvPr id="12" name="Voce 3"/>
          <p:cNvSpPr txBox="1"/>
          <p:nvPr/>
        </p:nvSpPr>
        <p:spPr>
          <a:xfrm>
            <a:off x="6400800" y="3977639"/>
            <a:ext cx="2286000" cy="1234440"/>
          </a:xfrm>
          <a:prstGeom prst="rect">
            <a:avLst/>
          </a:prstGeom>
          <a:noFill/>
        </p:spPr>
        <p:txBody>
          <a:bodyPr wrap="square" anchor="t" lIns="73152" rIns="73152">
            <a:noAutofit/>
          </a:bodyPr>
          <a:lstStyle/>
          <a:p>
            <a:pPr algn="ctr">
              <a:spcAft>
                <a:spcPts val="0"/>
              </a:spcAft>
            </a:pPr>
            <a:r>
              <a:rPr sz="2800" b="1" lang="it-IT">
                <a:solidFill>
                  <a:srgbClr val="003366"/>
                </a:solidFill>
                <a:latin typeface="Arial"/>
              </a:rPr>
              <a:t>Forze dell’ordine</a:t>
            </a:r>
          </a:p>
        </p:txBody>
      </p:sp>
      <p:sp>
        <p:nvSpPr>
          <p:cNvPr id="13" name="Foglietto">
            <a:extLst>
              <a:ext uri="{C183D7F6-B498-43B3-948B-1728B52AA6E4}">
                <adec:decorative xmlns:adec="http://schemas.microsoft.com/office/drawing/2017/decorative" val="1"/>
              </a:ext>
            </a:extLst>
          </p:cNvPr>
          <p:cNvSpPr/>
          <p:nvPr/>
        </p:nvSpPr>
        <p:spPr>
          <a:xfrm rot="120000">
            <a:off x="9144000" y="1783080"/>
            <a:ext cx="2468880" cy="3520440"/>
          </a:xfrm>
          <a:prstGeom prst="rect">
            <a:avLst/>
          </a:prstGeom>
          <a:solidFill>
            <a:srgbClr val="DCEEFA"/>
          </a:solidFill>
          <a:ln>
            <a:noFill/>
          </a:ln>
          <a:effectLst>
            <a:outerShdw blurRad="63500" dist="25400" dir="5400000" algn="t" rotWithShape="0">
              <a:srgbClr val="000000">
                <a:alpha val="22000"/>
              </a:srgbClr>
            </a:outerShdw>
          </a:effectLst>
        </p:spPr>
        <p:txBody>
          <a:bodyPr rtlCol="0" anchor="ctr"/>
          <a:lstStyle/>
          <a:p>
            <a:pPr algn="ctr"/>
          </a:p>
        </p:txBody>
      </p:sp>
      <p:pic>
        <p:nvPicPr>
          <p:cNvPr id="14" name="Pittogramma" descr="Pittogramma: una persona aiuta un’altra a rialzarsi"/>
          <p:cNvPicPr>
            <a:picLocks noChangeAspect="1"/>
          </p:cNvPicPr>
          <p:nvPr/>
        </p:nvPicPr>
        <p:blipFill>
          <a:blip r:embed="rId6"/>
          <a:stretch>
            <a:fillRect/>
          </a:stretch>
        </p:blipFill>
        <p:spPr>
          <a:xfrm rot="120000">
            <a:off x="9418320" y="1965960"/>
            <a:ext cx="1920240" cy="1920240"/>
          </a:xfrm>
          <a:prstGeom prst="rect">
            <a:avLst/>
          </a:prstGeom>
        </p:spPr>
      </p:pic>
      <p:sp>
        <p:nvSpPr>
          <p:cNvPr id="15" name="Voce 4"/>
          <p:cNvSpPr txBox="1"/>
          <p:nvPr/>
        </p:nvSpPr>
        <p:spPr>
          <a:xfrm>
            <a:off x="9235440" y="3977639"/>
            <a:ext cx="2286000" cy="1234440"/>
          </a:xfrm>
          <a:prstGeom prst="rect">
            <a:avLst/>
          </a:prstGeom>
          <a:noFill/>
        </p:spPr>
        <p:txBody>
          <a:bodyPr wrap="square" anchor="t" lIns="73152" rIns="73152">
            <a:noAutofit/>
          </a:bodyPr>
          <a:lstStyle/>
          <a:p>
            <a:pPr algn="ctr">
              <a:spcAft>
                <a:spcPts val="0"/>
              </a:spcAft>
            </a:pPr>
            <a:r>
              <a:rPr sz="2800" b="1" lang="it-IT">
                <a:solidFill>
                  <a:srgbClr val="003366"/>
                </a:solidFill>
                <a:latin typeface="Arial"/>
              </a:rPr>
              <a:t>Volontari</a:t>
            </a:r>
          </a:p>
        </p:txBody>
      </p:sp>
      <p:sp>
        <p:nvSpPr>
          <p:cNvPr id="16" name="Nota"/>
          <p:cNvSpPr txBox="1"/>
          <p:nvPr/>
        </p:nvSpPr>
        <p:spPr>
          <a:xfrm>
            <a:off x="640080" y="5532120"/>
            <a:ext cx="10972800" cy="1051560"/>
          </a:xfrm>
          <a:prstGeom prst="rect">
            <a:avLst/>
          </a:prstGeom>
          <a:noFill/>
        </p:spPr>
        <p:txBody>
          <a:bodyPr wrap="square" anchor="ctr" lIns="73152" rIns="73152">
            <a:noAutofit/>
          </a:bodyPr>
          <a:lstStyle/>
          <a:p>
            <a:pPr algn="l">
              <a:spcAft>
                <a:spcPts val="0"/>
              </a:spcAft>
            </a:pPr>
            <a:r>
              <a:rPr sz="2600" b="0" lang="it-IT">
                <a:solidFill>
                  <a:srgbClr val="212529"/>
                </a:solidFill>
                <a:latin typeface="Arial"/>
              </a:rPr>
              <a:t>Nel Comune guida il Sindaco. Nelle emergenze più grandi coordinano anche Regione e Stato.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ennellata"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8368" y="1148080"/>
            <a:ext cx="9070467" cy="201168"/>
          </a:xfrm>
          <a:prstGeom prst="rect">
            <a:avLst/>
          </a:prstGeom>
        </p:spPr>
      </p:pic>
      <p:sp>
        <p:nvSpPr>
          <p:cNvPr id="2" name="Title 1"/>
          <p:cNvSpPr>
            <a:spLocks noGrp="1"/>
          </p:cNvSpPr>
          <p:nvPr>
            <p:ph type="title"/>
          </p:nvPr>
        </p:nvSpPr>
        <p:spPr>
          <a:xfrm>
            <a:off x="640080" y="228600"/>
            <a:ext cx="10972800" cy="1230630"/>
          </a:xfrm>
        </p:spPr>
        <p:txBody>
          <a:bodyPr wrap="square" anchor="b">
            <a:noAutofit/>
          </a:bodyPr>
          <a:lstStyle/>
          <a:p>
            <a:pPr algn="l"/>
            <a:r>
              <a:rPr sz="4600" b="0" lang="it-IT">
                <a:solidFill>
                  <a:srgbClr val="003366"/>
                </a:solidFill>
                <a:latin typeface="Edu NSW ACT Cursive"/>
              </a:rPr>
              <a:t>Che cosa fa: prima, durante, dopo</a:t>
            </a:r>
          </a:p>
        </p:txBody>
      </p:sp>
      <p:sp>
        <p:nvSpPr>
          <p:cNvPr id="4" name="Passo">
            <a:extLst>
              <a:ext uri="{C183D7F6-B498-43B3-948B-1728B52AA6E4}">
                <adec:decorative xmlns:adec="http://schemas.microsoft.com/office/drawing/2017/decorative" val="1"/>
              </a:ext>
            </a:extLst>
          </p:cNvPr>
          <p:cNvSpPr/>
          <p:nvPr/>
        </p:nvSpPr>
        <p:spPr>
          <a:xfrm>
            <a:off x="640080" y="1691640"/>
            <a:ext cx="2434590" cy="4434840"/>
          </a:xfrm>
          <a:prstGeom prst="roundRect">
            <a:avLst>
              <a:gd name="adj" fmla="val 9389"/>
            </a:avLst>
          </a:prstGeom>
          <a:solidFill>
            <a:srgbClr val="DCEEFA"/>
          </a:solidFill>
          <a:ln w="15875">
            <a:solidFill>
              <a:srgbClr val="003366"/>
            </a:solidFill>
          </a:ln>
        </p:spPr>
        <p:txBody>
          <a:bodyPr rtlCol="0" anchor="ctr"/>
          <a:lstStyle/>
          <a:p>
            <a:pPr algn="ctr"/>
          </a:p>
        </p:txBody>
      </p:sp>
      <p:sp>
        <p:nvSpPr>
          <p:cNvPr id="5" name="Etichetta"/>
          <p:cNvSpPr txBox="1"/>
          <p:nvPr/>
        </p:nvSpPr>
        <p:spPr>
          <a:xfrm>
            <a:off x="685800" y="1737360"/>
            <a:ext cx="2343150" cy="868680"/>
          </a:xfrm>
          <a:prstGeom prst="rect">
            <a:avLst/>
          </a:prstGeom>
          <a:noFill/>
        </p:spPr>
        <p:txBody>
          <a:bodyPr wrap="square" anchor="ctr" lIns="73152" rIns="73152">
            <a:noAutofit/>
          </a:bodyPr>
          <a:lstStyle/>
          <a:p>
            <a:pPr algn="ctr"/>
            <a:r>
              <a:rPr sz="3800" b="0" lang="it-IT">
                <a:solidFill>
                  <a:srgbClr val="003366"/>
                </a:solidFill>
                <a:latin typeface="Edu NSW ACT Cursive"/>
              </a:rPr>
              <a:t>Prima</a:t>
            </a:r>
          </a:p>
        </p:txBody>
      </p:sp>
      <p:pic>
        <p:nvPicPr>
          <p:cNvPr id="6" name="Pittogramma" descr="Pittogramma: una persona guarda avanti"/>
          <p:cNvPicPr>
            <a:picLocks noChangeAspect="1"/>
          </p:cNvPicPr>
          <p:nvPr/>
        </p:nvPicPr>
        <p:blipFill>
          <a:blip r:embed="rId3"/>
          <a:stretch>
            <a:fillRect/>
          </a:stretch>
        </p:blipFill>
        <p:spPr>
          <a:xfrm>
            <a:off x="1148715" y="2606040"/>
            <a:ext cx="1417320" cy="1417320"/>
          </a:xfrm>
          <a:prstGeom prst="rect">
            <a:avLst/>
          </a:prstGeom>
        </p:spPr>
      </p:pic>
      <p:sp>
        <p:nvSpPr>
          <p:cNvPr id="7" name="Passo, titolo"/>
          <p:cNvSpPr txBox="1"/>
          <p:nvPr/>
        </p:nvSpPr>
        <p:spPr>
          <a:xfrm>
            <a:off x="685800" y="4133087"/>
            <a:ext cx="2343150" cy="505968"/>
          </a:xfrm>
          <a:prstGeom prst="rect">
            <a:avLst/>
          </a:prstGeom>
          <a:noFill/>
        </p:spPr>
        <p:txBody>
          <a:bodyPr wrap="square" anchor="t" lIns="73152" rIns="73152">
            <a:noAutofit/>
          </a:bodyPr>
          <a:lstStyle/>
          <a:p>
            <a:pPr algn="ctr">
              <a:spcAft>
                <a:spcPts val="0"/>
              </a:spcAft>
            </a:pPr>
            <a:r>
              <a:rPr sz="2600" b="1" lang="it-IT">
                <a:solidFill>
                  <a:srgbClr val="003366"/>
                </a:solidFill>
                <a:latin typeface="Arial"/>
              </a:rPr>
              <a:t>Previsione</a:t>
            </a:r>
          </a:p>
        </p:txBody>
      </p:sp>
      <p:sp>
        <p:nvSpPr>
          <p:cNvPr id="8" name="Passo, testo"/>
          <p:cNvSpPr txBox="1"/>
          <p:nvPr/>
        </p:nvSpPr>
        <p:spPr>
          <a:xfrm>
            <a:off x="685800" y="4639056"/>
            <a:ext cx="2343150" cy="1377695"/>
          </a:xfrm>
          <a:prstGeom prst="rect">
            <a:avLst/>
          </a:prstGeom>
          <a:noFill/>
        </p:spPr>
        <p:txBody>
          <a:bodyPr wrap="square" anchor="t" lIns="73152" rIns="73152">
            <a:noAutofit/>
          </a:bodyPr>
          <a:lstStyle/>
          <a:p>
            <a:pPr algn="ctr">
              <a:spcAft>
                <a:spcPts val="0"/>
              </a:spcAft>
            </a:pPr>
            <a:r>
              <a:rPr sz="2400" b="0" lang="it-IT">
                <a:solidFill>
                  <a:srgbClr val="212529"/>
                </a:solidFill>
                <a:latin typeface="Arial"/>
              </a:rPr>
              <a:t>Che cosa può succedere, e dove?</a:t>
            </a:r>
          </a:p>
        </p:txBody>
      </p:sp>
      <p:pic>
        <p:nvPicPr>
          <p:cNvPr id="9" name="Freccia"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111246" y="3799332"/>
            <a:ext cx="338328" cy="219456"/>
          </a:xfrm>
          <a:prstGeom prst="rect">
            <a:avLst/>
          </a:prstGeom>
        </p:spPr>
      </p:pic>
      <p:sp>
        <p:nvSpPr>
          <p:cNvPr id="10" name="Passo">
            <a:extLst>
              <a:ext uri="{C183D7F6-B498-43B3-948B-1728B52AA6E4}">
                <adec:decorative xmlns:adec="http://schemas.microsoft.com/office/drawing/2017/decorative" val="1"/>
              </a:ext>
            </a:extLst>
          </p:cNvPr>
          <p:cNvSpPr/>
          <p:nvPr/>
        </p:nvSpPr>
        <p:spPr>
          <a:xfrm>
            <a:off x="3486150" y="1691640"/>
            <a:ext cx="2434590" cy="4434840"/>
          </a:xfrm>
          <a:prstGeom prst="roundRect">
            <a:avLst>
              <a:gd name="adj" fmla="val 9389"/>
            </a:avLst>
          </a:prstGeom>
          <a:solidFill>
            <a:srgbClr val="FFF0A8"/>
          </a:solidFill>
          <a:ln w="15875">
            <a:solidFill>
              <a:srgbClr val="003366"/>
            </a:solidFill>
          </a:ln>
        </p:spPr>
        <p:txBody>
          <a:bodyPr rtlCol="0" anchor="ctr"/>
          <a:lstStyle/>
          <a:p>
            <a:pPr algn="ctr"/>
          </a:p>
        </p:txBody>
      </p:sp>
      <p:sp>
        <p:nvSpPr>
          <p:cNvPr id="11" name="Etichetta"/>
          <p:cNvSpPr txBox="1"/>
          <p:nvPr/>
        </p:nvSpPr>
        <p:spPr>
          <a:xfrm>
            <a:off x="3531870" y="1737360"/>
            <a:ext cx="2343150" cy="868680"/>
          </a:xfrm>
          <a:prstGeom prst="rect">
            <a:avLst/>
          </a:prstGeom>
          <a:noFill/>
        </p:spPr>
        <p:txBody>
          <a:bodyPr wrap="square" anchor="ctr" lIns="73152" rIns="73152">
            <a:noAutofit/>
          </a:bodyPr>
          <a:lstStyle/>
          <a:p>
            <a:pPr algn="ctr"/>
            <a:r>
              <a:rPr sz="3800" b="0" lang="it-IT">
                <a:solidFill>
                  <a:srgbClr val="003366"/>
                </a:solidFill>
                <a:latin typeface="Edu NSW ACT Cursive"/>
              </a:rPr>
              <a:t>Prima</a:t>
            </a:r>
          </a:p>
        </p:txBody>
      </p:sp>
      <p:pic>
        <p:nvPicPr>
          <p:cNvPr id="12" name="Pittogramma" descr="Pittogramma: uno zaino"/>
          <p:cNvPicPr>
            <a:picLocks noChangeAspect="1"/>
          </p:cNvPicPr>
          <p:nvPr/>
        </p:nvPicPr>
        <p:blipFill>
          <a:blip r:embed="rId5"/>
          <a:stretch>
            <a:fillRect/>
          </a:stretch>
        </p:blipFill>
        <p:spPr>
          <a:xfrm>
            <a:off x="3994785" y="2606040"/>
            <a:ext cx="1417320" cy="1417320"/>
          </a:xfrm>
          <a:prstGeom prst="rect">
            <a:avLst/>
          </a:prstGeom>
        </p:spPr>
      </p:pic>
      <p:sp>
        <p:nvSpPr>
          <p:cNvPr id="13" name="Passo, titolo"/>
          <p:cNvSpPr txBox="1"/>
          <p:nvPr/>
        </p:nvSpPr>
        <p:spPr>
          <a:xfrm>
            <a:off x="3531870" y="4133087"/>
            <a:ext cx="2343150" cy="505968"/>
          </a:xfrm>
          <a:prstGeom prst="rect">
            <a:avLst/>
          </a:prstGeom>
          <a:noFill/>
        </p:spPr>
        <p:txBody>
          <a:bodyPr wrap="square" anchor="t" lIns="73152" rIns="73152">
            <a:noAutofit/>
          </a:bodyPr>
          <a:lstStyle/>
          <a:p>
            <a:pPr algn="ctr">
              <a:spcAft>
                <a:spcPts val="0"/>
              </a:spcAft>
            </a:pPr>
            <a:r>
              <a:rPr sz="2600" b="1" lang="it-IT">
                <a:solidFill>
                  <a:srgbClr val="003366"/>
                </a:solidFill>
                <a:latin typeface="Arial"/>
              </a:rPr>
              <a:t>Prevenzione</a:t>
            </a:r>
          </a:p>
        </p:txBody>
      </p:sp>
      <p:sp>
        <p:nvSpPr>
          <p:cNvPr id="14" name="Passo, testo"/>
          <p:cNvSpPr txBox="1"/>
          <p:nvPr/>
        </p:nvSpPr>
        <p:spPr>
          <a:xfrm>
            <a:off x="3531870" y="4639056"/>
            <a:ext cx="2343150" cy="1377695"/>
          </a:xfrm>
          <a:prstGeom prst="rect">
            <a:avLst/>
          </a:prstGeom>
          <a:noFill/>
        </p:spPr>
        <p:txBody>
          <a:bodyPr wrap="square" anchor="t" lIns="73152" rIns="73152">
            <a:noAutofit/>
          </a:bodyPr>
          <a:lstStyle/>
          <a:p>
            <a:pPr algn="ctr">
              <a:spcAft>
                <a:spcPts val="0"/>
              </a:spcAft>
            </a:pPr>
            <a:r>
              <a:rPr sz="2400" b="0" lang="it-IT">
                <a:solidFill>
                  <a:srgbClr val="212529"/>
                </a:solidFill>
                <a:latin typeface="Arial"/>
              </a:rPr>
              <a:t>Come riduco i danni?</a:t>
            </a:r>
          </a:p>
        </p:txBody>
      </p:sp>
      <p:pic>
        <p:nvPicPr>
          <p:cNvPr id="15" name="Freccia"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957316" y="3799332"/>
            <a:ext cx="338328" cy="219456"/>
          </a:xfrm>
          <a:prstGeom prst="rect">
            <a:avLst/>
          </a:prstGeom>
        </p:spPr>
      </p:pic>
      <p:sp>
        <p:nvSpPr>
          <p:cNvPr id="16" name="Passo">
            <a:extLst>
              <a:ext uri="{C183D7F6-B498-43B3-948B-1728B52AA6E4}">
                <adec:decorative xmlns:adec="http://schemas.microsoft.com/office/drawing/2017/decorative" val="1"/>
              </a:ext>
            </a:extLst>
          </p:cNvPr>
          <p:cNvSpPr/>
          <p:nvPr/>
        </p:nvSpPr>
        <p:spPr>
          <a:xfrm>
            <a:off x="6332220" y="1691640"/>
            <a:ext cx="2434590" cy="4434840"/>
          </a:xfrm>
          <a:prstGeom prst="roundRect">
            <a:avLst>
              <a:gd name="adj" fmla="val 9389"/>
            </a:avLst>
          </a:prstGeom>
          <a:solidFill>
            <a:srgbClr val="F8DFE5"/>
          </a:solidFill>
          <a:ln w="15875">
            <a:solidFill>
              <a:srgbClr val="003366"/>
            </a:solidFill>
          </a:ln>
        </p:spPr>
        <p:txBody>
          <a:bodyPr rtlCol="0" anchor="ctr"/>
          <a:lstStyle/>
          <a:p>
            <a:pPr algn="ctr"/>
          </a:p>
        </p:txBody>
      </p:sp>
      <p:sp>
        <p:nvSpPr>
          <p:cNvPr id="17" name="Etichetta"/>
          <p:cNvSpPr txBox="1"/>
          <p:nvPr/>
        </p:nvSpPr>
        <p:spPr>
          <a:xfrm>
            <a:off x="6377940" y="1737360"/>
            <a:ext cx="2343150" cy="868680"/>
          </a:xfrm>
          <a:prstGeom prst="rect">
            <a:avLst/>
          </a:prstGeom>
          <a:noFill/>
        </p:spPr>
        <p:txBody>
          <a:bodyPr wrap="square" anchor="ctr" lIns="73152" rIns="73152">
            <a:noAutofit/>
          </a:bodyPr>
          <a:lstStyle/>
          <a:p>
            <a:pPr algn="ctr"/>
            <a:r>
              <a:rPr sz="3800" b="0" lang="it-IT">
                <a:solidFill>
                  <a:srgbClr val="003366"/>
                </a:solidFill>
                <a:latin typeface="Edu NSW ACT Cursive"/>
              </a:rPr>
              <a:t>Durante</a:t>
            </a:r>
          </a:p>
        </p:txBody>
      </p:sp>
      <p:pic>
        <p:nvPicPr>
          <p:cNvPr id="18" name="Pittogramma" descr="Pittogramma: un’ambulanza"/>
          <p:cNvPicPr>
            <a:picLocks noChangeAspect="1"/>
          </p:cNvPicPr>
          <p:nvPr/>
        </p:nvPicPr>
        <p:blipFill>
          <a:blip r:embed="rId6"/>
          <a:stretch>
            <a:fillRect/>
          </a:stretch>
        </p:blipFill>
        <p:spPr>
          <a:xfrm>
            <a:off x="6840855" y="2606040"/>
            <a:ext cx="1417320" cy="1417320"/>
          </a:xfrm>
          <a:prstGeom prst="rect">
            <a:avLst/>
          </a:prstGeom>
        </p:spPr>
      </p:pic>
      <p:sp>
        <p:nvSpPr>
          <p:cNvPr id="19" name="Passo, titolo"/>
          <p:cNvSpPr txBox="1"/>
          <p:nvPr/>
        </p:nvSpPr>
        <p:spPr>
          <a:xfrm>
            <a:off x="6377940" y="4133087"/>
            <a:ext cx="2343150" cy="505968"/>
          </a:xfrm>
          <a:prstGeom prst="rect">
            <a:avLst/>
          </a:prstGeom>
          <a:noFill/>
        </p:spPr>
        <p:txBody>
          <a:bodyPr wrap="square" anchor="t" lIns="73152" rIns="73152">
            <a:noAutofit/>
          </a:bodyPr>
          <a:lstStyle/>
          <a:p>
            <a:pPr algn="ctr">
              <a:spcAft>
                <a:spcPts val="0"/>
              </a:spcAft>
            </a:pPr>
            <a:r>
              <a:rPr sz="2600" b="1" lang="it-IT">
                <a:solidFill>
                  <a:srgbClr val="003366"/>
                </a:solidFill>
                <a:latin typeface="Arial"/>
              </a:rPr>
              <a:t>Soccorso</a:t>
            </a:r>
          </a:p>
        </p:txBody>
      </p:sp>
      <p:sp>
        <p:nvSpPr>
          <p:cNvPr id="20" name="Passo, testo"/>
          <p:cNvSpPr txBox="1"/>
          <p:nvPr/>
        </p:nvSpPr>
        <p:spPr>
          <a:xfrm>
            <a:off x="6377940" y="4639056"/>
            <a:ext cx="2343150" cy="1377695"/>
          </a:xfrm>
          <a:prstGeom prst="rect">
            <a:avLst/>
          </a:prstGeom>
          <a:noFill/>
        </p:spPr>
        <p:txBody>
          <a:bodyPr wrap="square" anchor="t" lIns="73152" rIns="73152">
            <a:noAutofit/>
          </a:bodyPr>
          <a:lstStyle/>
          <a:p>
            <a:pPr algn="ctr">
              <a:spcAft>
                <a:spcPts val="0"/>
              </a:spcAft>
            </a:pPr>
            <a:r>
              <a:rPr sz="2400" b="0" lang="it-IT">
                <a:solidFill>
                  <a:srgbClr val="212529"/>
                </a:solidFill>
                <a:latin typeface="Arial"/>
              </a:rPr>
              <a:t>Come aiuto adesso?</a:t>
            </a:r>
          </a:p>
        </p:txBody>
      </p:sp>
      <p:pic>
        <p:nvPicPr>
          <p:cNvPr id="21" name="Freccia"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803386" y="3799332"/>
            <a:ext cx="338328" cy="219456"/>
          </a:xfrm>
          <a:prstGeom prst="rect">
            <a:avLst/>
          </a:prstGeom>
        </p:spPr>
      </p:pic>
      <p:sp>
        <p:nvSpPr>
          <p:cNvPr id="22" name="Passo">
            <a:extLst>
              <a:ext uri="{C183D7F6-B498-43B3-948B-1728B52AA6E4}">
                <adec:decorative xmlns:adec="http://schemas.microsoft.com/office/drawing/2017/decorative" val="1"/>
              </a:ext>
            </a:extLst>
          </p:cNvPr>
          <p:cNvSpPr/>
          <p:nvPr/>
        </p:nvSpPr>
        <p:spPr>
          <a:xfrm>
            <a:off x="9178290" y="1691640"/>
            <a:ext cx="2434590" cy="4434840"/>
          </a:xfrm>
          <a:prstGeom prst="roundRect">
            <a:avLst>
              <a:gd name="adj" fmla="val 9389"/>
            </a:avLst>
          </a:prstGeom>
          <a:solidFill>
            <a:srgbClr val="EDF7F0"/>
          </a:solidFill>
          <a:ln w="15875">
            <a:solidFill>
              <a:srgbClr val="003366"/>
            </a:solidFill>
          </a:ln>
        </p:spPr>
        <p:txBody>
          <a:bodyPr rtlCol="0" anchor="ctr"/>
          <a:lstStyle/>
          <a:p>
            <a:pPr algn="ctr"/>
          </a:p>
        </p:txBody>
      </p:sp>
      <p:sp>
        <p:nvSpPr>
          <p:cNvPr id="23" name="Etichetta"/>
          <p:cNvSpPr txBox="1"/>
          <p:nvPr/>
        </p:nvSpPr>
        <p:spPr>
          <a:xfrm>
            <a:off x="9224010" y="1737360"/>
            <a:ext cx="2343150" cy="868680"/>
          </a:xfrm>
          <a:prstGeom prst="rect">
            <a:avLst/>
          </a:prstGeom>
          <a:noFill/>
        </p:spPr>
        <p:txBody>
          <a:bodyPr wrap="square" anchor="ctr" lIns="73152" rIns="73152">
            <a:noAutofit/>
          </a:bodyPr>
          <a:lstStyle/>
          <a:p>
            <a:pPr algn="ctr"/>
            <a:r>
              <a:rPr sz="3800" b="0" lang="it-IT">
                <a:solidFill>
                  <a:srgbClr val="003366"/>
                </a:solidFill>
                <a:latin typeface="Edu NSW ACT Cursive"/>
              </a:rPr>
              <a:t>Dopo</a:t>
            </a:r>
          </a:p>
        </p:txBody>
      </p:sp>
      <p:pic>
        <p:nvPicPr>
          <p:cNvPr id="24" name="Pittogramma" descr="Pittogramma: una casa"/>
          <p:cNvPicPr>
            <a:picLocks noChangeAspect="1"/>
          </p:cNvPicPr>
          <p:nvPr/>
        </p:nvPicPr>
        <p:blipFill>
          <a:blip r:embed="rId7"/>
          <a:stretch>
            <a:fillRect/>
          </a:stretch>
        </p:blipFill>
        <p:spPr>
          <a:xfrm>
            <a:off x="9686925" y="2606040"/>
            <a:ext cx="1417320" cy="1417320"/>
          </a:xfrm>
          <a:prstGeom prst="rect">
            <a:avLst/>
          </a:prstGeom>
        </p:spPr>
      </p:pic>
      <p:sp>
        <p:nvSpPr>
          <p:cNvPr id="25" name="Passo, titolo"/>
          <p:cNvSpPr txBox="1"/>
          <p:nvPr/>
        </p:nvSpPr>
        <p:spPr>
          <a:xfrm>
            <a:off x="9224010" y="4133087"/>
            <a:ext cx="2343150" cy="505968"/>
          </a:xfrm>
          <a:prstGeom prst="rect">
            <a:avLst/>
          </a:prstGeom>
          <a:noFill/>
        </p:spPr>
        <p:txBody>
          <a:bodyPr wrap="square" anchor="t" lIns="73152" rIns="73152">
            <a:noAutofit/>
          </a:bodyPr>
          <a:lstStyle/>
          <a:p>
            <a:pPr algn="ctr">
              <a:spcAft>
                <a:spcPts val="0"/>
              </a:spcAft>
            </a:pPr>
            <a:r>
              <a:rPr sz="2600" b="1" lang="it-IT">
                <a:solidFill>
                  <a:srgbClr val="003366"/>
                </a:solidFill>
                <a:latin typeface="Arial"/>
              </a:rPr>
              <a:t>Superamento</a:t>
            </a:r>
          </a:p>
        </p:txBody>
      </p:sp>
      <p:sp>
        <p:nvSpPr>
          <p:cNvPr id="26" name="Passo, testo"/>
          <p:cNvSpPr txBox="1"/>
          <p:nvPr/>
        </p:nvSpPr>
        <p:spPr>
          <a:xfrm>
            <a:off x="9224010" y="4639056"/>
            <a:ext cx="2343150" cy="1377695"/>
          </a:xfrm>
          <a:prstGeom prst="rect">
            <a:avLst/>
          </a:prstGeom>
          <a:noFill/>
        </p:spPr>
        <p:txBody>
          <a:bodyPr wrap="square" anchor="t" lIns="73152" rIns="73152">
            <a:noAutofit/>
          </a:bodyPr>
          <a:lstStyle/>
          <a:p>
            <a:pPr algn="ctr">
              <a:spcAft>
                <a:spcPts val="0"/>
              </a:spcAft>
            </a:pPr>
            <a:r>
              <a:rPr sz="2400" b="0" lang="it-IT">
                <a:solidFill>
                  <a:srgbClr val="212529"/>
                </a:solidFill>
                <a:latin typeface="Arial"/>
              </a:rPr>
              <a:t>Come si torna alla vita di prima?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ennellata"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8368" y="1148080"/>
            <a:ext cx="8010728" cy="201168"/>
          </a:xfrm>
          <a:prstGeom prst="rect">
            <a:avLst/>
          </a:prstGeom>
        </p:spPr>
      </p:pic>
      <p:sp>
        <p:nvSpPr>
          <p:cNvPr id="2" name="Title 1"/>
          <p:cNvSpPr>
            <a:spLocks noGrp="1"/>
          </p:cNvSpPr>
          <p:nvPr>
            <p:ph type="title"/>
          </p:nvPr>
        </p:nvSpPr>
        <p:spPr>
          <a:xfrm>
            <a:off x="640080" y="228600"/>
            <a:ext cx="10972800" cy="1230630"/>
          </a:xfrm>
        </p:spPr>
        <p:txBody>
          <a:bodyPr wrap="square" anchor="b">
            <a:noAutofit/>
          </a:bodyPr>
          <a:lstStyle/>
          <a:p>
            <a:pPr algn="l"/>
            <a:r>
              <a:rPr sz="4600" b="0" lang="it-IT">
                <a:solidFill>
                  <a:srgbClr val="003366"/>
                </a:solidFill>
                <a:latin typeface="Edu NSW ACT Cursive"/>
              </a:rPr>
              <a:t>Prima: prevedere e prepararsi</a:t>
            </a:r>
          </a:p>
        </p:txBody>
      </p:sp>
      <p:sp>
        <p:nvSpPr>
          <p:cNvPr id="4" name="Riquadro">
            <a:extLst>
              <a:ext uri="{C183D7F6-B498-43B3-948B-1728B52AA6E4}">
                <adec:decorative xmlns:adec="http://schemas.microsoft.com/office/drawing/2017/decorative" val="1"/>
              </a:ext>
            </a:extLst>
          </p:cNvPr>
          <p:cNvSpPr/>
          <p:nvPr/>
        </p:nvSpPr>
        <p:spPr>
          <a:xfrm>
            <a:off x="4160520" y="1600200"/>
            <a:ext cx="7406640" cy="4526280"/>
          </a:xfrm>
          <a:prstGeom prst="roundRect">
            <a:avLst>
              <a:gd name="adj" fmla="val 2424"/>
            </a:avLst>
          </a:prstGeom>
          <a:noFill/>
          <a:ln w="19050">
            <a:solidFill>
              <a:srgbClr val="003366"/>
            </a:solidFill>
            <a:prstDash val="dash"/>
          </a:ln>
        </p:spPr>
        <p:txBody>
          <a:bodyPr rtlCol="0" anchor="ctr"/>
          <a:lstStyle/>
          <a:p>
            <a:pPr algn="ctr"/>
          </a:p>
        </p:txBody>
      </p:sp>
      <p:sp>
        <p:nvSpPr>
          <p:cNvPr id="5" name="Testo"/>
          <p:cNvSpPr txBox="1"/>
          <p:nvPr/>
        </p:nvSpPr>
        <p:spPr>
          <a:xfrm>
            <a:off x="4434840" y="1783080"/>
            <a:ext cx="6903720" cy="4160520"/>
          </a:xfrm>
          <a:prstGeom prst="rect">
            <a:avLst/>
          </a:prstGeom>
          <a:noFill/>
        </p:spPr>
        <p:txBody>
          <a:bodyPr wrap="square" anchor="ctr" lIns="73152" rIns="73152">
            <a:noAutofit/>
          </a:bodyPr>
          <a:lstStyle/>
          <a:p>
            <a:pPr algn="l" marL="384048" indent="-384048">
              <a:spcAft>
                <a:spcPts val="1200"/>
              </a:spcAft>
              <a:buClr>
                <a:srgbClr val="003366"/>
              </a:buClr>
              <a:buFont typeface="Arial"/>
              <a:buChar char="•"/>
            </a:pPr>
            <a:r>
              <a:rPr sz="2800" b="0" lang="it-IT">
                <a:solidFill>
                  <a:srgbClr val="212529"/>
                </a:solidFill>
                <a:latin typeface="Arial"/>
              </a:rPr>
              <a:t>Gli esperti studiano il tempo e i pericoli del territorio.</a:t>
            </a:r>
          </a:p>
          <a:p>
            <a:pPr algn="l" marL="384048" indent="-384048">
              <a:spcAft>
                <a:spcPts val="1200"/>
              </a:spcAft>
              <a:buClr>
                <a:srgbClr val="003366"/>
              </a:buClr>
              <a:buFont typeface="Arial"/>
              <a:buChar char="•"/>
            </a:pPr>
            <a:r>
              <a:rPr sz="2800" b="0" lang="it-IT">
                <a:solidFill>
                  <a:srgbClr val="212529"/>
                </a:solidFill>
                <a:latin typeface="Arial"/>
              </a:rPr>
              <a:t>Un temporale si vede arrivare. Il giorno di un terremoto, no.</a:t>
            </a:r>
          </a:p>
          <a:p>
            <a:pPr algn="l" marL="384048" indent="-384048">
              <a:spcAft>
                <a:spcPts val="0"/>
              </a:spcAft>
              <a:buClr>
                <a:srgbClr val="003366"/>
              </a:buClr>
              <a:buFont typeface="Arial"/>
              <a:buChar char="•"/>
            </a:pPr>
            <a:r>
              <a:rPr sz="2800" b="0" lang="it-IT">
                <a:solidFill>
                  <a:srgbClr val="212529"/>
                </a:solidFill>
                <a:latin typeface="Arial"/>
              </a:rPr>
              <a:t>Per questo ci si </a:t>
            </a:r>
            <a:r>
              <a:rPr sz="2800" b="0" lang="it-IT">
                <a:solidFill>
                  <a:srgbClr val="212529"/>
                </a:solidFill>
                <a:highlight>
                  <a:srgbClr val="FFF0A8"/>
                </a:highlight>
                <a:latin typeface="Arial"/>
              </a:rPr>
              <a:t>prepara prima</a:t>
            </a:r>
            <a:r>
              <a:rPr sz="2800" b="0" lang="it-IT">
                <a:solidFill>
                  <a:srgbClr val="212529"/>
                </a:solidFill>
                <a:latin typeface="Arial"/>
              </a:rPr>
              <a:t>: case robuste, un piano in famiglia, le prove a scuola.</a:t>
            </a:r>
          </a:p>
        </p:txBody>
      </p:sp>
      <p:sp>
        <p:nvSpPr>
          <p:cNvPr id="6" name="Cartoncino">
            <a:extLst>
              <a:ext uri="{C183D7F6-B498-43B3-948B-1728B52AA6E4}">
                <adec:decorative xmlns:adec="http://schemas.microsoft.com/office/drawing/2017/decorative" val="1"/>
              </a:ext>
            </a:extLst>
          </p:cNvPr>
          <p:cNvSpPr/>
          <p:nvPr/>
        </p:nvSpPr>
        <p:spPr>
          <a:xfrm rot="21480000">
            <a:off x="777240" y="2057400"/>
            <a:ext cx="2926080" cy="2926080"/>
          </a:xfrm>
          <a:prstGeom prst="rect">
            <a:avLst/>
          </a:prstGeom>
          <a:solidFill>
            <a:srgbClr val="FFFFFF"/>
          </a:solidFill>
          <a:ln w="9525">
            <a:solidFill>
              <a:srgbClr val="ADB5BD"/>
            </a:solidFill>
          </a:ln>
          <a:effectLst>
            <a:outerShdw blurRad="63500" dist="25400" dir="5400000" algn="t" rotWithShape="0">
              <a:srgbClr val="000000">
                <a:alpha val="22000"/>
              </a:srgbClr>
            </a:outerShdw>
          </a:effectLst>
        </p:spPr>
        <p:txBody>
          <a:bodyPr rtlCol="0" anchor="ctr"/>
          <a:lstStyle/>
          <a:p>
            <a:pPr algn="ctr"/>
          </a:p>
        </p:txBody>
      </p:sp>
      <p:pic>
        <p:nvPicPr>
          <p:cNvPr id="7" name="Pittogramma" descr="Pittogramma: una nuvola con un fulmine"/>
          <p:cNvPicPr>
            <a:picLocks noChangeAspect="1"/>
          </p:cNvPicPr>
          <p:nvPr/>
        </p:nvPicPr>
        <p:blipFill>
          <a:blip r:embed="rId3"/>
          <a:stretch>
            <a:fillRect/>
          </a:stretch>
        </p:blipFill>
        <p:spPr>
          <a:xfrm rot="21480000">
            <a:off x="982065" y="2262225"/>
            <a:ext cx="2516428" cy="251642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ennellata"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8368" y="1148080"/>
            <a:ext cx="9112237" cy="201168"/>
          </a:xfrm>
          <a:prstGeom prst="rect">
            <a:avLst/>
          </a:prstGeom>
        </p:spPr>
      </p:pic>
      <p:sp>
        <p:nvSpPr>
          <p:cNvPr id="2" name="Title 1"/>
          <p:cNvSpPr>
            <a:spLocks noGrp="1"/>
          </p:cNvSpPr>
          <p:nvPr>
            <p:ph type="title"/>
          </p:nvPr>
        </p:nvSpPr>
        <p:spPr>
          <a:xfrm>
            <a:off x="640080" y="228600"/>
            <a:ext cx="10972800" cy="1230630"/>
          </a:xfrm>
        </p:spPr>
        <p:txBody>
          <a:bodyPr wrap="square" anchor="b">
            <a:noAutofit/>
          </a:bodyPr>
          <a:lstStyle/>
          <a:p>
            <a:pPr algn="l"/>
            <a:r>
              <a:rPr sz="4600" b="0" lang="it-IT">
                <a:solidFill>
                  <a:srgbClr val="003366"/>
                </a:solidFill>
                <a:latin typeface="Edu NSW ACT Cursive"/>
              </a:rPr>
              <a:t>Una lezione dal passato: il Vajont</a:t>
            </a:r>
          </a:p>
        </p:txBody>
      </p:sp>
      <p:sp>
        <p:nvSpPr>
          <p:cNvPr id="4" name="Riquadro">
            <a:extLst>
              <a:ext uri="{C183D7F6-B498-43B3-948B-1728B52AA6E4}">
                <adec:decorative xmlns:adec="http://schemas.microsoft.com/office/drawing/2017/decorative" val="1"/>
              </a:ext>
            </a:extLst>
          </p:cNvPr>
          <p:cNvSpPr/>
          <p:nvPr/>
        </p:nvSpPr>
        <p:spPr>
          <a:xfrm>
            <a:off x="640080" y="1600200"/>
            <a:ext cx="7406640" cy="4526280"/>
          </a:xfrm>
          <a:prstGeom prst="roundRect">
            <a:avLst>
              <a:gd name="adj" fmla="val 2424"/>
            </a:avLst>
          </a:prstGeom>
          <a:noFill/>
          <a:ln w="19050">
            <a:solidFill>
              <a:srgbClr val="003366"/>
            </a:solidFill>
            <a:prstDash val="dash"/>
          </a:ln>
        </p:spPr>
        <p:txBody>
          <a:bodyPr rtlCol="0" anchor="ctr"/>
          <a:lstStyle/>
          <a:p>
            <a:pPr algn="ctr"/>
          </a:p>
        </p:txBody>
      </p:sp>
      <p:sp>
        <p:nvSpPr>
          <p:cNvPr id="5" name="Testo"/>
          <p:cNvSpPr txBox="1"/>
          <p:nvPr/>
        </p:nvSpPr>
        <p:spPr>
          <a:xfrm>
            <a:off x="914400" y="1783080"/>
            <a:ext cx="6903720" cy="4160520"/>
          </a:xfrm>
          <a:prstGeom prst="rect">
            <a:avLst/>
          </a:prstGeom>
          <a:noFill/>
        </p:spPr>
        <p:txBody>
          <a:bodyPr wrap="square" anchor="ctr" lIns="73152" rIns="73152">
            <a:noAutofit/>
          </a:bodyPr>
          <a:lstStyle/>
          <a:p>
            <a:pPr algn="l" marL="384048" indent="-384048">
              <a:spcAft>
                <a:spcPts val="1200"/>
              </a:spcAft>
              <a:buClr>
                <a:srgbClr val="003366"/>
              </a:buClr>
              <a:buFont typeface="Arial"/>
              <a:buChar char="•"/>
            </a:pPr>
            <a:r>
              <a:rPr sz="2800" b="0" lang="it-IT">
                <a:solidFill>
                  <a:srgbClr val="212529"/>
                </a:solidFill>
                <a:latin typeface="Arial"/>
              </a:rPr>
              <a:t>Nel </a:t>
            </a:r>
            <a:r>
              <a:rPr sz="2800" b="0" lang="it-IT">
                <a:solidFill>
                  <a:srgbClr val="212529"/>
                </a:solidFill>
                <a:highlight>
                  <a:srgbClr val="DCEEFA"/>
                </a:highlight>
                <a:latin typeface="Arial"/>
              </a:rPr>
              <a:t>1963</a:t>
            </a:r>
            <a:r>
              <a:rPr sz="2800" b="0" lang="it-IT">
                <a:solidFill>
                  <a:srgbClr val="212529"/>
                </a:solidFill>
                <a:latin typeface="Arial"/>
              </a:rPr>
              <a:t> una grande frana cadde nel lago dietro la diga del Vajont.</a:t>
            </a:r>
          </a:p>
          <a:p>
            <a:pPr algn="l" marL="384048" indent="-384048">
              <a:spcAft>
                <a:spcPts val="1200"/>
              </a:spcAft>
              <a:buClr>
                <a:srgbClr val="003366"/>
              </a:buClr>
              <a:buFont typeface="Arial"/>
              <a:buChar char="•"/>
            </a:pPr>
            <a:r>
              <a:rPr sz="2800" b="0" lang="it-IT">
                <a:solidFill>
                  <a:srgbClr val="212529"/>
                </a:solidFill>
                <a:latin typeface="Arial"/>
              </a:rPr>
              <a:t>Gli studi avevano visto il pericolo, ma non si agì in tempo.</a:t>
            </a:r>
          </a:p>
          <a:p>
            <a:pPr algn="l" marL="384048" indent="-384048">
              <a:spcAft>
                <a:spcPts val="0"/>
              </a:spcAft>
              <a:buClr>
                <a:srgbClr val="003366"/>
              </a:buClr>
              <a:buFont typeface="Arial"/>
              <a:buChar char="•"/>
            </a:pPr>
            <a:r>
              <a:rPr sz="2800" b="0" lang="it-IT">
                <a:solidFill>
                  <a:srgbClr val="212529"/>
                </a:solidFill>
                <a:latin typeface="Arial"/>
              </a:rPr>
              <a:t>La lezione: conoscere un pericolo serve, </a:t>
            </a:r>
            <a:r>
              <a:rPr sz="2800" b="0" lang="it-IT">
                <a:solidFill>
                  <a:srgbClr val="212529"/>
                </a:solidFill>
                <a:highlight>
                  <a:srgbClr val="FFF0A8"/>
                </a:highlight>
                <a:latin typeface="Arial"/>
              </a:rPr>
              <a:t>se si agisce prima</a:t>
            </a:r>
            <a:r>
              <a:rPr sz="2800" b="0" lang="it-IT">
                <a:solidFill>
                  <a:srgbClr val="212529"/>
                </a:solidFill>
                <a:latin typeface="Arial"/>
              </a:rPr>
              <a:t>.</a:t>
            </a:r>
          </a:p>
        </p:txBody>
      </p:sp>
      <p:sp>
        <p:nvSpPr>
          <p:cNvPr id="6" name="Cartoncino">
            <a:extLst>
              <a:ext uri="{C183D7F6-B498-43B3-948B-1728B52AA6E4}">
                <adec:decorative xmlns:adec="http://schemas.microsoft.com/office/drawing/2017/decorative" val="1"/>
              </a:ext>
            </a:extLst>
          </p:cNvPr>
          <p:cNvSpPr/>
          <p:nvPr/>
        </p:nvSpPr>
        <p:spPr>
          <a:xfrm rot="120000">
            <a:off x="8503920" y="2057400"/>
            <a:ext cx="2926080" cy="2926080"/>
          </a:xfrm>
          <a:prstGeom prst="rect">
            <a:avLst/>
          </a:prstGeom>
          <a:solidFill>
            <a:srgbClr val="FFFFFF"/>
          </a:solidFill>
          <a:ln w="9525">
            <a:solidFill>
              <a:srgbClr val="ADB5BD"/>
            </a:solidFill>
          </a:ln>
          <a:effectLst>
            <a:outerShdw blurRad="63500" dist="25400" dir="5400000" algn="t" rotWithShape="0">
              <a:srgbClr val="000000">
                <a:alpha val="22000"/>
              </a:srgbClr>
            </a:outerShdw>
          </a:effectLst>
        </p:spPr>
        <p:txBody>
          <a:bodyPr rtlCol="0" anchor="ctr"/>
          <a:lstStyle/>
          <a:p>
            <a:pPr algn="ctr"/>
          </a:p>
        </p:txBody>
      </p:sp>
      <p:pic>
        <p:nvPicPr>
          <p:cNvPr id="7" name="Pittogramma" descr="Pittogramma: una montagna"/>
          <p:cNvPicPr>
            <a:picLocks noChangeAspect="1"/>
          </p:cNvPicPr>
          <p:nvPr/>
        </p:nvPicPr>
        <p:blipFill>
          <a:blip r:embed="rId3"/>
          <a:stretch>
            <a:fillRect/>
          </a:stretch>
        </p:blipFill>
        <p:spPr>
          <a:xfrm rot="120000">
            <a:off x="8708745" y="2262225"/>
            <a:ext cx="2516428" cy="251642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ennellata"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8368" y="1148080"/>
            <a:ext cx="8810498" cy="201168"/>
          </a:xfrm>
          <a:prstGeom prst="rect">
            <a:avLst/>
          </a:prstGeom>
        </p:spPr>
      </p:pic>
      <p:sp>
        <p:nvSpPr>
          <p:cNvPr id="2" name="Title 1"/>
          <p:cNvSpPr>
            <a:spLocks noGrp="1"/>
          </p:cNvSpPr>
          <p:nvPr>
            <p:ph type="title"/>
          </p:nvPr>
        </p:nvSpPr>
        <p:spPr>
          <a:xfrm>
            <a:off x="640080" y="228600"/>
            <a:ext cx="10972800" cy="1230630"/>
          </a:xfrm>
        </p:spPr>
        <p:txBody>
          <a:bodyPr wrap="square" anchor="b">
            <a:noAutofit/>
          </a:bodyPr>
          <a:lstStyle/>
          <a:p>
            <a:pPr algn="l"/>
            <a:r>
              <a:rPr sz="4600" b="0" lang="it-IT">
                <a:solidFill>
                  <a:srgbClr val="003366"/>
                </a:solidFill>
                <a:latin typeface="Edu NSW ACT Cursive"/>
              </a:rPr>
              <a:t>Come è nata la Protezione Civile</a:t>
            </a:r>
          </a:p>
        </p:txBody>
      </p:sp>
      <p:sp>
        <p:nvSpPr>
          <p:cNvPr id="4" name="Passo">
            <a:extLst>
              <a:ext uri="{C183D7F6-B498-43B3-948B-1728B52AA6E4}">
                <adec:decorative xmlns:adec="http://schemas.microsoft.com/office/drawing/2017/decorative" val="1"/>
              </a:ext>
            </a:extLst>
          </p:cNvPr>
          <p:cNvSpPr/>
          <p:nvPr/>
        </p:nvSpPr>
        <p:spPr>
          <a:xfrm>
            <a:off x="640080" y="2240280"/>
            <a:ext cx="2434590" cy="3246120"/>
          </a:xfrm>
          <a:prstGeom prst="roundRect">
            <a:avLst>
              <a:gd name="adj" fmla="val 9389"/>
            </a:avLst>
          </a:prstGeom>
          <a:solidFill>
            <a:srgbClr val="DCEEFA"/>
          </a:solidFill>
          <a:ln w="15875">
            <a:solidFill>
              <a:srgbClr val="003366"/>
            </a:solidFill>
          </a:ln>
        </p:spPr>
        <p:txBody>
          <a:bodyPr rtlCol="0" anchor="ctr"/>
          <a:lstStyle/>
          <a:p>
            <a:pPr algn="ctr"/>
          </a:p>
        </p:txBody>
      </p:sp>
      <p:sp>
        <p:nvSpPr>
          <p:cNvPr id="5" name="Etichetta"/>
          <p:cNvSpPr txBox="1"/>
          <p:nvPr/>
        </p:nvSpPr>
        <p:spPr>
          <a:xfrm>
            <a:off x="685800" y="2286000"/>
            <a:ext cx="2343150" cy="868680"/>
          </a:xfrm>
          <a:prstGeom prst="rect">
            <a:avLst/>
          </a:prstGeom>
          <a:noFill/>
        </p:spPr>
        <p:txBody>
          <a:bodyPr wrap="square" anchor="ctr" lIns="73152" rIns="73152">
            <a:noAutofit/>
          </a:bodyPr>
          <a:lstStyle/>
          <a:p>
            <a:pPr algn="ctr"/>
            <a:r>
              <a:rPr sz="3800" b="0" lang="it-IT">
                <a:solidFill>
                  <a:srgbClr val="003366"/>
                </a:solidFill>
                <a:latin typeface="Edu NSW ACT Cursive"/>
              </a:rPr>
              <a:t>1976</a:t>
            </a:r>
          </a:p>
        </p:txBody>
      </p:sp>
      <p:sp>
        <p:nvSpPr>
          <p:cNvPr id="6" name="Passo, titolo"/>
          <p:cNvSpPr txBox="1"/>
          <p:nvPr/>
        </p:nvSpPr>
        <p:spPr>
          <a:xfrm>
            <a:off x="685800" y="3154680"/>
            <a:ext cx="2343150" cy="505968"/>
          </a:xfrm>
          <a:prstGeom prst="rect">
            <a:avLst/>
          </a:prstGeom>
          <a:noFill/>
        </p:spPr>
        <p:txBody>
          <a:bodyPr wrap="square" anchor="t" lIns="73152" rIns="73152">
            <a:noAutofit/>
          </a:bodyPr>
          <a:lstStyle/>
          <a:p>
            <a:pPr algn="ctr">
              <a:spcAft>
                <a:spcPts val="0"/>
              </a:spcAft>
            </a:pPr>
            <a:r>
              <a:rPr sz="2600" b="1" lang="it-IT">
                <a:solidFill>
                  <a:srgbClr val="003366"/>
                </a:solidFill>
                <a:latin typeface="Arial"/>
              </a:rPr>
              <a:t>Friuli</a:t>
            </a:r>
          </a:p>
        </p:txBody>
      </p:sp>
      <p:sp>
        <p:nvSpPr>
          <p:cNvPr id="7" name="Passo, testo"/>
          <p:cNvSpPr txBox="1"/>
          <p:nvPr/>
        </p:nvSpPr>
        <p:spPr>
          <a:xfrm>
            <a:off x="685800" y="3660648"/>
            <a:ext cx="2343150" cy="1716023"/>
          </a:xfrm>
          <a:prstGeom prst="rect">
            <a:avLst/>
          </a:prstGeom>
          <a:noFill/>
        </p:spPr>
        <p:txBody>
          <a:bodyPr wrap="square" anchor="t" lIns="73152" rIns="73152">
            <a:noAutofit/>
          </a:bodyPr>
          <a:lstStyle/>
          <a:p>
            <a:pPr algn="ctr">
              <a:spcAft>
                <a:spcPts val="0"/>
              </a:spcAft>
            </a:pPr>
            <a:r>
              <a:rPr sz="2400" b="0" lang="it-IT">
                <a:solidFill>
                  <a:srgbClr val="212529"/>
                </a:solidFill>
                <a:latin typeface="Arial"/>
              </a:rPr>
              <a:t>Zamberletti coordina i soccorsi.</a:t>
            </a:r>
          </a:p>
        </p:txBody>
      </p:sp>
      <p:pic>
        <p:nvPicPr>
          <p:cNvPr id="8" name="Freccia"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111246" y="3753611"/>
            <a:ext cx="338328" cy="219456"/>
          </a:xfrm>
          <a:prstGeom prst="rect">
            <a:avLst/>
          </a:prstGeom>
        </p:spPr>
      </p:pic>
      <p:sp>
        <p:nvSpPr>
          <p:cNvPr id="9" name="Passo">
            <a:extLst>
              <a:ext uri="{C183D7F6-B498-43B3-948B-1728B52AA6E4}">
                <adec:decorative xmlns:adec="http://schemas.microsoft.com/office/drawing/2017/decorative" val="1"/>
              </a:ext>
            </a:extLst>
          </p:cNvPr>
          <p:cNvSpPr/>
          <p:nvPr/>
        </p:nvSpPr>
        <p:spPr>
          <a:xfrm>
            <a:off x="3486150" y="2240280"/>
            <a:ext cx="2434590" cy="3246120"/>
          </a:xfrm>
          <a:prstGeom prst="roundRect">
            <a:avLst>
              <a:gd name="adj" fmla="val 9389"/>
            </a:avLst>
          </a:prstGeom>
          <a:solidFill>
            <a:srgbClr val="FFF0A8"/>
          </a:solidFill>
          <a:ln w="15875">
            <a:solidFill>
              <a:srgbClr val="003366"/>
            </a:solidFill>
          </a:ln>
        </p:spPr>
        <p:txBody>
          <a:bodyPr rtlCol="0" anchor="ctr"/>
          <a:lstStyle/>
          <a:p>
            <a:pPr algn="ctr"/>
          </a:p>
        </p:txBody>
      </p:sp>
      <p:sp>
        <p:nvSpPr>
          <p:cNvPr id="10" name="Etichetta"/>
          <p:cNvSpPr txBox="1"/>
          <p:nvPr/>
        </p:nvSpPr>
        <p:spPr>
          <a:xfrm>
            <a:off x="3531870" y="2286000"/>
            <a:ext cx="2343150" cy="868680"/>
          </a:xfrm>
          <a:prstGeom prst="rect">
            <a:avLst/>
          </a:prstGeom>
          <a:noFill/>
        </p:spPr>
        <p:txBody>
          <a:bodyPr wrap="square" anchor="ctr" lIns="73152" rIns="73152">
            <a:noAutofit/>
          </a:bodyPr>
          <a:lstStyle/>
          <a:p>
            <a:pPr algn="ctr"/>
            <a:r>
              <a:rPr sz="3800" b="0" lang="it-IT">
                <a:solidFill>
                  <a:srgbClr val="003366"/>
                </a:solidFill>
                <a:latin typeface="Edu NSW ACT Cursive"/>
              </a:rPr>
              <a:t>1980</a:t>
            </a:r>
          </a:p>
        </p:txBody>
      </p:sp>
      <p:sp>
        <p:nvSpPr>
          <p:cNvPr id="11" name="Passo, titolo"/>
          <p:cNvSpPr txBox="1"/>
          <p:nvPr/>
        </p:nvSpPr>
        <p:spPr>
          <a:xfrm>
            <a:off x="3531870" y="3154680"/>
            <a:ext cx="2343150" cy="505968"/>
          </a:xfrm>
          <a:prstGeom prst="rect">
            <a:avLst/>
          </a:prstGeom>
          <a:noFill/>
        </p:spPr>
        <p:txBody>
          <a:bodyPr wrap="square" anchor="t" lIns="73152" rIns="73152">
            <a:noAutofit/>
          </a:bodyPr>
          <a:lstStyle/>
          <a:p>
            <a:pPr algn="ctr">
              <a:spcAft>
                <a:spcPts val="0"/>
              </a:spcAft>
            </a:pPr>
            <a:r>
              <a:rPr sz="2600" b="1" lang="it-IT">
                <a:solidFill>
                  <a:srgbClr val="003366"/>
                </a:solidFill>
                <a:latin typeface="Arial"/>
              </a:rPr>
              <a:t>Irpinia</a:t>
            </a:r>
          </a:p>
        </p:txBody>
      </p:sp>
      <p:sp>
        <p:nvSpPr>
          <p:cNvPr id="12" name="Passo, testo"/>
          <p:cNvSpPr txBox="1"/>
          <p:nvPr/>
        </p:nvSpPr>
        <p:spPr>
          <a:xfrm>
            <a:off x="3531870" y="3660648"/>
            <a:ext cx="2343150" cy="1716023"/>
          </a:xfrm>
          <a:prstGeom prst="rect">
            <a:avLst/>
          </a:prstGeom>
          <a:noFill/>
        </p:spPr>
        <p:txBody>
          <a:bodyPr wrap="square" anchor="t" lIns="73152" rIns="73152">
            <a:noAutofit/>
          </a:bodyPr>
          <a:lstStyle/>
          <a:p>
            <a:pPr algn="ctr">
              <a:spcAft>
                <a:spcPts val="0"/>
              </a:spcAft>
            </a:pPr>
            <a:r>
              <a:rPr sz="2400" b="0" lang="it-IT">
                <a:solidFill>
                  <a:srgbClr val="212529"/>
                </a:solidFill>
                <a:latin typeface="Arial"/>
              </a:rPr>
              <a:t>I soccorsi arrivano in ritardo.</a:t>
            </a:r>
          </a:p>
        </p:txBody>
      </p:sp>
      <p:pic>
        <p:nvPicPr>
          <p:cNvPr id="13" name="Freccia"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957316" y="3753611"/>
            <a:ext cx="338328" cy="219456"/>
          </a:xfrm>
          <a:prstGeom prst="rect">
            <a:avLst/>
          </a:prstGeom>
        </p:spPr>
      </p:pic>
      <p:sp>
        <p:nvSpPr>
          <p:cNvPr id="14" name="Passo">
            <a:extLst>
              <a:ext uri="{C183D7F6-B498-43B3-948B-1728B52AA6E4}">
                <adec:decorative xmlns:adec="http://schemas.microsoft.com/office/drawing/2017/decorative" val="1"/>
              </a:ext>
            </a:extLst>
          </p:cNvPr>
          <p:cNvSpPr/>
          <p:nvPr/>
        </p:nvSpPr>
        <p:spPr>
          <a:xfrm>
            <a:off x="6332220" y="2240280"/>
            <a:ext cx="2434590" cy="3246120"/>
          </a:xfrm>
          <a:prstGeom prst="roundRect">
            <a:avLst>
              <a:gd name="adj" fmla="val 9389"/>
            </a:avLst>
          </a:prstGeom>
          <a:solidFill>
            <a:srgbClr val="F8DFE5"/>
          </a:solidFill>
          <a:ln w="15875">
            <a:solidFill>
              <a:srgbClr val="003366"/>
            </a:solidFill>
          </a:ln>
        </p:spPr>
        <p:txBody>
          <a:bodyPr rtlCol="0" anchor="ctr"/>
          <a:lstStyle/>
          <a:p>
            <a:pPr algn="ctr"/>
          </a:p>
        </p:txBody>
      </p:sp>
      <p:sp>
        <p:nvSpPr>
          <p:cNvPr id="15" name="Etichetta"/>
          <p:cNvSpPr txBox="1"/>
          <p:nvPr/>
        </p:nvSpPr>
        <p:spPr>
          <a:xfrm>
            <a:off x="6377940" y="2286000"/>
            <a:ext cx="2343150" cy="868680"/>
          </a:xfrm>
          <a:prstGeom prst="rect">
            <a:avLst/>
          </a:prstGeom>
          <a:noFill/>
        </p:spPr>
        <p:txBody>
          <a:bodyPr wrap="square" anchor="ctr" lIns="73152" rIns="73152">
            <a:noAutofit/>
          </a:bodyPr>
          <a:lstStyle/>
          <a:p>
            <a:pPr algn="ctr"/>
            <a:r>
              <a:rPr sz="3800" b="0" lang="it-IT">
                <a:solidFill>
                  <a:srgbClr val="003366"/>
                </a:solidFill>
                <a:latin typeface="Edu NSW ACT Cursive"/>
              </a:rPr>
              <a:t>1982</a:t>
            </a:r>
          </a:p>
        </p:txBody>
      </p:sp>
      <p:sp>
        <p:nvSpPr>
          <p:cNvPr id="16" name="Passo, titolo"/>
          <p:cNvSpPr txBox="1"/>
          <p:nvPr/>
        </p:nvSpPr>
        <p:spPr>
          <a:xfrm>
            <a:off x="6377940" y="3154680"/>
            <a:ext cx="2343150" cy="902208"/>
          </a:xfrm>
          <a:prstGeom prst="rect">
            <a:avLst/>
          </a:prstGeom>
          <a:noFill/>
        </p:spPr>
        <p:txBody>
          <a:bodyPr wrap="square" anchor="t" lIns="73152" rIns="73152">
            <a:noAutofit/>
          </a:bodyPr>
          <a:lstStyle/>
          <a:p>
            <a:pPr algn="ctr">
              <a:spcAft>
                <a:spcPts val="0"/>
              </a:spcAft>
            </a:pPr>
            <a:r>
              <a:rPr sz="2600" b="1" lang="it-IT">
                <a:solidFill>
                  <a:srgbClr val="003366"/>
                </a:solidFill>
                <a:latin typeface="Arial"/>
              </a:rPr>
              <a:t>Il Dipartimento</a:t>
            </a:r>
          </a:p>
        </p:txBody>
      </p:sp>
      <p:sp>
        <p:nvSpPr>
          <p:cNvPr id="17" name="Passo, testo"/>
          <p:cNvSpPr txBox="1"/>
          <p:nvPr/>
        </p:nvSpPr>
        <p:spPr>
          <a:xfrm>
            <a:off x="6377940" y="4056888"/>
            <a:ext cx="2343150" cy="1319783"/>
          </a:xfrm>
          <a:prstGeom prst="rect">
            <a:avLst/>
          </a:prstGeom>
          <a:noFill/>
        </p:spPr>
        <p:txBody>
          <a:bodyPr wrap="square" anchor="t" lIns="73152" rIns="73152">
            <a:noAutofit/>
          </a:bodyPr>
          <a:lstStyle/>
          <a:p>
            <a:pPr algn="ctr">
              <a:spcAft>
                <a:spcPts val="0"/>
              </a:spcAft>
            </a:pPr>
            <a:r>
              <a:rPr sz="2400" b="0" lang="it-IT">
                <a:solidFill>
                  <a:srgbClr val="212529"/>
                </a:solidFill>
                <a:latin typeface="Arial"/>
              </a:rPr>
              <a:t>Nasce presso il Governo.</a:t>
            </a:r>
          </a:p>
        </p:txBody>
      </p:sp>
      <p:pic>
        <p:nvPicPr>
          <p:cNvPr id="18" name="Freccia"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803386" y="3753611"/>
            <a:ext cx="338328" cy="219456"/>
          </a:xfrm>
          <a:prstGeom prst="rect">
            <a:avLst/>
          </a:prstGeom>
        </p:spPr>
      </p:pic>
      <p:sp>
        <p:nvSpPr>
          <p:cNvPr id="19" name="Passo">
            <a:extLst>
              <a:ext uri="{C183D7F6-B498-43B3-948B-1728B52AA6E4}">
                <adec:decorative xmlns:adec="http://schemas.microsoft.com/office/drawing/2017/decorative" val="1"/>
              </a:ext>
            </a:extLst>
          </p:cNvPr>
          <p:cNvSpPr/>
          <p:nvPr/>
        </p:nvSpPr>
        <p:spPr>
          <a:xfrm>
            <a:off x="9178290" y="2240280"/>
            <a:ext cx="2434590" cy="3246120"/>
          </a:xfrm>
          <a:prstGeom prst="roundRect">
            <a:avLst>
              <a:gd name="adj" fmla="val 9389"/>
            </a:avLst>
          </a:prstGeom>
          <a:solidFill>
            <a:srgbClr val="EDF7F0"/>
          </a:solidFill>
          <a:ln w="15875">
            <a:solidFill>
              <a:srgbClr val="003366"/>
            </a:solidFill>
          </a:ln>
        </p:spPr>
        <p:txBody>
          <a:bodyPr rtlCol="0" anchor="ctr"/>
          <a:lstStyle/>
          <a:p>
            <a:pPr algn="ctr"/>
          </a:p>
        </p:txBody>
      </p:sp>
      <p:sp>
        <p:nvSpPr>
          <p:cNvPr id="20" name="Etichetta"/>
          <p:cNvSpPr txBox="1"/>
          <p:nvPr/>
        </p:nvSpPr>
        <p:spPr>
          <a:xfrm>
            <a:off x="9224010" y="2286000"/>
            <a:ext cx="2343150" cy="868680"/>
          </a:xfrm>
          <a:prstGeom prst="rect">
            <a:avLst/>
          </a:prstGeom>
          <a:noFill/>
        </p:spPr>
        <p:txBody>
          <a:bodyPr wrap="square" anchor="ctr" lIns="73152" rIns="73152">
            <a:noAutofit/>
          </a:bodyPr>
          <a:lstStyle/>
          <a:p>
            <a:pPr algn="ctr"/>
            <a:r>
              <a:rPr sz="3800" b="0" lang="it-IT">
                <a:solidFill>
                  <a:srgbClr val="003366"/>
                </a:solidFill>
                <a:latin typeface="Edu NSW ACT Cursive"/>
              </a:rPr>
              <a:t>1992</a:t>
            </a:r>
          </a:p>
        </p:txBody>
      </p:sp>
      <p:sp>
        <p:nvSpPr>
          <p:cNvPr id="21" name="Passo, titolo"/>
          <p:cNvSpPr txBox="1"/>
          <p:nvPr/>
        </p:nvSpPr>
        <p:spPr>
          <a:xfrm>
            <a:off x="9224010" y="3154680"/>
            <a:ext cx="2343150" cy="902208"/>
          </a:xfrm>
          <a:prstGeom prst="rect">
            <a:avLst/>
          </a:prstGeom>
          <a:noFill/>
        </p:spPr>
        <p:txBody>
          <a:bodyPr wrap="square" anchor="t" lIns="73152" rIns="73152">
            <a:noAutofit/>
          </a:bodyPr>
          <a:lstStyle/>
          <a:p>
            <a:pPr algn="ctr">
              <a:spcAft>
                <a:spcPts val="0"/>
              </a:spcAft>
            </a:pPr>
            <a:r>
              <a:rPr sz="2600" b="1" lang="it-IT">
                <a:solidFill>
                  <a:srgbClr val="003366"/>
                </a:solidFill>
                <a:latin typeface="Arial"/>
              </a:rPr>
              <a:t>Il Servizio nazionale</a:t>
            </a:r>
          </a:p>
        </p:txBody>
      </p:sp>
      <p:sp>
        <p:nvSpPr>
          <p:cNvPr id="22" name="Passo, testo"/>
          <p:cNvSpPr txBox="1"/>
          <p:nvPr/>
        </p:nvSpPr>
        <p:spPr>
          <a:xfrm>
            <a:off x="9224010" y="4056888"/>
            <a:ext cx="2343150" cy="1319783"/>
          </a:xfrm>
          <a:prstGeom prst="rect">
            <a:avLst/>
          </a:prstGeom>
          <a:noFill/>
        </p:spPr>
        <p:txBody>
          <a:bodyPr wrap="square" anchor="t" lIns="73152" rIns="73152">
            <a:noAutofit/>
          </a:bodyPr>
          <a:lstStyle/>
          <a:p>
            <a:pPr algn="ctr">
              <a:spcAft>
                <a:spcPts val="0"/>
              </a:spcAft>
            </a:pPr>
            <a:r>
              <a:rPr sz="2400" b="0" lang="it-IT">
                <a:solidFill>
                  <a:srgbClr val="212529"/>
                </a:solidFill>
                <a:latin typeface="Arial"/>
              </a:rPr>
              <a:t>Tutti lavorano insieme.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ennellata"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8368" y="1148080"/>
            <a:ext cx="8172551" cy="201168"/>
          </a:xfrm>
          <a:prstGeom prst="rect">
            <a:avLst/>
          </a:prstGeom>
        </p:spPr>
      </p:pic>
      <p:sp>
        <p:nvSpPr>
          <p:cNvPr id="2" name="Title 1"/>
          <p:cNvSpPr>
            <a:spLocks noGrp="1"/>
          </p:cNvSpPr>
          <p:nvPr>
            <p:ph type="title"/>
          </p:nvPr>
        </p:nvSpPr>
        <p:spPr>
          <a:xfrm>
            <a:off x="640080" y="228600"/>
            <a:ext cx="10972800" cy="1230630"/>
          </a:xfrm>
        </p:spPr>
        <p:txBody>
          <a:bodyPr wrap="square" anchor="b">
            <a:noAutofit/>
          </a:bodyPr>
          <a:lstStyle/>
          <a:p>
            <a:pPr algn="l"/>
            <a:r>
              <a:rPr sz="4600" b="0" lang="it-IT">
                <a:solidFill>
                  <a:srgbClr val="003366"/>
                </a:solidFill>
                <a:latin typeface="Edu NSW ACT Cursive"/>
              </a:rPr>
              <a:t>Gioco: prima, durante o dopo?</a:t>
            </a:r>
          </a:p>
        </p:txBody>
      </p:sp>
      <p:sp>
        <p:nvSpPr>
          <p:cNvPr id="4" name="Riquadro">
            <a:extLst>
              <a:ext uri="{C183D7F6-B498-43B3-948B-1728B52AA6E4}">
                <adec:decorative xmlns:adec="http://schemas.microsoft.com/office/drawing/2017/decorative" val="1"/>
              </a:ext>
            </a:extLst>
          </p:cNvPr>
          <p:cNvSpPr/>
          <p:nvPr/>
        </p:nvSpPr>
        <p:spPr>
          <a:xfrm>
            <a:off x="640080" y="1938528"/>
            <a:ext cx="7635240" cy="3154680"/>
          </a:xfrm>
          <a:prstGeom prst="roundRect">
            <a:avLst>
              <a:gd name="adj" fmla="val 3478"/>
            </a:avLst>
          </a:prstGeom>
          <a:noFill/>
          <a:ln w="19050">
            <a:solidFill>
              <a:srgbClr val="003366"/>
            </a:solidFill>
            <a:prstDash val="dash"/>
          </a:ln>
        </p:spPr>
        <p:txBody>
          <a:bodyPr rtlCol="0" anchor="ctr"/>
          <a:lstStyle/>
          <a:p>
            <a:pPr algn="ctr"/>
          </a:p>
        </p:txBody>
      </p:sp>
      <p:sp>
        <p:nvSpPr>
          <p:cNvPr id="5" name="Linguetta"/>
          <p:cNvSpPr/>
          <p:nvPr/>
        </p:nvSpPr>
        <p:spPr>
          <a:xfrm>
            <a:off x="868680" y="1481328"/>
            <a:ext cx="2654625" cy="590550"/>
          </a:xfrm>
          <a:prstGeom prst="round2SameRect">
            <a:avLst>
              <a:gd name="adj1" fmla="val 28000"/>
              <a:gd name="adj2" fmla="val 0"/>
            </a:avLst>
          </a:prstGeom>
          <a:solidFill>
            <a:srgbClr val="DCEEFA"/>
          </a:solidFill>
          <a:ln w="15875">
            <a:solidFill>
              <a:srgbClr val="003366"/>
            </a:solidFill>
          </a:ln>
        </p:spPr>
        <p:txBody>
          <a:bodyPr rtlCol="0" anchor="ctr" wrap="none" lIns="182880" rIns="182880" tIns="0" bIns="0">
            <a:noAutofit/>
          </a:bodyPr>
          <a:lstStyle/>
          <a:p>
            <a:pPr algn="l"/>
            <a:r>
              <a:rPr sz="3000" b="0" lang="it-IT">
                <a:solidFill>
                  <a:srgbClr val="003366"/>
                </a:solidFill>
                <a:latin typeface="Edu NSW ACT Cursive"/>
              </a:rPr>
              <a:t>Come si fa</a:t>
            </a:r>
          </a:p>
        </p:txBody>
      </p:sp>
      <p:sp>
        <p:nvSpPr>
          <p:cNvPr id="6" name="Numero"/>
          <p:cNvSpPr/>
          <p:nvPr/>
        </p:nvSpPr>
        <p:spPr>
          <a:xfrm>
            <a:off x="868680" y="2284475"/>
            <a:ext cx="603504" cy="603504"/>
          </a:xfrm>
          <a:prstGeom prst="ellipse">
            <a:avLst/>
          </a:prstGeom>
          <a:solidFill>
            <a:srgbClr val="FFFFFF"/>
          </a:solidFill>
          <a:ln w="25400">
            <a:solidFill>
              <a:srgbClr val="003366"/>
            </a:solidFill>
          </a:ln>
        </p:spPr>
        <p:txBody>
          <a:bodyPr rtlCol="0" anchor="ctr" wrap="square" lIns="0" rIns="0" tIns="0" bIns="0">
            <a:noAutofit/>
          </a:bodyPr>
          <a:lstStyle/>
          <a:p>
            <a:pPr algn="ctr"/>
            <a:r>
              <a:rPr sz="3000" b="0" lang="it-IT">
                <a:solidFill>
                  <a:srgbClr val="003366"/>
                </a:solidFill>
                <a:latin typeface="Edu NSW ACT Cursive"/>
              </a:rPr>
              <a:t>1</a:t>
            </a:r>
          </a:p>
        </p:txBody>
      </p:sp>
      <p:sp>
        <p:nvSpPr>
          <p:cNvPr id="7" name="Passo 1"/>
          <p:cNvSpPr txBox="1"/>
          <p:nvPr/>
        </p:nvSpPr>
        <p:spPr>
          <a:xfrm>
            <a:off x="1645920" y="2121408"/>
            <a:ext cx="6492240" cy="929640"/>
          </a:xfrm>
          <a:prstGeom prst="rect">
            <a:avLst/>
          </a:prstGeom>
          <a:noFill/>
        </p:spPr>
        <p:txBody>
          <a:bodyPr wrap="square" anchor="ctr" lIns="73152" rIns="73152">
            <a:noAutofit/>
          </a:bodyPr>
          <a:lstStyle/>
          <a:p>
            <a:pPr algn="l">
              <a:spcAft>
                <a:spcPts val="0"/>
              </a:spcAft>
            </a:pPr>
            <a:r>
              <a:rPr sz="2600" b="0" lang="it-IT">
                <a:solidFill>
                  <a:srgbClr val="212529"/>
                </a:solidFill>
                <a:latin typeface="Arial"/>
              </a:rPr>
              <a:t>Ascoltate la frase che legge il volontario.</a:t>
            </a:r>
          </a:p>
        </p:txBody>
      </p:sp>
      <p:sp>
        <p:nvSpPr>
          <p:cNvPr id="8" name="Numero"/>
          <p:cNvSpPr/>
          <p:nvPr/>
        </p:nvSpPr>
        <p:spPr>
          <a:xfrm>
            <a:off x="868680" y="3214115"/>
            <a:ext cx="603504" cy="603504"/>
          </a:xfrm>
          <a:prstGeom prst="ellipse">
            <a:avLst/>
          </a:prstGeom>
          <a:solidFill>
            <a:srgbClr val="FFFFFF"/>
          </a:solidFill>
          <a:ln w="25400">
            <a:solidFill>
              <a:srgbClr val="003366"/>
            </a:solidFill>
          </a:ln>
        </p:spPr>
        <p:txBody>
          <a:bodyPr rtlCol="0" anchor="ctr" wrap="square" lIns="0" rIns="0" tIns="0" bIns="0">
            <a:noAutofit/>
          </a:bodyPr>
          <a:lstStyle/>
          <a:p>
            <a:pPr algn="ctr"/>
            <a:r>
              <a:rPr sz="3000" b="0" lang="it-IT">
                <a:solidFill>
                  <a:srgbClr val="003366"/>
                </a:solidFill>
                <a:latin typeface="Edu NSW ACT Cursive"/>
              </a:rPr>
              <a:t>2</a:t>
            </a:r>
          </a:p>
        </p:txBody>
      </p:sp>
      <p:sp>
        <p:nvSpPr>
          <p:cNvPr id="9" name="Passo 2"/>
          <p:cNvSpPr txBox="1"/>
          <p:nvPr/>
        </p:nvSpPr>
        <p:spPr>
          <a:xfrm>
            <a:off x="1645920" y="3051048"/>
            <a:ext cx="6492240" cy="929640"/>
          </a:xfrm>
          <a:prstGeom prst="rect">
            <a:avLst/>
          </a:prstGeom>
          <a:noFill/>
        </p:spPr>
        <p:txBody>
          <a:bodyPr wrap="square" anchor="ctr" lIns="73152" rIns="73152">
            <a:noAutofit/>
          </a:bodyPr>
          <a:lstStyle/>
          <a:p>
            <a:pPr algn="l">
              <a:spcAft>
                <a:spcPts val="0"/>
              </a:spcAft>
            </a:pPr>
            <a:r>
              <a:rPr sz="2600" b="0" lang="it-IT">
                <a:solidFill>
                  <a:srgbClr val="212529"/>
                </a:solidFill>
                <a:latin typeface="Arial"/>
              </a:rPr>
              <a:t>Alzate le dita: 1 previsione, 2 prevenzione, 3 soccorso, 4 superamento.</a:t>
            </a:r>
          </a:p>
        </p:txBody>
      </p:sp>
      <p:sp>
        <p:nvSpPr>
          <p:cNvPr id="10" name="Numero"/>
          <p:cNvSpPr/>
          <p:nvPr/>
        </p:nvSpPr>
        <p:spPr>
          <a:xfrm>
            <a:off x="868680" y="4143756"/>
            <a:ext cx="603504" cy="603504"/>
          </a:xfrm>
          <a:prstGeom prst="ellipse">
            <a:avLst/>
          </a:prstGeom>
          <a:solidFill>
            <a:srgbClr val="FFFFFF"/>
          </a:solidFill>
          <a:ln w="25400">
            <a:solidFill>
              <a:srgbClr val="003366"/>
            </a:solidFill>
          </a:ln>
        </p:spPr>
        <p:txBody>
          <a:bodyPr rtlCol="0" anchor="ctr" wrap="square" lIns="0" rIns="0" tIns="0" bIns="0">
            <a:noAutofit/>
          </a:bodyPr>
          <a:lstStyle/>
          <a:p>
            <a:pPr algn="ctr"/>
            <a:r>
              <a:rPr sz="3000" b="0" lang="it-IT">
                <a:solidFill>
                  <a:srgbClr val="003366"/>
                </a:solidFill>
                <a:latin typeface="Edu NSW ACT Cursive"/>
              </a:rPr>
              <a:t>3</a:t>
            </a:r>
          </a:p>
        </p:txBody>
      </p:sp>
      <p:sp>
        <p:nvSpPr>
          <p:cNvPr id="11" name="Passo 3"/>
          <p:cNvSpPr txBox="1"/>
          <p:nvPr/>
        </p:nvSpPr>
        <p:spPr>
          <a:xfrm>
            <a:off x="1645920" y="3980688"/>
            <a:ext cx="6492240" cy="929640"/>
          </a:xfrm>
          <a:prstGeom prst="rect">
            <a:avLst/>
          </a:prstGeom>
          <a:noFill/>
        </p:spPr>
        <p:txBody>
          <a:bodyPr wrap="square" anchor="ctr" lIns="73152" rIns="73152">
            <a:noAutofit/>
          </a:bodyPr>
          <a:lstStyle/>
          <a:p>
            <a:pPr algn="l">
              <a:spcAft>
                <a:spcPts val="0"/>
              </a:spcAft>
            </a:pPr>
            <a:r>
              <a:rPr sz="2600" b="0" lang="it-IT">
                <a:solidFill>
                  <a:srgbClr val="212529"/>
                </a:solidFill>
                <a:latin typeface="Arial"/>
              </a:rPr>
              <a:t>Spiegate perché avete scelto così.</a:t>
            </a:r>
          </a:p>
        </p:txBody>
      </p:sp>
      <p:sp>
        <p:nvSpPr>
          <p:cNvPr id="12" name="Materiale"/>
          <p:cNvSpPr txBox="1"/>
          <p:nvPr/>
        </p:nvSpPr>
        <p:spPr>
          <a:xfrm>
            <a:off x="640080" y="5212080"/>
            <a:ext cx="7772400" cy="1371600"/>
          </a:xfrm>
          <a:prstGeom prst="rect">
            <a:avLst/>
          </a:prstGeom>
          <a:noFill/>
        </p:spPr>
        <p:txBody>
          <a:bodyPr wrap="square" anchor="t" lIns="73152" rIns="73152">
            <a:noAutofit/>
          </a:bodyPr>
          <a:lstStyle/>
          <a:p>
            <a:pPr>
              <a:spcAft>
                <a:spcPts val="600"/>
              </a:spcAft>
            </a:pPr>
            <a:r>
              <a:rPr sz="2400" b="1" lang="it-IT">
                <a:solidFill>
                  <a:srgbClr val="212529"/>
                </a:solidFill>
                <a:latin typeface="Arial"/>
              </a:rPr>
              <a:t>Scheda: </a:t>
            </a:r>
            <a:r>
              <a:rPr sz="2400" b="0" lang="it-IT" u="sng">
                <a:solidFill>
                  <a:srgbClr val="003366"/>
                </a:solidFill>
                <a:latin typeface="Arial"/>
                <a:hlinkClick r:id="rId3"/>
              </a:rPr>
              <a:t>Kit per la scuola primaria, Modulo 1</a:t>
            </a:r>
          </a:p>
          <a:p>
            <a:r>
              <a:rPr sz="2400" b="0" lang="it-IT">
                <a:solidFill>
                  <a:srgbClr val="212529"/>
                </a:solidFill>
                <a:latin typeface="Arial"/>
              </a:rPr>
              <a:t>Non serve una scheda da stampare: bastano le mani.</a:t>
            </a:r>
          </a:p>
        </p:txBody>
      </p:sp>
      <p:sp>
        <p:nvSpPr>
          <p:cNvPr id="13" name="Durata"/>
          <p:cNvSpPr/>
          <p:nvPr/>
        </p:nvSpPr>
        <p:spPr>
          <a:xfrm rot="180000">
            <a:off x="8686800" y="1691640"/>
            <a:ext cx="2788920" cy="1097280"/>
          </a:xfrm>
          <a:prstGeom prst="rect">
            <a:avLst/>
          </a:prstGeom>
          <a:solidFill>
            <a:srgbClr val="FFF0A8"/>
          </a:solidFill>
          <a:ln>
            <a:noFill/>
          </a:ln>
          <a:effectLst>
            <a:outerShdw blurRad="63500" dist="25400" dir="5400000" algn="t" rotWithShape="0">
              <a:srgbClr val="000000">
                <a:alpha val="22000"/>
              </a:srgbClr>
            </a:outerShdw>
          </a:effectLst>
        </p:spPr>
        <p:txBody>
          <a:bodyPr rtlCol="0" anchor="ctr" wrap="none" lIns="109728" rIns="109728" tIns="36576" bIns="36576">
            <a:noAutofit/>
          </a:bodyPr>
          <a:lstStyle/>
          <a:p>
            <a:pPr algn="ctr"/>
            <a:r>
              <a:rPr sz="4000" b="0" lang="it-IT">
                <a:solidFill>
                  <a:srgbClr val="003366"/>
                </a:solidFill>
                <a:latin typeface="Edu NSW ACT Cursive"/>
              </a:rPr>
              <a:t>15 minuti</a:t>
            </a:r>
          </a:p>
        </p:txBody>
      </p:sp>
      <p:sp>
        <p:nvSpPr>
          <p:cNvPr id="14" name="Cartoncino">
            <a:extLst>
              <a:ext uri="{C183D7F6-B498-43B3-948B-1728B52AA6E4}">
                <adec:decorative xmlns:adec="http://schemas.microsoft.com/office/drawing/2017/decorative" val="1"/>
              </a:ext>
            </a:extLst>
          </p:cNvPr>
          <p:cNvSpPr/>
          <p:nvPr/>
        </p:nvSpPr>
        <p:spPr>
          <a:xfrm rot="21480000">
            <a:off x="8961120" y="3246120"/>
            <a:ext cx="2468880" cy="2468880"/>
          </a:xfrm>
          <a:prstGeom prst="rect">
            <a:avLst/>
          </a:prstGeom>
          <a:solidFill>
            <a:srgbClr val="FFFFFF"/>
          </a:solidFill>
          <a:ln w="9525">
            <a:solidFill>
              <a:srgbClr val="ADB5BD"/>
            </a:solidFill>
          </a:ln>
          <a:effectLst>
            <a:outerShdw blurRad="63500" dist="25400" dir="5400000" algn="t" rotWithShape="0">
              <a:srgbClr val="000000">
                <a:alpha val="22000"/>
              </a:srgbClr>
            </a:outerShdw>
          </a:effectLst>
        </p:spPr>
        <p:txBody>
          <a:bodyPr rtlCol="0" anchor="ctr"/>
          <a:lstStyle/>
          <a:p>
            <a:pPr algn="ctr"/>
          </a:p>
        </p:txBody>
      </p:sp>
      <p:pic>
        <p:nvPicPr>
          <p:cNvPr id="15" name="Pittogramma" descr="Pittogramma: un calendario"/>
          <p:cNvPicPr>
            <a:picLocks noChangeAspect="1"/>
          </p:cNvPicPr>
          <p:nvPr/>
        </p:nvPicPr>
        <p:blipFill>
          <a:blip r:embed="rId4"/>
          <a:stretch>
            <a:fillRect/>
          </a:stretch>
        </p:blipFill>
        <p:spPr>
          <a:xfrm rot="21480000">
            <a:off x="9133941" y="3418941"/>
            <a:ext cx="2123236" cy="212323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ennellata"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8368" y="1148080"/>
            <a:ext cx="3326904" cy="201168"/>
          </a:xfrm>
          <a:prstGeom prst="rect">
            <a:avLst/>
          </a:prstGeom>
        </p:spPr>
      </p:pic>
      <p:sp>
        <p:nvSpPr>
          <p:cNvPr id="2" name="Title 1"/>
          <p:cNvSpPr>
            <a:spLocks noGrp="1"/>
          </p:cNvSpPr>
          <p:nvPr>
            <p:ph type="title"/>
          </p:nvPr>
        </p:nvSpPr>
        <p:spPr>
          <a:xfrm>
            <a:off x="640080" y="228600"/>
            <a:ext cx="10972800" cy="1230630"/>
          </a:xfrm>
        </p:spPr>
        <p:txBody>
          <a:bodyPr wrap="square" anchor="b">
            <a:noAutofit/>
          </a:bodyPr>
          <a:lstStyle/>
          <a:p>
            <a:pPr algn="l"/>
            <a:r>
              <a:rPr sz="4600" b="0" lang="it-IT">
                <a:solidFill>
                  <a:srgbClr val="003366"/>
                </a:solidFill>
                <a:latin typeface="Edu NSW ACT Cursive"/>
              </a:rPr>
              <a:t>Ricordiamo</a:t>
            </a:r>
          </a:p>
        </p:txBody>
      </p:sp>
      <p:sp>
        <p:nvSpPr>
          <p:cNvPr id="4" name="Riquadro">
            <a:extLst>
              <a:ext uri="{C183D7F6-B498-43B3-948B-1728B52AA6E4}">
                <adec:decorative xmlns:adec="http://schemas.microsoft.com/office/drawing/2017/decorative" val="1"/>
              </a:ext>
            </a:extLst>
          </p:cNvPr>
          <p:cNvSpPr/>
          <p:nvPr/>
        </p:nvSpPr>
        <p:spPr>
          <a:xfrm>
            <a:off x="640080" y="1600200"/>
            <a:ext cx="10972800" cy="4572000"/>
          </a:xfrm>
          <a:prstGeom prst="roundRect">
            <a:avLst>
              <a:gd name="adj" fmla="val 2400"/>
            </a:avLst>
          </a:prstGeom>
          <a:solidFill>
            <a:srgbClr val="EDF7F0"/>
          </a:solidFill>
          <a:ln w="22225">
            <a:solidFill>
              <a:srgbClr val="146C43"/>
            </a:solidFill>
            <a:prstDash val="dash"/>
          </a:ln>
        </p:spPr>
        <p:txBody>
          <a:bodyPr rtlCol="0" anchor="ctr"/>
          <a:lstStyle/>
          <a:p>
            <a:pPr algn="ctr"/>
          </a:p>
        </p:txBody>
      </p:sp>
      <p:sp>
        <p:nvSpPr>
          <p:cNvPr id="5" name="Cartoncino">
            <a:extLst>
              <a:ext uri="{C183D7F6-B498-43B3-948B-1728B52AA6E4}">
                <adec:decorative xmlns:adec="http://schemas.microsoft.com/office/drawing/2017/decorative" val="1"/>
              </a:ext>
            </a:extLst>
          </p:cNvPr>
          <p:cNvSpPr/>
          <p:nvPr/>
        </p:nvSpPr>
        <p:spPr>
          <a:xfrm rot="21480000">
            <a:off x="960119" y="1889759"/>
            <a:ext cx="1188720" cy="1188720"/>
          </a:xfrm>
          <a:prstGeom prst="rect">
            <a:avLst/>
          </a:prstGeom>
          <a:solidFill>
            <a:srgbClr val="FFFFFF"/>
          </a:solidFill>
          <a:ln w="9525">
            <a:solidFill>
              <a:srgbClr val="ADB5BD"/>
            </a:solidFill>
          </a:ln>
          <a:effectLst>
            <a:outerShdw blurRad="63500" dist="25400" dir="5400000" algn="t" rotWithShape="0">
              <a:srgbClr val="000000">
                <a:alpha val="22000"/>
              </a:srgbClr>
            </a:outerShdw>
          </a:effectLst>
        </p:spPr>
        <p:txBody>
          <a:bodyPr rtlCol="0" anchor="ctr"/>
          <a:lstStyle/>
          <a:p>
            <a:pPr algn="ctr"/>
          </a:p>
        </p:txBody>
      </p:sp>
      <p:pic>
        <p:nvPicPr>
          <p:cNvPr id="6" name="Pittogramma" descr="Pittogramma: un gruppo di persone"/>
          <p:cNvPicPr>
            <a:picLocks noChangeAspect="1"/>
          </p:cNvPicPr>
          <p:nvPr/>
        </p:nvPicPr>
        <p:blipFill>
          <a:blip r:embed="rId3"/>
          <a:stretch>
            <a:fillRect/>
          </a:stretch>
        </p:blipFill>
        <p:spPr>
          <a:xfrm rot="21480000">
            <a:off x="1043330" y="1972970"/>
            <a:ext cx="1022299" cy="1022299"/>
          </a:xfrm>
          <a:prstGeom prst="rect">
            <a:avLst/>
          </a:prstGeom>
        </p:spPr>
      </p:pic>
      <p:sp>
        <p:nvSpPr>
          <p:cNvPr id="7" name="Ricordiamo 1"/>
          <p:cNvSpPr txBox="1"/>
          <p:nvPr/>
        </p:nvSpPr>
        <p:spPr>
          <a:xfrm>
            <a:off x="2468880" y="1783080"/>
            <a:ext cx="8869680" cy="1402080"/>
          </a:xfrm>
          <a:prstGeom prst="rect">
            <a:avLst/>
          </a:prstGeom>
          <a:noFill/>
        </p:spPr>
        <p:txBody>
          <a:bodyPr wrap="square" anchor="ctr" lIns="73152" rIns="73152">
            <a:noAutofit/>
          </a:bodyPr>
          <a:lstStyle/>
          <a:p>
            <a:pPr algn="l">
              <a:spcAft>
                <a:spcPts val="0"/>
              </a:spcAft>
            </a:pPr>
            <a:r>
              <a:rPr sz="3000" b="1" lang="it-IT">
                <a:solidFill>
                  <a:srgbClr val="212529"/>
                </a:solidFill>
                <a:latin typeface="Arial"/>
              </a:rPr>
              <a:t>La Protezione Civile è una squadra di tante squadre.</a:t>
            </a:r>
          </a:p>
        </p:txBody>
      </p:sp>
      <p:sp>
        <p:nvSpPr>
          <p:cNvPr id="8" name="Cartoncino">
            <a:extLst>
              <a:ext uri="{C183D7F6-B498-43B3-948B-1728B52AA6E4}">
                <adec:decorative xmlns:adec="http://schemas.microsoft.com/office/drawing/2017/decorative" val="1"/>
              </a:ext>
            </a:extLst>
          </p:cNvPr>
          <p:cNvSpPr/>
          <p:nvPr/>
        </p:nvSpPr>
        <p:spPr>
          <a:xfrm rot="120000">
            <a:off x="960119" y="3291840"/>
            <a:ext cx="1188720" cy="1188720"/>
          </a:xfrm>
          <a:prstGeom prst="rect">
            <a:avLst/>
          </a:prstGeom>
          <a:solidFill>
            <a:srgbClr val="FFFFFF"/>
          </a:solidFill>
          <a:ln w="9525">
            <a:solidFill>
              <a:srgbClr val="ADB5BD"/>
            </a:solidFill>
          </a:ln>
          <a:effectLst>
            <a:outerShdw blurRad="63500" dist="25400" dir="5400000" algn="t" rotWithShape="0">
              <a:srgbClr val="000000">
                <a:alpha val="22000"/>
              </a:srgbClr>
            </a:outerShdw>
          </a:effectLst>
        </p:spPr>
        <p:txBody>
          <a:bodyPr rtlCol="0" anchor="ctr"/>
          <a:lstStyle/>
          <a:p>
            <a:pPr algn="ctr"/>
          </a:p>
        </p:txBody>
      </p:sp>
      <p:pic>
        <p:nvPicPr>
          <p:cNvPr id="9" name="Pittogramma" descr="Pittogramma: un orologio"/>
          <p:cNvPicPr>
            <a:picLocks noChangeAspect="1"/>
          </p:cNvPicPr>
          <p:nvPr/>
        </p:nvPicPr>
        <p:blipFill>
          <a:blip r:embed="rId4"/>
          <a:stretch>
            <a:fillRect/>
          </a:stretch>
        </p:blipFill>
        <p:spPr>
          <a:xfrm rot="120000">
            <a:off x="1043330" y="3375050"/>
            <a:ext cx="1022299" cy="1022299"/>
          </a:xfrm>
          <a:prstGeom prst="rect">
            <a:avLst/>
          </a:prstGeom>
        </p:spPr>
      </p:pic>
      <p:sp>
        <p:nvSpPr>
          <p:cNvPr id="10" name="Ricordiamo 2"/>
          <p:cNvSpPr txBox="1"/>
          <p:nvPr/>
        </p:nvSpPr>
        <p:spPr>
          <a:xfrm>
            <a:off x="2468880" y="3185160"/>
            <a:ext cx="8869680" cy="1402080"/>
          </a:xfrm>
          <a:prstGeom prst="rect">
            <a:avLst/>
          </a:prstGeom>
          <a:noFill/>
        </p:spPr>
        <p:txBody>
          <a:bodyPr wrap="square" anchor="ctr" lIns="73152" rIns="73152">
            <a:noAutofit/>
          </a:bodyPr>
          <a:lstStyle/>
          <a:p>
            <a:pPr algn="l">
              <a:spcAft>
                <a:spcPts val="0"/>
              </a:spcAft>
            </a:pPr>
            <a:r>
              <a:rPr sz="3000" b="1" lang="it-IT">
                <a:solidFill>
                  <a:srgbClr val="212529"/>
                </a:solidFill>
                <a:latin typeface="Arial"/>
              </a:rPr>
              <a:t>Lavora prima, durante e dopo un’emergenza.</a:t>
            </a:r>
          </a:p>
        </p:txBody>
      </p:sp>
      <p:sp>
        <p:nvSpPr>
          <p:cNvPr id="11" name="Cartoncino">
            <a:extLst>
              <a:ext uri="{C183D7F6-B498-43B3-948B-1728B52AA6E4}">
                <adec:decorative xmlns:adec="http://schemas.microsoft.com/office/drawing/2017/decorative" val="1"/>
              </a:ext>
            </a:extLst>
          </p:cNvPr>
          <p:cNvSpPr/>
          <p:nvPr/>
        </p:nvSpPr>
        <p:spPr>
          <a:xfrm rot="21540000">
            <a:off x="960119" y="4693920"/>
            <a:ext cx="1188720" cy="1188720"/>
          </a:xfrm>
          <a:prstGeom prst="rect">
            <a:avLst/>
          </a:prstGeom>
          <a:solidFill>
            <a:srgbClr val="FFFFFF"/>
          </a:solidFill>
          <a:ln w="9525">
            <a:solidFill>
              <a:srgbClr val="ADB5BD"/>
            </a:solidFill>
          </a:ln>
          <a:effectLst>
            <a:outerShdw blurRad="63500" dist="25400" dir="5400000" algn="t" rotWithShape="0">
              <a:srgbClr val="000000">
                <a:alpha val="22000"/>
              </a:srgbClr>
            </a:outerShdw>
          </a:effectLst>
        </p:spPr>
        <p:txBody>
          <a:bodyPr rtlCol="0" anchor="ctr"/>
          <a:lstStyle/>
          <a:p>
            <a:pPr algn="ctr"/>
          </a:p>
        </p:txBody>
      </p:sp>
      <p:pic>
        <p:nvPicPr>
          <p:cNvPr id="12" name="Pittogramma" descr="Pittogramma: una bambina"/>
          <p:cNvPicPr>
            <a:picLocks noChangeAspect="1"/>
          </p:cNvPicPr>
          <p:nvPr/>
        </p:nvPicPr>
        <p:blipFill>
          <a:blip r:embed="rId5"/>
          <a:stretch>
            <a:fillRect/>
          </a:stretch>
        </p:blipFill>
        <p:spPr>
          <a:xfrm rot="21540000">
            <a:off x="1043330" y="4777130"/>
            <a:ext cx="1022299" cy="1022299"/>
          </a:xfrm>
          <a:prstGeom prst="rect">
            <a:avLst/>
          </a:prstGeom>
        </p:spPr>
      </p:pic>
      <p:sp>
        <p:nvSpPr>
          <p:cNvPr id="13" name="Ricordiamo 3"/>
          <p:cNvSpPr txBox="1"/>
          <p:nvPr/>
        </p:nvSpPr>
        <p:spPr>
          <a:xfrm>
            <a:off x="2468880" y="4587240"/>
            <a:ext cx="8869680" cy="1402080"/>
          </a:xfrm>
          <a:prstGeom prst="rect">
            <a:avLst/>
          </a:prstGeom>
          <a:noFill/>
        </p:spPr>
        <p:txBody>
          <a:bodyPr wrap="square" anchor="ctr" lIns="73152" rIns="73152">
            <a:noAutofit/>
          </a:bodyPr>
          <a:lstStyle/>
          <a:p>
            <a:pPr algn="l">
              <a:spcAft>
                <a:spcPts val="0"/>
              </a:spcAft>
            </a:pPr>
            <a:r>
              <a:rPr sz="3000" b="1" lang="it-IT">
                <a:solidFill>
                  <a:srgbClr val="212529"/>
                </a:solidFill>
                <a:latin typeface="Arial"/>
              </a:rPr>
              <a:t>Anche tu fai parte della squadra, quando ti prepari.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ennellata"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8368" y="1148080"/>
            <a:ext cx="5014074" cy="201168"/>
          </a:xfrm>
          <a:prstGeom prst="rect">
            <a:avLst/>
          </a:prstGeom>
        </p:spPr>
      </p:pic>
      <p:sp>
        <p:nvSpPr>
          <p:cNvPr id="2" name="Title 1"/>
          <p:cNvSpPr>
            <a:spLocks noGrp="1"/>
          </p:cNvSpPr>
          <p:nvPr>
            <p:ph type="title"/>
          </p:nvPr>
        </p:nvSpPr>
        <p:spPr>
          <a:xfrm>
            <a:off x="640080" y="228600"/>
            <a:ext cx="10972800" cy="1230630"/>
          </a:xfrm>
        </p:spPr>
        <p:txBody>
          <a:bodyPr wrap="square" anchor="b">
            <a:noAutofit/>
          </a:bodyPr>
          <a:lstStyle/>
          <a:p>
            <a:pPr algn="l"/>
            <a:r>
              <a:rPr sz="4600" b="0" lang="it-IT">
                <a:solidFill>
                  <a:srgbClr val="003366"/>
                </a:solidFill>
                <a:latin typeface="Edu NSW ACT Cursive"/>
              </a:rPr>
              <a:t>Per saperne di più</a:t>
            </a:r>
          </a:p>
        </p:txBody>
      </p:sp>
      <p:sp>
        <p:nvSpPr>
          <p:cNvPr id="4" name="Riquadro">
            <a:extLst>
              <a:ext uri="{C183D7F6-B498-43B3-948B-1728B52AA6E4}">
                <adec:decorative xmlns:adec="http://schemas.microsoft.com/office/drawing/2017/decorative" val="1"/>
              </a:ext>
            </a:extLst>
          </p:cNvPr>
          <p:cNvSpPr/>
          <p:nvPr/>
        </p:nvSpPr>
        <p:spPr>
          <a:xfrm>
            <a:off x="640080" y="1965960"/>
            <a:ext cx="10972800" cy="4526280"/>
          </a:xfrm>
          <a:prstGeom prst="roundRect">
            <a:avLst>
              <a:gd name="adj" fmla="val 2424"/>
            </a:avLst>
          </a:prstGeom>
          <a:noFill/>
          <a:ln w="19050">
            <a:solidFill>
              <a:srgbClr val="003366"/>
            </a:solidFill>
            <a:prstDash val="dash"/>
          </a:ln>
        </p:spPr>
        <p:txBody>
          <a:bodyPr rtlCol="0" anchor="ctr"/>
          <a:lstStyle/>
          <a:p>
            <a:pPr algn="ctr"/>
          </a:p>
        </p:txBody>
      </p:sp>
      <p:sp>
        <p:nvSpPr>
          <p:cNvPr id="5" name="Linguetta"/>
          <p:cNvSpPr/>
          <p:nvPr/>
        </p:nvSpPr>
        <p:spPr>
          <a:xfrm>
            <a:off x="868680" y="1508760"/>
            <a:ext cx="4014155" cy="590550"/>
          </a:xfrm>
          <a:prstGeom prst="round2SameRect">
            <a:avLst>
              <a:gd name="adj1" fmla="val 28000"/>
              <a:gd name="adj2" fmla="val 0"/>
            </a:avLst>
          </a:prstGeom>
          <a:solidFill>
            <a:srgbClr val="DCEEFA"/>
          </a:solidFill>
          <a:ln w="15875">
            <a:solidFill>
              <a:srgbClr val="003366"/>
            </a:solidFill>
          </a:ln>
        </p:spPr>
        <p:txBody>
          <a:bodyPr rtlCol="0" anchor="ctr" wrap="none" lIns="182880" rIns="182880" tIns="0" bIns="0">
            <a:noAutofit/>
          </a:bodyPr>
          <a:lstStyle/>
          <a:p>
            <a:pPr algn="l"/>
            <a:r>
              <a:rPr sz="3000" b="0" lang="it-IT">
                <a:solidFill>
                  <a:srgbClr val="003366"/>
                </a:solidFill>
                <a:latin typeface="Edu NSW ACT Cursive"/>
              </a:rPr>
              <a:t>Le pagine del sito</a:t>
            </a:r>
          </a:p>
        </p:txBody>
      </p:sp>
      <p:sp>
        <p:nvSpPr>
          <p:cNvPr id="6" name="Fonti"/>
          <p:cNvSpPr txBox="1"/>
          <p:nvPr/>
        </p:nvSpPr>
        <p:spPr>
          <a:xfrm>
            <a:off x="914400" y="2148840"/>
            <a:ext cx="10424160" cy="4206240"/>
          </a:xfrm>
          <a:prstGeom prst="rect">
            <a:avLst/>
          </a:prstGeom>
          <a:noFill/>
        </p:spPr>
        <p:txBody>
          <a:bodyPr wrap="square" anchor="t" lIns="73152" rIns="73152">
            <a:noAutofit/>
          </a:bodyPr>
          <a:lstStyle/>
          <a:p>
            <a:pPr marL="384048" indent="-384048">
              <a:spcAft>
                <a:spcPts val="400"/>
              </a:spcAft>
              <a:buClr>
                <a:srgbClr val="003366"/>
              </a:buClr>
              <a:buFont typeface="Arial"/>
              <a:buChar char="•"/>
            </a:pPr>
            <a:r>
              <a:rPr sz="2400" b="0" lang="it-IT" u="sng">
                <a:solidFill>
                  <a:srgbClr val="003366"/>
                </a:solidFill>
                <a:latin typeface="Arial"/>
                <a:hlinkClick r:id="rId3"/>
              </a:rPr>
              <a:t>Kit per la scuola primaria, Modulo 1</a:t>
            </a:r>
          </a:p>
          <a:p>
            <a:pPr marL="384048" indent="-384048">
              <a:spcAft>
                <a:spcPts val="400"/>
              </a:spcAft>
              <a:buClr>
                <a:srgbClr val="003366"/>
              </a:buClr>
              <a:buFont typeface="Arial"/>
              <a:buChar char="•"/>
            </a:pPr>
            <a:r>
              <a:rPr sz="2400" b="0" lang="it-IT" u="sng">
                <a:solidFill>
                  <a:srgbClr val="003366"/>
                </a:solidFill>
                <a:latin typeface="Arial"/>
                <a:hlinkClick r:id="rId4"/>
              </a:rPr>
              <a:t>Manuale, capitolo 1: che cos’è la protezione civile</a:t>
            </a:r>
          </a:p>
          <a:p>
            <a:pPr marL="384048" indent="-384048">
              <a:spcAft>
                <a:spcPts val="400"/>
              </a:spcAft>
              <a:buClr>
                <a:srgbClr val="003366"/>
              </a:buClr>
              <a:buFont typeface="Arial"/>
              <a:buChar char="•"/>
            </a:pPr>
            <a:r>
              <a:rPr sz="2400" b="0" lang="it-IT" u="sng">
                <a:solidFill>
                  <a:srgbClr val="003366"/>
                </a:solidFill>
                <a:latin typeface="Arial"/>
                <a:hlinkClick r:id="rId5"/>
              </a:rPr>
              <a:t>Manuale, capitolo 2: la storia in Italia</a:t>
            </a:r>
          </a:p>
          <a:p>
            <a:pPr marL="384048" indent="-384048">
              <a:spcAft>
                <a:spcPts val="400"/>
              </a:spcAft>
              <a:buClr>
                <a:srgbClr val="003366"/>
              </a:buClr>
              <a:buFont typeface="Arial"/>
              <a:buChar char="•"/>
            </a:pPr>
            <a:r>
              <a:rPr sz="2400" b="0" lang="it-IT" u="sng">
                <a:solidFill>
                  <a:srgbClr val="003366"/>
                </a:solidFill>
                <a:latin typeface="Arial"/>
                <a:hlinkClick r:id="rId6"/>
              </a:rPr>
              <a:t>Manuale: le quattro attività</a:t>
            </a:r>
          </a:p>
          <a:p>
            <a:pPr marL="384048" indent="-384048">
              <a:spcAft>
                <a:spcPts val="400"/>
              </a:spcAft>
              <a:buClr>
                <a:srgbClr val="003366"/>
              </a:buClr>
              <a:buFont typeface="Arial"/>
              <a:buChar char="•"/>
            </a:pPr>
            <a:r>
              <a:rPr sz="2400" b="0" lang="it-IT" u="sng">
                <a:solidFill>
                  <a:srgbClr val="003366"/>
                </a:solidFill>
                <a:latin typeface="Arial"/>
                <a:hlinkClick r:id="rId7"/>
              </a:rPr>
              <a:t>Rischio sismico: cosa fare prima</a:t>
            </a:r>
          </a:p>
          <a:p>
            <a:pPr marL="384048" indent="-384048">
              <a:spcAft>
                <a:spcPts val="400"/>
              </a:spcAft>
              <a:buClr>
                <a:srgbClr val="003366"/>
              </a:buClr>
              <a:buFont typeface="Arial"/>
              <a:buChar char="•"/>
            </a:pPr>
            <a:r>
              <a:rPr sz="2400" b="0" lang="it-IT" u="sng">
                <a:solidFill>
                  <a:srgbClr val="003366"/>
                </a:solidFill>
                <a:latin typeface="Arial"/>
                <a:hlinkClick r:id="rId8"/>
              </a:rPr>
              <a:t>Chi siamo</a:t>
            </a:r>
          </a:p>
          <a:p>
            <a:pPr marL="384048" indent="-384048">
              <a:spcAft>
                <a:spcPts val="400"/>
              </a:spcAft>
              <a:buClr>
                <a:srgbClr val="003366"/>
              </a:buClr>
              <a:buFont typeface="Arial"/>
              <a:buChar char="•"/>
            </a:pPr>
            <a:r>
              <a:rPr sz="2400" b="0" lang="it-IT" u="sng">
                <a:solidFill>
                  <a:srgbClr val="003366"/>
                </a:solidFill>
                <a:latin typeface="Arial"/>
                <a:hlinkClick r:id="rId9"/>
              </a:rPr>
              <a:t>Percorsi didattici: Percorso 1</a:t>
            </a:r>
          </a:p>
          <a:p>
            <a:pPr>
              <a:spcBef>
                <a:spcPts val="1000"/>
              </a:spcBef>
            </a:pPr>
            <a:r>
              <a:rPr sz="2400" b="0" lang="it-IT">
                <a:solidFill>
                  <a:srgbClr val="212529"/>
                </a:solidFill>
                <a:latin typeface="Arial"/>
              </a:rPr>
              <a:t>Tutte le pagine sono su protezionecivilegenzano.it.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ennellata"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8368" y="1185672"/>
            <a:ext cx="2309164" cy="201168"/>
          </a:xfrm>
          <a:prstGeom prst="rect">
            <a:avLst/>
          </a:prstGeom>
        </p:spPr>
      </p:pic>
      <p:sp>
        <p:nvSpPr>
          <p:cNvPr id="2" name="Title 1"/>
          <p:cNvSpPr>
            <a:spLocks noGrp="1"/>
          </p:cNvSpPr>
          <p:nvPr>
            <p:ph type="title"/>
          </p:nvPr>
        </p:nvSpPr>
        <p:spPr>
          <a:xfrm>
            <a:off x="640080" y="228600"/>
            <a:ext cx="10972800" cy="1280160"/>
          </a:xfrm>
        </p:spPr>
        <p:txBody>
          <a:bodyPr wrap="square" anchor="b">
            <a:noAutofit/>
          </a:bodyPr>
          <a:lstStyle/>
          <a:p>
            <a:pPr algn="l"/>
            <a:r>
              <a:rPr sz="4800" b="0" lang="it-IT">
                <a:solidFill>
                  <a:srgbClr val="003366"/>
                </a:solidFill>
                <a:latin typeface="Edu NSW ACT Cursive"/>
              </a:rPr>
              <a:t>Grazie!</a:t>
            </a:r>
          </a:p>
        </p:txBody>
      </p:sp>
      <p:sp>
        <p:nvSpPr>
          <p:cNvPr id="4" name="Crediti"/>
          <p:cNvSpPr txBox="1"/>
          <p:nvPr/>
        </p:nvSpPr>
        <p:spPr>
          <a:xfrm>
            <a:off x="640080" y="1645920"/>
            <a:ext cx="10972800" cy="2560320"/>
          </a:xfrm>
          <a:prstGeom prst="rect">
            <a:avLst/>
          </a:prstGeom>
          <a:noFill/>
        </p:spPr>
        <p:txBody>
          <a:bodyPr wrap="square" anchor="t" lIns="73152" rIns="73152">
            <a:noAutofit/>
          </a:bodyPr>
          <a:lstStyle/>
          <a:p>
            <a:pPr algn="l">
              <a:spcAft>
                <a:spcPts val="600"/>
              </a:spcAft>
            </a:pPr>
            <a:r>
              <a:rPr sz="2400" b="0" lang="it-IT">
                <a:solidFill>
                  <a:srgbClr val="212529"/>
                </a:solidFill>
                <a:latin typeface="Arial"/>
              </a:rPr>
              <a:t>Testi e disegni: Gruppo Comunale Volontari di Protezione Civile di Genzano di Roma.</a:t>
            </a:r>
          </a:p>
          <a:p>
            <a:pPr algn="l">
              <a:spcAft>
                <a:spcPts val="600"/>
              </a:spcAft>
            </a:pPr>
            <a:r>
              <a:rPr sz="2400" b="0" lang="it-IT">
                <a:solidFill>
                  <a:srgbClr val="212529"/>
                </a:solidFill>
                <a:latin typeface="Arial"/>
              </a:rPr>
              <a:t>Pittogrammi: Sergio Palao, ARASAAC (arasaac.org), proprietà del Governo di Aragona.</a:t>
            </a:r>
          </a:p>
          <a:p>
            <a:pPr algn="l">
              <a:spcAft>
                <a:spcPts val="0"/>
              </a:spcAft>
            </a:pPr>
            <a:r>
              <a:rPr sz="2400" b="0" lang="it-IT">
                <a:solidFill>
                  <a:srgbClr val="212529"/>
                </a:solidFill>
                <a:latin typeface="Arial"/>
              </a:rPr>
              <a:t>Licenza: CC BY-NC-SA 4.0. Si può riusare citando la fonte, senza scopo di lucro.</a:t>
            </a:r>
          </a:p>
        </p:txBody>
      </p:sp>
      <p:pic>
        <p:nvPicPr>
          <p:cNvPr id="5" name="Logo Quality Label" descr="Logo Quality Label del Corpo europeo di solidarietà"/>
          <p:cNvPicPr>
            <a:picLocks noChangeAspect="1"/>
          </p:cNvPicPr>
          <p:nvPr/>
        </p:nvPicPr>
        <p:blipFill>
          <a:blip r:embed="rId3"/>
          <a:stretch>
            <a:fillRect/>
          </a:stretch>
        </p:blipFill>
        <p:spPr>
          <a:xfrm>
            <a:off x="777239" y="4434840"/>
            <a:ext cx="1645920" cy="1645920"/>
          </a:xfrm>
          <a:prstGeom prst="rect">
            <a:avLst/>
          </a:prstGeom>
        </p:spPr>
      </p:pic>
      <p:sp>
        <p:nvSpPr>
          <p:cNvPr id="6" name="Codice di accreditamento"/>
          <p:cNvSpPr txBox="1"/>
          <p:nvPr/>
        </p:nvSpPr>
        <p:spPr>
          <a:xfrm>
            <a:off x="2560320" y="4526280"/>
            <a:ext cx="3749039" cy="1463040"/>
          </a:xfrm>
          <a:prstGeom prst="rect">
            <a:avLst/>
          </a:prstGeom>
          <a:noFill/>
        </p:spPr>
        <p:txBody>
          <a:bodyPr wrap="square" anchor="ctr" lIns="73152" rIns="73152">
            <a:noAutofit/>
          </a:bodyPr>
          <a:lstStyle/>
          <a:p>
            <a:r>
              <a:rPr sz="2400" b="0" lang="it-IT">
                <a:solidFill>
                  <a:srgbClr val="212529"/>
                </a:solidFill>
                <a:latin typeface="Arial"/>
              </a:rPr>
              <a:t>Corpo europeo di solidarietà</a:t>
            </a:r>
          </a:p>
          <a:p>
            <a:r>
              <a:rPr sz="2600" b="1" lang="it-IT">
                <a:solidFill>
                  <a:srgbClr val="003366"/>
                </a:solidFill>
                <a:latin typeface="Arial"/>
              </a:rPr>
              <a:t>Codice E10435833</a:t>
            </a:r>
          </a:p>
        </p:txBody>
      </p:sp>
      <p:pic>
        <p:nvPicPr>
          <p:cNvPr id="7" name="Logo FE.PI.VOL." descr="Logo del Coordinamento FE.PI.VOL., Federazione Pronto Intervento Volontariato"/>
          <p:cNvPicPr>
            <a:picLocks noChangeAspect="1"/>
          </p:cNvPicPr>
          <p:nvPr/>
        </p:nvPicPr>
        <p:blipFill>
          <a:blip r:embed="rId4"/>
          <a:stretch>
            <a:fillRect/>
          </a:stretch>
        </p:blipFill>
        <p:spPr>
          <a:xfrm>
            <a:off x="6583680" y="4434840"/>
            <a:ext cx="1645920" cy="1645920"/>
          </a:xfrm>
          <a:prstGeom prst="rect">
            <a:avLst/>
          </a:prstGeom>
        </p:spPr>
      </p:pic>
      <p:pic>
        <p:nvPicPr>
          <p:cNvPr id="8" name="Logo SNPC Volontariato" descr="Logo del Servizio nazionale della protezione civile, Volontariato"/>
          <p:cNvPicPr>
            <a:picLocks noChangeAspect="1"/>
          </p:cNvPicPr>
          <p:nvPr/>
        </p:nvPicPr>
        <p:blipFill>
          <a:blip r:embed="rId5"/>
          <a:stretch>
            <a:fillRect/>
          </a:stretch>
        </p:blipFill>
        <p:spPr>
          <a:xfrm>
            <a:off x="8961120" y="4348772"/>
            <a:ext cx="1508760" cy="1818055"/>
          </a:xfrm>
          <a:prstGeom prst="rect">
            <a:avLst/>
          </a:prstGeom>
        </p:spPr>
      </p:pic>
    </p:spTree>
  </p:cSld>
  <p:clrMapOvr>
    <a:masterClrMapping/>
  </p:clrMapOvr>
</p:sld>
</file>

<file path=ppt/theme/theme1.xml><?xml version="1.0" encoding="utf-8"?>
<a:theme xmlns:a="http://schemas.openxmlformats.org/drawingml/2006/main" name="Office Theme">
  <a:themeElements>
    <a:clrScheme name="Appunti illustrati">
      <a:dk1>
        <a:srgbClr val="212529"/>
      </a:dk1>
      <a:lt1>
        <a:srgbClr val="FFFFFF"/>
      </a:lt1>
      <a:dk2>
        <a:srgbClr val="003366"/>
      </a:dk2>
      <a:lt2>
        <a:srgbClr val="FFFDF7"/>
      </a:lt2>
      <a:accent1>
        <a:srgbClr val="003366"/>
      </a:accent1>
      <a:accent2>
        <a:srgbClr val="B45309"/>
      </a:accent2>
      <a:accent3>
        <a:srgbClr val="146C43"/>
      </a:accent3>
      <a:accent4>
        <a:srgbClr val="B02A37"/>
      </a:accent4>
      <a:accent5>
        <a:srgbClr val="0369A1"/>
      </a:accent5>
      <a:accent6>
        <a:srgbClr val="6F42C1"/>
      </a:accent6>
      <a:hlink>
        <a:srgbClr val="003366"/>
      </a:hlink>
      <a:folHlink>
        <a:srgbClr val="4A2C7F"/>
      </a:folHlink>
    </a:clrScheme>
    <a:fontScheme name="Appunti illustrati">
      <a:majorFont>
        <a:latin typeface="Edu NSW ACT Cursiv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PresentationFormat>Widescreen</PresentationFormat>
  <Slides>13</Slides>
  <Notes>13</Notes>
  <HiddenSlides>0</HiddenSlides>
  <MMClips>0</MMClips>
  <ScaleCrop>false</ScaleCrop>
  <Company>Gruppo Comunale Volontari di Protezione Civile di Genzano di Roma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Lezione 1: Che cos’è la Protezione Civile</dc:title>
  <dc:subject>Percorso 1 · Protezione Civile di base · Primaria, classi III-V</dc:subject>
  <dc:creator>Gruppo Comunale Volontari di Protezione Civile di Genzano di Roma</dc:creator>
  <cp:keywords>protezione civile; scuola primaria; educazione civica; Genzano di Roma</cp:keywords>
  <dc:description>Slide per chi conduce le lezioni nelle scuole, con le note per chi parla in ogni slide.</dc:description>
  <cp:lastModifiedBy>Gruppo Comunale Volontari di Protezione Civile di Genzano di Roma</cp:lastModifiedBy>
  <cp:revision>1</cp:revision>
  <dcterms:created xsi:type="dcterms:W3CDTF">2026-10-16T09:00:00Z</dcterms:created>
  <dcterms:modified xsi:type="dcterms:W3CDTF">2026-10-16T09:00:00Z</dcterms:modified>
  <cp:category>Formazione</cp:category>
  <dc:language>it-IT</dc:language>
  <cp:lastPrinted>2026-10-16T09:00:00Z</cp:lastPrinted>
</cp:coreProperties>
</file>