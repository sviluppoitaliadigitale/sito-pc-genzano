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embeddedFontLst>
    <p:embeddedFont>
      <p:font typeface="Edu NSW ACT Cursive" pitchFamily="66" charset="0"/>
      <p:regular r:id="rIdCarattere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Carattere1" Type="http://schemas.openxmlformats.org/officeDocument/2006/relationships/font" Target="fonts/font1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Ricorda le due lezioni precedenti: la squadra della Protezione Civile e il 112. Oggi parliamo dei pericoli del posto in cui viviamo e di che cosa fare in ognuno.</a:t>
            </a:r>
          </a:p>
          <a:p>
            <a:r>
              <a:rPr sz="1400" lang="it-IT"/>
              <a:t>Domanda alla classe: Secondo voi, che cos’è un rischio?</a:t>
            </a:r>
          </a:p>
          <a:p>
            <a:r>
              <a:rPr sz="1400" lang="it-IT"/>
              <a:t>Tempo: 2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Leggi i tre punti. Alla fine lavorerete su una scheda con la mappa dei terremoti in Italia.</a:t>
            </a:r>
          </a:p>
          <a:p>
            <a:r>
              <a:rPr sz="1400" lang="it-IT"/>
              <a:t>Domanda alla classe: Che cosa vi viene in mente se dico «vulcano»?</a:t>
            </a:r>
          </a:p>
          <a:p>
            <a:r>
              <a:rPr sz="1400" lang="it-IT"/>
              <a:t>Tempo: 2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Genzano sta sul bordo di un antico cratere del Vulcano Laziale: il paese si affaccia sul lago di Nemi, che occupa proprio una conca di quel vulcano. Il vulcano è quiescente, non spento: non è in eruzione, la sua ultima fase eruttiva risale a circa 36.000 anni fa e l’INGV lo sorveglia con i suoi strumenti. I rischi da conoscere a scuola sono il terremoto, le piogge forti con frane e allagamenti, e gli incendi nei boschi.</a:t>
            </a:r>
          </a:p>
          <a:p>
            <a:r>
              <a:rPr sz="1400" lang="it-IT"/>
              <a:t>Domanda alla classe: Chi di voi va al lago o nei boschi dei Castelli?</a:t>
            </a:r>
          </a:p>
          <a:p>
            <a:r>
              <a:rPr sz="1400" lang="it-IT"/>
              <a:t>Tempo: 4 minuti</a:t>
            </a:r>
          </a:p>
          <a:p>
            <a:r>
              <a:rPr sz="1400" lang="it-IT"/>
              <a:t>Attenzione: Se un bambino chiede se il vulcano può eruttare, rispondi con calma: gli scienziati dell’INGV lo controllano e nessuna fonte ufficiale indica una ripresa dell’attività.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Questi sono i tre rischi del percorso. Un rischio è la possibilità che un pericolo faccia danni: dipende da quanto è forte il pericolo, da quanto sono robuste le case e da quante persone ci sono.</a:t>
            </a:r>
          </a:p>
          <a:p>
            <a:r>
              <a:rPr sz="1400" lang="it-IT"/>
              <a:t>Domanda alla classe: Quale di questi tre vi incuriosisce di più?</a:t>
            </a:r>
          </a:p>
          <a:p>
            <a:r>
              <a:rPr sz="1400" lang="it-IT"/>
              <a:t>Tempo: 3 minuti</a:t>
            </a:r>
          </a:p>
          <a:p>
            <a:r>
              <a:rPr sz="1400" lang="it-IT"/>
              <a:t>Attenzione: Il territorio ha anche altri rischi, come temporali e vento, caldo e blackout: li trovi nella pagina «Rischi principali in parole semplici».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Lo Stato e le Regioni hanno diviso l’Italia in quattro zone sismiche, usando le mappe dell’INGV: la zona 1 è la più pericolosa, la 4 la meno. Genzano è in zona 2, che la Regione Lazio chiama 2B: sismicità media. Nei Colli Albani le scosse sono di solito leggere, a volte avvertite dalla popolazione. Le zone servono anche a costruire le case in modo più robusto dove serve. Nessuno sa prevedere il giorno e l’ora di un terremoto: per questo ci si prepara prima.</a:t>
            </a:r>
          </a:p>
          <a:p>
            <a:r>
              <a:rPr sz="1400" lang="it-IT"/>
              <a:t>Domanda alla classe: Qualcuno ha mai sentito una scossa? Com’era?</a:t>
            </a:r>
          </a:p>
          <a:p>
            <a:r>
              <a:rPr sz="1400" lang="it-IT"/>
              <a:t>Tempo: 4 minuti</a:t>
            </a:r>
          </a:p>
          <a:p>
            <a:r>
              <a:rPr sz="1400" lang="it-IT"/>
              <a:t>Attenzione: Se un bambino racconta una scossa vissuta, ascoltalo e rassicura: oggi impariamo i gesti che proteggono. Non promettere che non ci saranno terremoti.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Durante la scossa: abbassati, riparati sotto un tavolo robusto proteggendo la testa con le braccia e tieniti a una gamba del tavolo; stai lontano da finestre, vetri e mobili alti; non correre fuori e non usare l’ascensore. A scuola si seguono le indicazioni dell’insegnante. Quando la scossa è finita: metti le scarpe, esci con calma, raggiungi il punto di raccolta e non tornare indietro a prendere zaino o oggetti.</a:t>
            </a:r>
          </a:p>
          <a:p>
            <a:r>
              <a:rPr sz="1400" lang="it-IT"/>
              <a:t>Domanda alla classe: Dove vi riparereste in questa aula?</a:t>
            </a:r>
          </a:p>
          <a:p>
            <a:r>
              <a:rPr sz="1400" lang="it-IT"/>
              <a:t>Tempo: 6 minuti</a:t>
            </a:r>
          </a:p>
          <a:p>
            <a:r>
              <a:rPr sz="1400" lang="it-IT"/>
              <a:t>Attenzione: Puoi far provare il gesto sotto il banco se l’insegnante è d’accordo e i banchi sono stabili. Niente rumori forti o finte scosse a sorpresa.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Il territorio di Genzano ha pendii ripidi e terreni di origine vulcanica: con piogge intense e prolungate i versanti possono franare, e nelle zone basse e lungo i fossi l’acqua può allagare strade, cantine e sottopassi. Asfalto e cemento non lasciano entrare l’acqua nel terreno, che così scorre più in fretta. Il rischio cresce in autunno e in primavera, quando il terreno è già bagnato. Per questo la Regione emette le allerte meteo: Genzano è nella zona di allerta F.</a:t>
            </a:r>
          </a:p>
          <a:p>
            <a:r>
              <a:rPr sz="1400" lang="it-IT"/>
              <a:t>Domanda alla classe: Avete mai visto una strada piena d’acqua dopo un temporale?</a:t>
            </a:r>
          </a:p>
          <a:p>
            <a:r>
              <a:rPr sz="1400" lang="it-IT"/>
              <a:t>Tempo: 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Con l’acqua che sale si va ai piani alti, mai in cantina o in garage: sono i primi posti a riempirsi e i più difficili da cui uscire. Le strade allagate non si attraversano, né a piedi né in auto: sotto l’acqua possono esserci buche e tombini aperti, e anche poca acqua può far perdere l’equilibrio. Nei sottopassi non si entra.</a:t>
            </a:r>
          </a:p>
          <a:p>
            <a:r>
              <a:rPr sz="1400" lang="it-IT"/>
              <a:t>Domanda alla classe: Perché non si scende in cantina a salvare le cose?</a:t>
            </a:r>
          </a:p>
          <a:p>
            <a:r>
              <a:rPr sz="1400" lang="it-IT"/>
              <a:t>Tempo: 5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Una parte del territorio di Genzano è nel Parco Regionale dei Castelli Romani, con boschi e macchia mediterranea. Da giugno a settembre, con il caldo e poca pioggia, una piccola fiamma spinta dal vento può diventare un grande incendio. Quasi sempre l’incendio nasce da un comportamento umano: un mozzicone, un fiammifero, un fuoco lasciato acceso, sterpaglie bruciate. I fulmini sono una causa molto rara. Ogni estate il nostro Gruppo partecipa alla campagna antincendio boschivo.</a:t>
            </a:r>
          </a:p>
          <a:p>
            <a:r>
              <a:rPr sz="1400" lang="it-IT"/>
              <a:t>Domanda alla classe: Che cosa possiamo fare noi per proteggere il bosco?</a:t>
            </a:r>
          </a:p>
          <a:p>
            <a:r>
              <a:rPr sz="1400" lang="it-IT"/>
              <a:t>Tempo: 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Chi vede fiamme o anche solo fumo si allontana subito e avvisa un adulto; se è solo e il pericolo è vero, chiama il 112 e dice il Comune e il luogo preciso, senza pensare che l’abbia già fatto qualcun altro. Non ci si avvicina per guardare e non si prova a spegnere un incendio grande. Se c’è fumo dentro un edificio si cammina bassi e si esce seguendo gli adulti.</a:t>
            </a:r>
          </a:p>
          <a:p>
            <a:r>
              <a:rPr sz="1400" lang="it-IT"/>
              <a:t>Domanda alla classe: Che cosa direste all’operatore del 112?</a:t>
            </a:r>
          </a:p>
          <a:p>
            <a:r>
              <a:rPr sz="1400" lang="it-IT"/>
              <a:t>Tempo: 5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Distribuisci la scheda: si lavora da soli o in coppia. Le soluzioni sono capovolte in fondo al foglio. Alla fine correggete insieme: Calabria zona 1, Genzano zona 2, Milano zona 3, Sardegna zona 4. La mappa della scheda è molto semplificata: la zona si assegna Comune per Comune. Se c’è la lavagna interattiva, apri la Cartografia del sito e mostra le aree di attesa del Comune vicine alla scuola.</a:t>
            </a:r>
          </a:p>
          <a:p>
            <a:r>
              <a:rPr sz="1400" lang="it-IT"/>
              <a:t>Domanda alla classe: Perché la Sardegna ha così pochi terremoti?</a:t>
            </a:r>
          </a:p>
          <a:p>
            <a:r>
              <a:rPr sz="1400" lang="it-IT"/>
              <a:t>Tempo: 14 minuti</a:t>
            </a:r>
          </a:p>
          <a:p>
            <a:r>
              <a:rPr sz="1400" lang="it-IT"/>
              <a:t>Attenzione: La scheda racconta il crollo di una scuola a San Giuliano di Puglia nel 2002. Se i bambini fanno domande, rispondi con calma: da allora ogni Comune d’Italia è in una zona sismica, e le zone servono a costruire in modo più robusto dove serve.</a:t>
            </a:r>
          </a:p>
          <a:p>
            <a:r>
              <a:rPr sz="1400" lang="it-IT"/>
              <a:t>Scheda da distribuire: https://www.protezionecivilegenzano.it/formazione/schede-stampabili/geografia-sismica-italia-primaria/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Ripeti i tre gesti. Compito per casa: con la famiglia, trovare il posto più sicuro della casa dove ripararsi durante una scossa.</a:t>
            </a:r>
          </a:p>
          <a:p>
            <a:r>
              <a:rPr sz="1400" lang="it-IT"/>
              <a:t>Domanda alla classe: Qual è il posto più sicuro della vostra cameretta?</a:t>
            </a:r>
          </a:p>
          <a:p>
            <a:r>
              <a:rPr sz="1400" lang="it-IT"/>
              <a:t>Tempo: 5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Questa slide serve all’insegnante: elenca le pagine del sito da cui vengono i contenuti della lezione. Non serve leggerla alla classe.</a:t>
            </a:r>
          </a:p>
          <a:p>
            <a:r>
              <a:rPr sz="1400" lang="it-IT"/>
              <a:t>Tempo: 0 minuti (slide per l’insegnante, non conta nell’ora)</a:t>
            </a:r>
          </a:p>
          <a:p>
            <a:r>
              <a:rPr sz="1400" lang="it-IT"/>
              <a:t>Indirizzi completi:</a:t>
            </a:r>
          </a:p>
          <a:p>
            <a:r>
              <a:rPr sz="1400" lang="it-IT"/>
              <a:t>- Scuole di Genzano di Roma e rischi locali: https://www.protezionecivilegenzano.it/rischi-prevenzione/scuole-genzano-rischi-locali/</a:t>
            </a:r>
          </a:p>
          <a:p>
            <a:r>
              <a:rPr sz="1400" lang="it-IT"/>
              <a:t>- Rischi principali in parole semplici: https://www.protezionecivilegenzano.it/rischi-prevenzione/rischi-in-parole-semplici/</a:t>
            </a:r>
          </a:p>
          <a:p>
            <a:r>
              <a:rPr sz="1400" lang="it-IT"/>
              <a:t>- Rischio sismico: https://www.protezionecivilegenzano.it/rischi-prevenzione/rischio-sismico/</a:t>
            </a:r>
          </a:p>
          <a:p>
            <a:r>
              <a:rPr sz="1400" lang="it-IT"/>
              <a:t>- Rischio idrogeologico: https://www.protezionecivilegenzano.it/rischi-prevenzione/rischio-idrogeologico/</a:t>
            </a:r>
          </a:p>
          <a:p>
            <a:r>
              <a:rPr sz="1400" lang="it-IT"/>
              <a:t>- Rischio incendi boschivi: https://www.protezionecivilegenzano.it/rischi-prevenzione/rischio-incendio/</a:t>
            </a:r>
          </a:p>
          <a:p>
            <a:r>
              <a:rPr sz="1400" lang="it-IT"/>
              <a:t>- Rischio vulcanico (Colli Albani): https://www.protezionecivilegenzano.it/rischi-prevenzione/rischio-vulcanico/</a:t>
            </a:r>
          </a:p>
          <a:p>
            <a:r>
              <a:rPr sz="1400" lang="it-IT"/>
              <a:t>- Scheda «La geografia sismica dell’Italia»: https://www.protezionecivilegenzano.it/formazione/schede-stampabili/geografia-sismica-italia-primaria/</a:t>
            </a:r>
          </a:p>
          <a:p>
            <a:r>
              <a:rPr sz="1400" lang="it-IT"/>
              <a:t>- Percorsi didattici: Percorso 1: https://www.protezionecivilegenzano.it/formazione/percorsi-didattici/#percorso-1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 lang="it-IT"/>
              <a:t>Cosa dire: Saluta e annuncia l’ultimo incontro: i volontari, chi sono e che cosa fanno.</a:t>
            </a:r>
          </a:p>
          <a:p>
            <a:r>
              <a:rPr sz="1400" lang="it-IT"/>
              <a:t>Domanda alla classe: Che cosa vorreste sapere dei volontari?</a:t>
            </a:r>
          </a:p>
          <a:p>
            <a:r>
              <a:rPr sz="1400" lang="it-IT"/>
              <a:t>Tempo: 2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50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hyperlink" Target="https://www.protezionecivilegenzano.it/formazione/schede-stampabili/geografia-sismica-italia-primaria/" TargetMode="External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hyperlink" Target="https://www.protezionecivilegenzano.it/rischi-prevenzione/scuole-genzano-rischi-locali/" TargetMode="External"/><Relationship Id="rId4" Type="http://schemas.openxmlformats.org/officeDocument/2006/relationships/hyperlink" Target="https://www.protezionecivilegenzano.it/rischi-prevenzione/rischi-in-parole-semplici/" TargetMode="External"/><Relationship Id="rId5" Type="http://schemas.openxmlformats.org/officeDocument/2006/relationships/hyperlink" Target="https://www.protezionecivilegenzano.it/rischi-prevenzione/rischio-sismico/" TargetMode="External"/><Relationship Id="rId6" Type="http://schemas.openxmlformats.org/officeDocument/2006/relationships/hyperlink" Target="https://www.protezionecivilegenzano.it/rischi-prevenzione/rischio-idrogeologico/" TargetMode="External"/><Relationship Id="rId7" Type="http://schemas.openxmlformats.org/officeDocument/2006/relationships/hyperlink" Target="https://www.protezionecivilegenzano.it/rischi-prevenzione/rischio-incendio/" TargetMode="External"/><Relationship Id="rId8" Type="http://schemas.openxmlformats.org/officeDocument/2006/relationships/hyperlink" Target="https://www.protezionecivilegenzano.it/rischi-prevenzione/rischio-vulcanico/" TargetMode="External"/><Relationship Id="rId9" Type="http://schemas.openxmlformats.org/officeDocument/2006/relationships/hyperlink" Target="https://www.protezionecivilegenzano.it/formazione/schede-stampabili/geografia-sismica-italia-primaria/" TargetMode="External"/><Relationship Id="rId10" Type="http://schemas.openxmlformats.org/officeDocument/2006/relationships/hyperlink" Target="https://www.protezionecivilegenzano.it/formazione/percorsi-didattici/#percorso-1" TargetMode="External"/><Relationship Id="rId11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471265"/>
            <a:ext cx="3390798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25880"/>
            <a:ext cx="7223760" cy="2563977"/>
          </a:xfrm>
        </p:spPr>
        <p:txBody>
          <a:bodyPr wrap="square" anchor="b">
            <a:noAutofit/>
          </a:bodyPr>
          <a:lstStyle/>
          <a:p>
            <a:pPr algn="l">
              <a:lnSpc>
                <a:spcPct val="78000"/>
              </a:lnSpc>
            </a:pPr>
            <a:r>
              <a:rPr sz="6400" b="0" lang="it-IT">
                <a:solidFill>
                  <a:srgbClr val="003366"/>
                </a:solidFill>
                <a:latin typeface="Edu NSW ACT Cursive"/>
              </a:rPr>
              <a:t>I rischi del nostro</a:t>
            </a:r>
            <a:br/>
            <a:r>
              <a:rPr sz="6400" b="0" lang="it-IT">
                <a:solidFill>
                  <a:srgbClr val="003366"/>
                </a:solidFill>
                <a:latin typeface="Edu NSW ACT Cursive"/>
              </a:rPr>
              <a:t>territorio</a:t>
            </a:r>
          </a:p>
        </p:txBody>
      </p:sp>
      <p:sp>
        <p:nvSpPr>
          <p:cNvPr id="3" name="Percorso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l">
              <a:spcAft>
                <a:spcPts val="200"/>
              </a:spcAft>
            </a:pPr>
            <a:r>
              <a:rPr sz="2400" b="1" lang="it-IT">
                <a:solidFill>
                  <a:srgbClr val="003366"/>
                </a:solidFill>
                <a:latin typeface="Arial"/>
              </a:rPr>
              <a:t>Percorso 1 · Protezione Civile di base</a:t>
            </a:r>
          </a:p>
          <a:p>
            <a:pPr algn="l">
              <a:spcAft>
                <a:spcPts val="0"/>
              </a:spcAft>
            </a:pPr>
            <a:r>
              <a:rPr sz="2400" b="0" lang="it-IT">
                <a:solidFill>
                  <a:srgbClr val="003366"/>
                </a:solidFill>
                <a:latin typeface="Arial"/>
              </a:rPr>
              <a:t>Primaria, classi III-V</a:t>
            </a:r>
          </a:p>
        </p:txBody>
      </p:sp>
      <p:sp>
        <p:nvSpPr>
          <p:cNvPr id="5" name="Lezione"/>
          <p:cNvSpPr/>
          <p:nvPr/>
        </p:nvSpPr>
        <p:spPr>
          <a:xfrm rot="21420000">
            <a:off x="685800" y="4301337"/>
            <a:ext cx="3675942" cy="822960"/>
          </a:xfrm>
          <a:prstGeom prst="rect">
            <a:avLst/>
          </a:prstGeom>
          <a:solidFill>
            <a:srgbClr val="FFF0A8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sz="3400" b="0" lang="it-IT">
                <a:solidFill>
                  <a:srgbClr val="003366"/>
                </a:solidFill>
                <a:latin typeface="Edu NSW ACT Cursive"/>
              </a:rPr>
              <a:t>Lezione 3 di 4</a:t>
            </a:r>
          </a:p>
        </p:txBody>
      </p:sp>
      <p:sp>
        <p:nvSpPr>
          <p:cNvPr id="6" name="Durata"/>
          <p:cNvSpPr/>
          <p:nvPr/>
        </p:nvSpPr>
        <p:spPr>
          <a:xfrm rot="120000">
            <a:off x="4727502" y="4347057"/>
            <a:ext cx="1920240" cy="777240"/>
          </a:xfrm>
          <a:prstGeom prst="rect">
            <a:avLst/>
          </a:prstGeom>
          <a:solidFill>
            <a:srgbClr val="DCEEFA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sz="3400" b="0" lang="it-IT">
                <a:solidFill>
                  <a:srgbClr val="003366"/>
                </a:solidFill>
                <a:latin typeface="Edu NSW ACT Cursive"/>
              </a:rPr>
              <a:t>Un’ora</a:t>
            </a:r>
          </a:p>
        </p:txBody>
      </p:sp>
      <p:pic>
        <p:nvPicPr>
          <p:cNvPr id="7" name="Logo del Gruppo" descr="Logo del Gruppo Comunale Volontari di Protezione Civile di Genzano di Ro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320040"/>
            <a:ext cx="1325880" cy="1325880"/>
          </a:xfrm>
          <a:prstGeom prst="rect">
            <a:avLst/>
          </a:prstGeom>
        </p:spPr>
      </p:pic>
      <p:sp>
        <p:nvSpPr>
          <p:cNvPr id="8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360000">
            <a:off x="8001000" y="1783080"/>
            <a:ext cx="2148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9" name="Pittogramma" descr="Pittogramma: un terremoto fa tremare gli edific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60000">
            <a:off x="8151418" y="1933498"/>
            <a:ext cx="1848002" cy="1848002"/>
          </a:xfrm>
          <a:prstGeom prst="rect">
            <a:avLst/>
          </a:prstGeom>
        </p:spPr>
      </p:pic>
      <p:sp>
        <p:nvSpPr>
          <p:cNvPr id="10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0000">
            <a:off x="9646920" y="2514600"/>
            <a:ext cx="2148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1" name="Pittogramma" descr="Pittogramma: nuvole e pioggi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9797338" y="2665018"/>
            <a:ext cx="1848002" cy="1848002"/>
          </a:xfrm>
          <a:prstGeom prst="rect">
            <a:avLst/>
          </a:prstGeom>
        </p:spPr>
      </p:pic>
      <p:sp>
        <p:nvSpPr>
          <p:cNvPr id="12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480000">
            <a:off x="8321040" y="3931920"/>
            <a:ext cx="1874519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3" name="Pittogramma" descr="Pittogramma: fiamm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80000">
            <a:off x="8452256" y="4063136"/>
            <a:ext cx="1612087" cy="1612087"/>
          </a:xfrm>
          <a:prstGeom prst="rect">
            <a:avLst/>
          </a:prstGeom>
        </p:spPr>
      </p:pic>
      <p:sp>
        <p:nvSpPr>
          <p:cNvPr id="14" name="Firma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0" lang="it-IT">
                <a:solidFill>
                  <a:srgbClr val="003366"/>
                </a:solidFill>
                <a:latin typeface="Arial"/>
              </a:rPr>
              <a:t>Gruppo Comunale Volontari di Protezione Civile · Genzano di Roma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4313618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Oggi scopriamo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7818120" cy="4526280"/>
          </a:xfrm>
          <a:prstGeom prst="roundRect">
            <a:avLst>
              <a:gd name="adj" fmla="val 2424"/>
            </a:avLst>
          </a:prstGeom>
          <a:noFill/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Numero"/>
          <p:cNvSpPr/>
          <p:nvPr/>
        </p:nvSpPr>
        <p:spPr>
          <a:xfrm>
            <a:off x="914400" y="211074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400" b="0" lang="it-IT">
                <a:solidFill>
                  <a:srgbClr val="003366"/>
                </a:solidFill>
                <a:latin typeface="Edu NSW ACT Cursive"/>
              </a:rPr>
              <a:t>1</a:t>
            </a:r>
          </a:p>
        </p:txBody>
      </p:sp>
      <p:sp>
        <p:nvSpPr>
          <p:cNvPr id="6" name="Obiettivo 1"/>
          <p:cNvSpPr txBox="1"/>
          <p:nvPr/>
        </p:nvSpPr>
        <p:spPr>
          <a:xfrm>
            <a:off x="1874519" y="1783080"/>
            <a:ext cx="6355080" cy="138684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Dove viviamo: sopra un antico vulcano.</a:t>
            </a:r>
          </a:p>
        </p:txBody>
      </p:sp>
      <p:sp>
        <p:nvSpPr>
          <p:cNvPr id="7" name="Numero"/>
          <p:cNvSpPr/>
          <p:nvPr/>
        </p:nvSpPr>
        <p:spPr>
          <a:xfrm>
            <a:off x="914400" y="349758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400" b="0" lang="it-IT">
                <a:solidFill>
                  <a:srgbClr val="003366"/>
                </a:solidFill>
                <a:latin typeface="Edu NSW ACT Cursive"/>
              </a:rPr>
              <a:t>2</a:t>
            </a:r>
          </a:p>
        </p:txBody>
      </p:sp>
      <p:sp>
        <p:nvSpPr>
          <p:cNvPr id="8" name="Obiettivo 2"/>
          <p:cNvSpPr txBox="1"/>
          <p:nvPr/>
        </p:nvSpPr>
        <p:spPr>
          <a:xfrm>
            <a:off x="1874519" y="3169920"/>
            <a:ext cx="6355080" cy="138684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Tre rischi da conoscere: terremoto, piogge forti, incendi.</a:t>
            </a:r>
          </a:p>
        </p:txBody>
      </p:sp>
      <p:sp>
        <p:nvSpPr>
          <p:cNvPr id="9" name="Numero"/>
          <p:cNvSpPr/>
          <p:nvPr/>
        </p:nvSpPr>
        <p:spPr>
          <a:xfrm>
            <a:off x="914400" y="4884420"/>
            <a:ext cx="731520" cy="7315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400" b="0" lang="it-IT">
                <a:solidFill>
                  <a:srgbClr val="003366"/>
                </a:solidFill>
                <a:latin typeface="Edu NSW ACT Cursive"/>
              </a:rPr>
              <a:t>3</a:t>
            </a:r>
          </a:p>
        </p:txBody>
      </p:sp>
      <p:sp>
        <p:nvSpPr>
          <p:cNvPr id="10" name="Obiettivo 3"/>
          <p:cNvSpPr txBox="1"/>
          <p:nvPr/>
        </p:nvSpPr>
        <p:spPr>
          <a:xfrm>
            <a:off x="1874519" y="4556760"/>
            <a:ext cx="6355080" cy="138684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Che cosa fare in ognuno.</a:t>
            </a:r>
          </a:p>
        </p:txBody>
      </p:sp>
      <p:sp>
        <p:nvSpPr>
          <p:cNvPr id="11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0000">
            <a:off x="8915400" y="2011680"/>
            <a:ext cx="265176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2" name="Pittogramma" descr="Pittogramma: una mapp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9101023" y="2197303"/>
            <a:ext cx="2280513" cy="22805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5855030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Flavio guarda il lago</a:t>
            </a:r>
          </a:p>
        </p:txBody>
      </p:sp>
      <p:sp>
        <p:nvSpPr>
          <p:cNvPr id="4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480000">
            <a:off x="777240" y="178308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5" name="Pittogramma" descr="Pittogramma: un lago fra le col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959662" y="1965502"/>
            <a:ext cx="2241194" cy="2241194"/>
          </a:xfrm>
          <a:prstGeom prst="rect">
            <a:avLst/>
          </a:prstGeom>
        </p:spPr>
      </p:pic>
      <p:sp>
        <p:nvSpPr>
          <p:cNvPr id="6" name="Foglietto della stor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540000">
            <a:off x="3794760" y="1645920"/>
            <a:ext cx="7726679" cy="3154680"/>
          </a:xfrm>
          <a:prstGeom prst="rect">
            <a:avLst/>
          </a:prstGeom>
          <a:solidFill>
            <a:srgbClr val="FFF0A8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Storia"/>
          <p:cNvSpPr txBox="1"/>
          <p:nvPr/>
        </p:nvSpPr>
        <p:spPr>
          <a:xfrm>
            <a:off x="4069080" y="1783080"/>
            <a:ext cx="7223760" cy="288036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1200"/>
              </a:spcAft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Flavio guarda il lago di Nemi dall’alto.</a:t>
            </a:r>
          </a:p>
          <a:p>
            <a:pPr algn="l">
              <a:spcAft>
                <a:spcPts val="1200"/>
              </a:spcAft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Il nonno dice: «Questo lago è dentro un antico vulcano.»</a:t>
            </a:r>
          </a:p>
          <a:p>
            <a:pPr algn="l">
              <a:spcAft>
                <a:spcPts val="0"/>
              </a:spcAft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Flavio chiede: «Allora qui ci sono dei pericoli?»</a:t>
            </a:r>
          </a:p>
        </p:txBody>
      </p:sp>
      <p:sp>
        <p:nvSpPr>
          <p:cNvPr id="8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94760" y="5120640"/>
            <a:ext cx="7726679" cy="1188720"/>
          </a:xfrm>
          <a:prstGeom prst="roundRect">
            <a:avLst>
              <a:gd name="adj" fmla="val 9230"/>
            </a:avLst>
          </a:prstGeom>
          <a:noFill/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Icon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5349240"/>
            <a:ext cx="731520" cy="731520"/>
          </a:xfrm>
          <a:prstGeom prst="rect">
            <a:avLst/>
          </a:prstGeom>
        </p:spPr>
      </p:pic>
      <p:sp>
        <p:nvSpPr>
          <p:cNvPr id="10" name="Domanda"/>
          <p:cNvSpPr txBox="1"/>
          <p:nvPr/>
        </p:nvSpPr>
        <p:spPr>
          <a:xfrm>
            <a:off x="4846320" y="5166360"/>
            <a:ext cx="6583680" cy="109728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lang="it-IT">
                <a:solidFill>
                  <a:srgbClr val="003366"/>
                </a:solidFill>
                <a:latin typeface="Arial"/>
              </a:rPr>
              <a:t>Voi che cosa sapete del posto dove vivete?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9413392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Tre rischi da conoscere a Genzano</a:t>
            </a:r>
          </a:p>
        </p:txBody>
      </p:sp>
      <p:sp>
        <p:nvSpPr>
          <p:cNvPr id="4" name="Fogliet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480000">
            <a:off x="640080" y="1783080"/>
            <a:ext cx="3413759" cy="4206240"/>
          </a:xfrm>
          <a:prstGeom prst="rect">
            <a:avLst/>
          </a:prstGeom>
          <a:solidFill>
            <a:srgbClr val="FFF0A8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5" name="Pittogramma" descr="Pittogramma: un terremoto fa tremare gli edific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1158239" y="1965960"/>
            <a:ext cx="2377440" cy="2377440"/>
          </a:xfrm>
          <a:prstGeom prst="rect">
            <a:avLst/>
          </a:prstGeom>
        </p:spPr>
      </p:pic>
      <p:sp>
        <p:nvSpPr>
          <p:cNvPr id="6" name="Voce 1"/>
          <p:cNvSpPr txBox="1"/>
          <p:nvPr/>
        </p:nvSpPr>
        <p:spPr>
          <a:xfrm>
            <a:off x="731519" y="4434840"/>
            <a:ext cx="3230879" cy="1463039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lang="it-IT">
                <a:solidFill>
                  <a:srgbClr val="003366"/>
                </a:solidFill>
                <a:latin typeface="Arial"/>
              </a:rPr>
              <a:t>Terremoto</a:t>
            </a:r>
          </a:p>
        </p:txBody>
      </p:sp>
      <p:sp>
        <p:nvSpPr>
          <p:cNvPr id="7" name="Fogliet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90000">
            <a:off x="4419600" y="1783080"/>
            <a:ext cx="3413759" cy="4206240"/>
          </a:xfrm>
          <a:prstGeom prst="rect">
            <a:avLst/>
          </a:prstGeom>
          <a:solidFill>
            <a:srgbClr val="F8DFE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8" name="Pittogramma" descr="Pittogramma: nuvole e piogg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937759" y="1965960"/>
            <a:ext cx="2377440" cy="2377440"/>
          </a:xfrm>
          <a:prstGeom prst="rect">
            <a:avLst/>
          </a:prstGeom>
        </p:spPr>
      </p:pic>
      <p:sp>
        <p:nvSpPr>
          <p:cNvPr id="9" name="Voce 2"/>
          <p:cNvSpPr txBox="1"/>
          <p:nvPr/>
        </p:nvSpPr>
        <p:spPr>
          <a:xfrm>
            <a:off x="4511039" y="4434840"/>
            <a:ext cx="3230879" cy="1463039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lang="it-IT">
                <a:solidFill>
                  <a:srgbClr val="003366"/>
                </a:solidFill>
                <a:latin typeface="Arial"/>
              </a:rPr>
              <a:t>Piogge forti: frane e allagamenti</a:t>
            </a:r>
          </a:p>
        </p:txBody>
      </p:sp>
      <p:sp>
        <p:nvSpPr>
          <p:cNvPr id="10" name="Fogliet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510000">
            <a:off x="8199119" y="1783080"/>
            <a:ext cx="3413759" cy="4206240"/>
          </a:xfrm>
          <a:prstGeom prst="rect">
            <a:avLst/>
          </a:prstGeom>
          <a:solidFill>
            <a:srgbClr val="EDF7F0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1" name="Pittogramma" descr="Pittogramma: fiamm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10000">
            <a:off x="8717279" y="1965960"/>
            <a:ext cx="2377440" cy="2377440"/>
          </a:xfrm>
          <a:prstGeom prst="rect">
            <a:avLst/>
          </a:prstGeom>
        </p:spPr>
      </p:pic>
      <p:sp>
        <p:nvSpPr>
          <p:cNvPr id="12" name="Voce 3"/>
          <p:cNvSpPr txBox="1"/>
          <p:nvPr/>
        </p:nvSpPr>
        <p:spPr>
          <a:xfrm>
            <a:off x="8290559" y="4434840"/>
            <a:ext cx="3230879" cy="1463039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 lang="it-IT">
                <a:solidFill>
                  <a:srgbClr val="003366"/>
                </a:solidFill>
                <a:latin typeface="Arial"/>
              </a:rPr>
              <a:t>Incendi nei boschi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8715857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Terremoto: Genzano è in zona 2</a:t>
            </a:r>
          </a:p>
        </p:txBody>
      </p:sp>
      <p:sp>
        <p:nvSpPr>
          <p:cNvPr id="4" name="Numero grande"/>
          <p:cNvSpPr/>
          <p:nvPr/>
        </p:nvSpPr>
        <p:spPr>
          <a:xfrm>
            <a:off x="868680" y="1783080"/>
            <a:ext cx="3154680" cy="3154680"/>
          </a:xfrm>
          <a:prstGeom prst="ellipse">
            <a:avLst/>
          </a:prstGeom>
          <a:solidFill>
            <a:srgbClr val="FFF0A8"/>
          </a:solidFill>
          <a:ln>
            <a:noFill/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9000" b="0" lang="it-IT">
                <a:solidFill>
                  <a:srgbClr val="003366"/>
                </a:solidFill>
                <a:latin typeface="Edu NSW ACT Cursive"/>
              </a:rPr>
              <a:t>2</a:t>
            </a:r>
          </a:p>
        </p:txBody>
      </p:sp>
      <p:sp>
        <p:nvSpPr>
          <p:cNvPr id="5" name="Didascalia"/>
          <p:cNvSpPr/>
          <p:nvPr/>
        </p:nvSpPr>
        <p:spPr>
          <a:xfrm rot="21480000">
            <a:off x="1097280" y="5120640"/>
            <a:ext cx="2697480" cy="731520"/>
          </a:xfrm>
          <a:prstGeom prst="rect">
            <a:avLst/>
          </a:prstGeom>
          <a:solidFill>
            <a:srgbClr val="DCEEFA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sz="3200" b="0" lang="it-IT">
                <a:solidFill>
                  <a:srgbClr val="003366"/>
                </a:solidFill>
                <a:latin typeface="Edu NSW ACT Cursive"/>
              </a:rPr>
              <a:t>zona sismica</a:t>
            </a:r>
          </a:p>
        </p:txBody>
      </p:sp>
      <p:sp>
        <p:nvSpPr>
          <p:cNvPr id="6" name="Testo"/>
          <p:cNvSpPr txBox="1"/>
          <p:nvPr/>
        </p:nvSpPr>
        <p:spPr>
          <a:xfrm>
            <a:off x="4434840" y="1691640"/>
            <a:ext cx="7132320" cy="448056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L’Italia è divisa in 4 zone sismiche: la 1 è la più pericolosa, la 4 la meno.</a:t>
            </a:r>
          </a:p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Genzano è in </a:t>
            </a:r>
            <a:r>
              <a:rPr sz="2800" b="0" lang="it-IT">
                <a:solidFill>
                  <a:srgbClr val="212529"/>
                </a:solidFill>
                <a:highlight>
                  <a:srgbClr val="DCEEFA"/>
                </a:highlight>
                <a:latin typeface="Arial"/>
              </a:rPr>
              <a:t>zona 2</a:t>
            </a:r>
            <a:r>
              <a:rPr sz="2800" b="0" lang="it-IT">
                <a:solidFill>
                  <a:srgbClr val="212529"/>
                </a:solidFill>
                <a:latin typeface="Arial"/>
              </a:rPr>
              <a:t>: sismicità media.</a:t>
            </a:r>
          </a:p>
          <a:p>
            <a:pPr algn="l" marL="384048" indent="-384048">
              <a:spcAft>
                <a:spcPts val="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Nessuno sa prevedere </a:t>
            </a:r>
            <a:r>
              <a:rPr sz="2800" b="0" lang="it-IT">
                <a:solidFill>
                  <a:srgbClr val="212529"/>
                </a:solidFill>
                <a:highlight>
                  <a:srgbClr val="F8DFE5"/>
                </a:highlight>
                <a:latin typeface="Arial"/>
              </a:rPr>
              <a:t>il giorno di un terremoto</a:t>
            </a:r>
            <a:r>
              <a:rPr sz="2800" b="0" lang="it-IT">
                <a:solidFill>
                  <a:srgbClr val="212529"/>
                </a:solidFill>
                <a:latin typeface="Arial"/>
              </a:rPr>
              <a:t>: ci si prepara prima.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6599885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Terremoto: che cosa fare</a:t>
            </a:r>
          </a:p>
        </p:txBody>
      </p:sp>
      <p:sp>
        <p:nvSpPr>
          <p:cNvPr id="4" name="Corni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70837" y="1554480"/>
            <a:ext cx="9650020" cy="3897376"/>
          </a:xfrm>
          <a:prstGeom prst="roundRect">
            <a:avLst>
              <a:gd name="adj" fmla="val 2346"/>
            </a:avLst>
          </a:prstGeom>
          <a:solidFill>
            <a:srgbClr val="FFFFFF"/>
          </a:solidFill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Illustrazione" descr="Tre disegni in fila: una persona si abbassa, si ripara sotto un tavolo robusto proteggendo testa e collo, poi afferra una gamba del tavol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565" y="1664208"/>
            <a:ext cx="9430564" cy="3677920"/>
          </a:xfrm>
          <a:prstGeom prst="rect">
            <a:avLst/>
          </a:prstGeom>
        </p:spPr>
      </p:pic>
      <p:sp>
        <p:nvSpPr>
          <p:cNvPr id="6" name="Testo"/>
          <p:cNvSpPr txBox="1"/>
          <p:nvPr/>
        </p:nvSpPr>
        <p:spPr>
          <a:xfrm>
            <a:off x="777240" y="5589016"/>
            <a:ext cx="10607040" cy="1040383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l" marL="384048" indent="-384048">
              <a:spcAft>
                <a:spcPts val="800"/>
              </a:spcAft>
              <a:buClr>
                <a:srgbClr val="003366"/>
              </a:buClr>
              <a:buFont typeface="Arial"/>
              <a:buChar char="•"/>
            </a:pPr>
            <a:r>
              <a:rPr sz="2600" b="0" lang="it-IT">
                <a:solidFill>
                  <a:srgbClr val="212529"/>
                </a:solidFill>
                <a:latin typeface="Arial"/>
              </a:rPr>
              <a:t>Durante: </a:t>
            </a:r>
            <a:r>
              <a:rPr sz="2600" b="0" lang="it-IT">
                <a:solidFill>
                  <a:srgbClr val="212529"/>
                </a:solidFill>
                <a:highlight>
                  <a:srgbClr val="FFF0A8"/>
                </a:highlight>
                <a:latin typeface="Arial"/>
              </a:rPr>
              <a:t>abbassati, riparati, tieniti</a:t>
            </a:r>
            <a:r>
              <a:rPr sz="2600" b="0" lang="it-IT">
                <a:solidFill>
                  <a:srgbClr val="212529"/>
                </a:solidFill>
                <a:latin typeface="Arial"/>
              </a:rPr>
              <a:t>. Non correre fuori.</a:t>
            </a:r>
          </a:p>
          <a:p>
            <a:pPr algn="l" marL="384048" indent="-384048">
              <a:spcAft>
                <a:spcPts val="0"/>
              </a:spcAft>
              <a:buClr>
                <a:srgbClr val="003366"/>
              </a:buClr>
              <a:buFont typeface="Arial"/>
              <a:buChar char="•"/>
            </a:pPr>
            <a:r>
              <a:rPr sz="2600" b="0" lang="it-IT">
                <a:solidFill>
                  <a:srgbClr val="212529"/>
                </a:solidFill>
                <a:latin typeface="Arial"/>
              </a:rPr>
              <a:t>Dopo: scarpe ai piedi, esci con calma e vai al </a:t>
            </a:r>
            <a:r>
              <a:rPr sz="2600" b="0" lang="it-IT">
                <a:solidFill>
                  <a:srgbClr val="212529"/>
                </a:solidFill>
                <a:highlight>
                  <a:srgbClr val="DCEEFA"/>
                </a:highlight>
                <a:latin typeface="Arial"/>
              </a:rPr>
              <a:t>punto di raccolta</a:t>
            </a:r>
            <a:r>
              <a:rPr sz="2600" b="0" lang="it-IT">
                <a:solidFill>
                  <a:srgbClr val="21252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8499995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Piogge forti: perché proprio qui?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60520" y="1600200"/>
            <a:ext cx="7406640" cy="4526280"/>
          </a:xfrm>
          <a:prstGeom prst="roundRect">
            <a:avLst>
              <a:gd name="adj" fmla="val 2424"/>
            </a:avLst>
          </a:prstGeom>
          <a:noFill/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sto"/>
          <p:cNvSpPr txBox="1"/>
          <p:nvPr/>
        </p:nvSpPr>
        <p:spPr>
          <a:xfrm>
            <a:off x="4434840" y="1783080"/>
            <a:ext cx="6903720" cy="416052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Genzano ha pendii ripidi, sul bordo dell’antico vulcano.</a:t>
            </a:r>
          </a:p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Con piogge forti e lunghe il terreno può </a:t>
            </a:r>
            <a:r>
              <a:rPr sz="2800" b="0" lang="it-IT">
                <a:solidFill>
                  <a:srgbClr val="212529"/>
                </a:solidFill>
                <a:highlight>
                  <a:srgbClr val="F8DFE5"/>
                </a:highlight>
                <a:latin typeface="Arial"/>
              </a:rPr>
              <a:t>franare</a:t>
            </a:r>
            <a:r>
              <a:rPr sz="2800" b="0" lang="it-IT">
                <a:solidFill>
                  <a:srgbClr val="212529"/>
                </a:solidFill>
                <a:latin typeface="Arial"/>
              </a:rPr>
              <a:t>.</a:t>
            </a:r>
          </a:p>
          <a:p>
            <a:pPr algn="l" marL="384048" indent="-384048">
              <a:spcAft>
                <a:spcPts val="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Nelle zone basse l’acqua </a:t>
            </a:r>
            <a:r>
              <a:rPr sz="2800" b="0" lang="it-IT">
                <a:solidFill>
                  <a:srgbClr val="212529"/>
                </a:solidFill>
                <a:highlight>
                  <a:srgbClr val="F8DFE5"/>
                </a:highlight>
                <a:latin typeface="Arial"/>
              </a:rPr>
              <a:t>allaga</a:t>
            </a:r>
            <a:r>
              <a:rPr sz="2800" b="0" lang="it-IT">
                <a:solidFill>
                  <a:srgbClr val="212529"/>
                </a:solidFill>
                <a:latin typeface="Arial"/>
              </a:rPr>
              <a:t> strade, cantine e sottopassi.</a:t>
            </a:r>
          </a:p>
        </p:txBody>
      </p:sp>
      <p:sp>
        <p:nvSpPr>
          <p:cNvPr id="6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480000">
            <a:off x="777240" y="2057400"/>
            <a:ext cx="29260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7" name="Pittogramma" descr="Pittogramma: case allagate dall’acqu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982065" y="2262225"/>
            <a:ext cx="2516428" cy="2516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6867156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Piogge forti: che cosa fare</a:t>
            </a:r>
          </a:p>
        </p:txBody>
      </p:sp>
      <p:sp>
        <p:nvSpPr>
          <p:cNvPr id="4" name="Corni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70837" y="1554480"/>
            <a:ext cx="9650020" cy="3897376"/>
          </a:xfrm>
          <a:prstGeom prst="roundRect">
            <a:avLst>
              <a:gd name="adj" fmla="val 2346"/>
            </a:avLst>
          </a:prstGeom>
          <a:solidFill>
            <a:srgbClr val="FFFFFF"/>
          </a:solidFill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Illustrazione" descr="A sinistra una casa con la cantina allagata e una persona salita al piano di sopra; a destra un’auto e una persona su una strada allagata, sbarrate da una croc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565" y="1664208"/>
            <a:ext cx="9430564" cy="3677920"/>
          </a:xfrm>
          <a:prstGeom prst="rect">
            <a:avLst/>
          </a:prstGeom>
        </p:spPr>
      </p:pic>
      <p:sp>
        <p:nvSpPr>
          <p:cNvPr id="6" name="Testo"/>
          <p:cNvSpPr txBox="1"/>
          <p:nvPr/>
        </p:nvSpPr>
        <p:spPr>
          <a:xfrm>
            <a:off x="777240" y="5589016"/>
            <a:ext cx="10607040" cy="1040383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l" marL="384048" indent="-384048">
              <a:spcAft>
                <a:spcPts val="800"/>
              </a:spcAft>
              <a:buClr>
                <a:srgbClr val="003366"/>
              </a:buClr>
              <a:buFont typeface="Arial"/>
              <a:buChar char="•"/>
            </a:pPr>
            <a:r>
              <a:rPr sz="2600" b="0" lang="it-IT">
                <a:solidFill>
                  <a:srgbClr val="212529"/>
                </a:solidFill>
                <a:highlight>
                  <a:srgbClr val="FFF0A8"/>
                </a:highlight>
                <a:latin typeface="Arial"/>
              </a:rPr>
              <a:t>Sali ai piani alti</a:t>
            </a:r>
            <a:r>
              <a:rPr sz="2600" b="0" lang="it-IT">
                <a:solidFill>
                  <a:srgbClr val="212529"/>
                </a:solidFill>
                <a:latin typeface="Arial"/>
              </a:rPr>
              <a:t>. Mai in cantina o in garage.</a:t>
            </a:r>
          </a:p>
          <a:p>
            <a:pPr algn="l" marL="384048" indent="-384048">
              <a:spcAft>
                <a:spcPts val="0"/>
              </a:spcAft>
              <a:buClr>
                <a:srgbClr val="003366"/>
              </a:buClr>
              <a:buFont typeface="Arial"/>
              <a:buChar char="•"/>
            </a:pPr>
            <a:r>
              <a:rPr sz="2600" b="0" lang="it-IT">
                <a:solidFill>
                  <a:srgbClr val="212529"/>
                </a:solidFill>
                <a:highlight>
                  <a:srgbClr val="F8DFE5"/>
                </a:highlight>
                <a:latin typeface="Arial"/>
              </a:rPr>
              <a:t>Non attraversare</a:t>
            </a:r>
            <a:r>
              <a:rPr sz="2600" b="0" lang="it-IT">
                <a:solidFill>
                  <a:srgbClr val="212529"/>
                </a:solidFill>
                <a:latin typeface="Arial"/>
              </a:rPr>
              <a:t> strade allagate, né a piedi né in auto.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7560894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Incendi: perché proprio qui?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7406640" cy="4526280"/>
          </a:xfrm>
          <a:prstGeom prst="roundRect">
            <a:avLst>
              <a:gd name="adj" fmla="val 2424"/>
            </a:avLst>
          </a:prstGeom>
          <a:noFill/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sto"/>
          <p:cNvSpPr txBox="1"/>
          <p:nvPr/>
        </p:nvSpPr>
        <p:spPr>
          <a:xfrm>
            <a:off x="914400" y="1783080"/>
            <a:ext cx="6903720" cy="416052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Genzano è in parte nel Parco dei Castelli Romani, con tanti boschi.</a:t>
            </a:r>
          </a:p>
          <a:p>
            <a:pPr algn="l" marL="384048" indent="-384048">
              <a:spcAft>
                <a:spcPts val="120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Il periodo più pericoloso va da </a:t>
            </a:r>
            <a:r>
              <a:rPr sz="2800" b="0" lang="it-IT">
                <a:solidFill>
                  <a:srgbClr val="212529"/>
                </a:solidFill>
                <a:highlight>
                  <a:srgbClr val="DCEEFA"/>
                </a:highlight>
                <a:latin typeface="Arial"/>
              </a:rPr>
              <a:t>giugno a settembre</a:t>
            </a:r>
            <a:r>
              <a:rPr sz="2800" b="0" lang="it-IT">
                <a:solidFill>
                  <a:srgbClr val="212529"/>
                </a:solidFill>
                <a:latin typeface="Arial"/>
              </a:rPr>
              <a:t>.</a:t>
            </a:r>
          </a:p>
          <a:p>
            <a:pPr algn="l" marL="384048" indent="-384048">
              <a:spcAft>
                <a:spcPts val="0"/>
              </a:spcAft>
              <a:buClr>
                <a:srgbClr val="003366"/>
              </a:buClr>
              <a:buFont typeface="Arial"/>
              <a:buChar char="•"/>
            </a:pPr>
            <a:r>
              <a:rPr sz="2800" b="0" lang="it-IT">
                <a:solidFill>
                  <a:srgbClr val="212529"/>
                </a:solidFill>
                <a:latin typeface="Arial"/>
              </a:rPr>
              <a:t>Quasi sempre l’incendio </a:t>
            </a:r>
            <a:r>
              <a:rPr sz="2800" b="0" lang="it-IT">
                <a:solidFill>
                  <a:srgbClr val="212529"/>
                </a:solidFill>
                <a:highlight>
                  <a:srgbClr val="F8DFE5"/>
                </a:highlight>
                <a:latin typeface="Arial"/>
              </a:rPr>
              <a:t>nasce da una persona</a:t>
            </a:r>
            <a:r>
              <a:rPr sz="2800" b="0" lang="it-IT">
                <a:solidFill>
                  <a:srgbClr val="212529"/>
                </a:solidFill>
                <a:latin typeface="Arial"/>
              </a:rPr>
              <a:t>: un mozzicone, un fuoco acceso.</a:t>
            </a:r>
          </a:p>
        </p:txBody>
      </p:sp>
      <p:sp>
        <p:nvSpPr>
          <p:cNvPr id="6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0000">
            <a:off x="8503920" y="2057400"/>
            <a:ext cx="29260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7" name="Pittogramma" descr="Pittogramma: un bosc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8708745" y="2262225"/>
            <a:ext cx="2516428" cy="25164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5928055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Incendi: che cosa fare</a:t>
            </a:r>
          </a:p>
        </p:txBody>
      </p:sp>
      <p:sp>
        <p:nvSpPr>
          <p:cNvPr id="4" name="Corni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69483" y="1554480"/>
            <a:ext cx="9452727" cy="3897376"/>
          </a:xfrm>
          <a:prstGeom prst="roundRect">
            <a:avLst>
              <a:gd name="adj" fmla="val 2346"/>
            </a:avLst>
          </a:prstGeom>
          <a:solidFill>
            <a:srgbClr val="FFFFFF"/>
          </a:solidFill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Illustrazione" descr="Da una parte fumo e fiamme in un bosco lontano; dall’altra una persona in un luogo sicuro telefona al 112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211" y="1664208"/>
            <a:ext cx="9233271" cy="3677920"/>
          </a:xfrm>
          <a:prstGeom prst="rect">
            <a:avLst/>
          </a:prstGeom>
        </p:spPr>
      </p:pic>
      <p:sp>
        <p:nvSpPr>
          <p:cNvPr id="6" name="Testo"/>
          <p:cNvSpPr txBox="1"/>
          <p:nvPr/>
        </p:nvSpPr>
        <p:spPr>
          <a:xfrm>
            <a:off x="777240" y="5589016"/>
            <a:ext cx="10607040" cy="1040383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l" marL="384048" indent="-384048">
              <a:spcAft>
                <a:spcPts val="800"/>
              </a:spcAft>
              <a:buClr>
                <a:srgbClr val="003366"/>
              </a:buClr>
              <a:buFont typeface="Arial"/>
              <a:buChar char="•"/>
            </a:pPr>
            <a:r>
              <a:rPr sz="2600" b="0" lang="it-IT">
                <a:solidFill>
                  <a:srgbClr val="212529"/>
                </a:solidFill>
                <a:highlight>
                  <a:srgbClr val="FFF0A8"/>
                </a:highlight>
                <a:latin typeface="Arial"/>
              </a:rPr>
              <a:t>Allontanati</a:t>
            </a:r>
            <a:r>
              <a:rPr sz="2600" b="0" lang="it-IT">
                <a:solidFill>
                  <a:srgbClr val="212529"/>
                </a:solidFill>
                <a:latin typeface="Arial"/>
              </a:rPr>
              <a:t> dal fumo e dalle fiamme. Non andare a guardare.</a:t>
            </a:r>
          </a:p>
          <a:p>
            <a:pPr algn="l" marL="384048" indent="-384048">
              <a:spcAft>
                <a:spcPts val="0"/>
              </a:spcAft>
              <a:buClr>
                <a:srgbClr val="003366"/>
              </a:buClr>
              <a:buFont typeface="Arial"/>
              <a:buChar char="•"/>
            </a:pPr>
            <a:r>
              <a:rPr sz="2600" b="0" lang="it-IT">
                <a:solidFill>
                  <a:srgbClr val="212529"/>
                </a:solidFill>
                <a:latin typeface="Arial"/>
              </a:rPr>
              <a:t>Avvisa un adulto e </a:t>
            </a:r>
            <a:r>
              <a:rPr sz="2600" b="0" lang="it-IT">
                <a:solidFill>
                  <a:srgbClr val="212529"/>
                </a:solidFill>
                <a:highlight>
                  <a:srgbClr val="FFF0A8"/>
                </a:highlight>
                <a:latin typeface="Arial"/>
              </a:rPr>
              <a:t>chiama il 112</a:t>
            </a:r>
            <a:r>
              <a:rPr sz="2600" b="0" lang="it-IT">
                <a:solidFill>
                  <a:srgbClr val="212529"/>
                </a:solidFill>
                <a:latin typeface="Arial"/>
              </a:rPr>
              <a:t>: di’ dove sei.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7404912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Scheda: i terremoti in Italia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38528"/>
            <a:ext cx="7635240" cy="3154680"/>
          </a:xfrm>
          <a:prstGeom prst="roundRect">
            <a:avLst>
              <a:gd name="adj" fmla="val 3478"/>
            </a:avLst>
          </a:prstGeom>
          <a:noFill/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Linguetta"/>
          <p:cNvSpPr/>
          <p:nvPr/>
        </p:nvSpPr>
        <p:spPr>
          <a:xfrm>
            <a:off x="868680" y="1481328"/>
            <a:ext cx="2654625" cy="59055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DCEEFA"/>
          </a:solidFill>
          <a:ln w="15875">
            <a:solidFill>
              <a:srgbClr val="003366"/>
            </a:solidFill>
          </a:ln>
        </p:spPr>
        <p:txBody>
          <a:bodyPr rtlCol="0" anchor="ctr" wrap="none" lIns="182880" rIns="182880" tIns="0" bIns="0">
            <a:noAutofit/>
          </a:bodyPr>
          <a:lstStyle/>
          <a:p>
            <a:pPr algn="l"/>
            <a:r>
              <a:rPr sz="3000" b="0" lang="it-IT">
                <a:solidFill>
                  <a:srgbClr val="003366"/>
                </a:solidFill>
                <a:latin typeface="Edu NSW ACT Cursive"/>
              </a:rPr>
              <a:t>Come si fa</a:t>
            </a:r>
          </a:p>
        </p:txBody>
      </p:sp>
      <p:sp>
        <p:nvSpPr>
          <p:cNvPr id="6" name="Numero"/>
          <p:cNvSpPr/>
          <p:nvPr/>
        </p:nvSpPr>
        <p:spPr>
          <a:xfrm>
            <a:off x="868680" y="2284475"/>
            <a:ext cx="603504" cy="6035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000" b="0" lang="it-IT">
                <a:solidFill>
                  <a:srgbClr val="003366"/>
                </a:solidFill>
                <a:latin typeface="Edu NSW ACT Cursive"/>
              </a:rPr>
              <a:t>1</a:t>
            </a:r>
          </a:p>
        </p:txBody>
      </p:sp>
      <p:sp>
        <p:nvSpPr>
          <p:cNvPr id="7" name="Passo 1"/>
          <p:cNvSpPr txBox="1"/>
          <p:nvPr/>
        </p:nvSpPr>
        <p:spPr>
          <a:xfrm>
            <a:off x="1645920" y="2121408"/>
            <a:ext cx="6492240" cy="92964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0" lang="it-IT">
                <a:solidFill>
                  <a:srgbClr val="212529"/>
                </a:solidFill>
                <a:latin typeface="Arial"/>
              </a:rPr>
              <a:t>Guardate la mappa delle 4 zone sismiche.</a:t>
            </a:r>
          </a:p>
        </p:txBody>
      </p:sp>
      <p:sp>
        <p:nvSpPr>
          <p:cNvPr id="8" name="Numero"/>
          <p:cNvSpPr/>
          <p:nvPr/>
        </p:nvSpPr>
        <p:spPr>
          <a:xfrm>
            <a:off x="868680" y="3214115"/>
            <a:ext cx="603504" cy="6035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000" b="0" lang="it-IT">
                <a:solidFill>
                  <a:srgbClr val="003366"/>
                </a:solidFill>
                <a:latin typeface="Edu NSW ACT Cursive"/>
              </a:rPr>
              <a:t>2</a:t>
            </a:r>
          </a:p>
        </p:txBody>
      </p:sp>
      <p:sp>
        <p:nvSpPr>
          <p:cNvPr id="9" name="Passo 2"/>
          <p:cNvSpPr txBox="1"/>
          <p:nvPr/>
        </p:nvSpPr>
        <p:spPr>
          <a:xfrm>
            <a:off x="1645920" y="3051048"/>
            <a:ext cx="6492240" cy="92964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0" lang="it-IT">
                <a:solidFill>
                  <a:srgbClr val="212529"/>
                </a:solidFill>
                <a:latin typeface="Arial"/>
              </a:rPr>
              <a:t>Collegate ogni luogo alla sua zona.</a:t>
            </a:r>
          </a:p>
        </p:txBody>
      </p:sp>
      <p:sp>
        <p:nvSpPr>
          <p:cNvPr id="10" name="Numero"/>
          <p:cNvSpPr/>
          <p:nvPr/>
        </p:nvSpPr>
        <p:spPr>
          <a:xfrm>
            <a:off x="868680" y="4143756"/>
            <a:ext cx="603504" cy="6035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3000" b="0" lang="it-IT">
                <a:solidFill>
                  <a:srgbClr val="003366"/>
                </a:solidFill>
                <a:latin typeface="Edu NSW ACT Cursive"/>
              </a:rPr>
              <a:t>3</a:t>
            </a:r>
          </a:p>
        </p:txBody>
      </p:sp>
      <p:sp>
        <p:nvSpPr>
          <p:cNvPr id="11" name="Passo 3"/>
          <p:cNvSpPr txBox="1"/>
          <p:nvPr/>
        </p:nvSpPr>
        <p:spPr>
          <a:xfrm>
            <a:off x="1645920" y="3980688"/>
            <a:ext cx="6492240" cy="92964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0" lang="it-IT">
                <a:solidFill>
                  <a:srgbClr val="212529"/>
                </a:solidFill>
                <a:latin typeface="Arial"/>
              </a:rPr>
              <a:t>Rispondete alle tre domande.</a:t>
            </a:r>
          </a:p>
        </p:txBody>
      </p:sp>
      <p:sp>
        <p:nvSpPr>
          <p:cNvPr id="12" name="Materiale"/>
          <p:cNvSpPr txBox="1"/>
          <p:nvPr/>
        </p:nvSpPr>
        <p:spPr>
          <a:xfrm>
            <a:off x="640080" y="5212080"/>
            <a:ext cx="7772400" cy="137160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>
              <a:spcAft>
                <a:spcPts val="600"/>
              </a:spcAft>
            </a:pPr>
            <a:r>
              <a:rPr sz="2400" b="1" lang="it-IT">
                <a:solidFill>
                  <a:srgbClr val="212529"/>
                </a:solidFill>
                <a:latin typeface="Arial"/>
              </a:rPr>
              <a:t>Scheda: </a:t>
            </a:r>
            <a:r>
              <a:rPr sz="2400" b="0" lang="it-IT" u="sng">
                <a:solidFill>
                  <a:srgbClr val="003366"/>
                </a:solidFill>
                <a:latin typeface="Arial"/>
                <a:hlinkClick r:id="rId3"/>
              </a:rPr>
              <a:t>Scheda «La geografia sismica dell’Italia»</a:t>
            </a:r>
          </a:p>
          <a:p>
            <a:r>
              <a:rPr sz="2400" b="0" lang="it-IT">
                <a:solidFill>
                  <a:srgbClr val="212529"/>
                </a:solidFill>
                <a:latin typeface="Arial"/>
              </a:rPr>
              <a:t>Una scheda per bambino, o una per coppia.</a:t>
            </a:r>
          </a:p>
        </p:txBody>
      </p:sp>
      <p:sp>
        <p:nvSpPr>
          <p:cNvPr id="13" name="Durata"/>
          <p:cNvSpPr/>
          <p:nvPr/>
        </p:nvSpPr>
        <p:spPr>
          <a:xfrm rot="180000">
            <a:off x="8686800" y="1691640"/>
            <a:ext cx="2788920" cy="1097280"/>
          </a:xfrm>
          <a:prstGeom prst="rect">
            <a:avLst/>
          </a:prstGeom>
          <a:solidFill>
            <a:srgbClr val="FFF0A8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 wrap="none" lIns="109728" rIns="109728" tIns="36576" bIns="36576">
            <a:noAutofit/>
          </a:bodyPr>
          <a:lstStyle/>
          <a:p>
            <a:pPr algn="ctr"/>
            <a:r>
              <a:rPr sz="4000" b="0" lang="it-IT">
                <a:solidFill>
                  <a:srgbClr val="003366"/>
                </a:solidFill>
                <a:latin typeface="Edu NSW ACT Cursive"/>
              </a:rPr>
              <a:t>14 minuti</a:t>
            </a:r>
          </a:p>
        </p:txBody>
      </p:sp>
      <p:sp>
        <p:nvSpPr>
          <p:cNvPr id="14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480000">
            <a:off x="8961120" y="3246120"/>
            <a:ext cx="246888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5" name="Pittogramma" descr="Pittogramma: un terremoto fa tremare gli edific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9133941" y="3418941"/>
            <a:ext cx="2123236" cy="21232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3326904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Ricordiamo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10972800" cy="4572000"/>
          </a:xfrm>
          <a:prstGeom prst="roundRect">
            <a:avLst>
              <a:gd name="adj" fmla="val 2400"/>
            </a:avLst>
          </a:prstGeom>
          <a:solidFill>
            <a:srgbClr val="EDF7F0"/>
          </a:solidFill>
          <a:ln w="22225">
            <a:solidFill>
              <a:srgbClr val="146C4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480000">
            <a:off x="960119" y="1889759"/>
            <a:ext cx="1188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6" name="Pittogramma" descr="Pittogramma: una persona riparata sotto un tavo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1043330" y="1972970"/>
            <a:ext cx="1022299" cy="1022299"/>
          </a:xfrm>
          <a:prstGeom prst="rect">
            <a:avLst/>
          </a:prstGeom>
        </p:spPr>
      </p:pic>
      <p:sp>
        <p:nvSpPr>
          <p:cNvPr id="7" name="Ricordiamo 1"/>
          <p:cNvSpPr txBox="1"/>
          <p:nvPr/>
        </p:nvSpPr>
        <p:spPr>
          <a:xfrm>
            <a:off x="2468880" y="1783080"/>
            <a:ext cx="8869680" cy="140208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lang="it-IT">
                <a:solidFill>
                  <a:srgbClr val="212529"/>
                </a:solidFill>
                <a:latin typeface="Arial"/>
              </a:rPr>
              <a:t>Terremoto: abbassati, riparati, tieniti.</a:t>
            </a:r>
          </a:p>
        </p:txBody>
      </p:sp>
      <p:sp>
        <p:nvSpPr>
          <p:cNvPr id="8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0000">
            <a:off x="960119" y="3291840"/>
            <a:ext cx="1188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9" name="Pittogramma" descr="Pittogramma: una persona sale le sca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1043330" y="3375050"/>
            <a:ext cx="1022299" cy="1022299"/>
          </a:xfrm>
          <a:prstGeom prst="rect">
            <a:avLst/>
          </a:prstGeom>
        </p:spPr>
      </p:pic>
      <p:sp>
        <p:nvSpPr>
          <p:cNvPr id="10" name="Ricordiamo 2"/>
          <p:cNvSpPr txBox="1"/>
          <p:nvPr/>
        </p:nvSpPr>
        <p:spPr>
          <a:xfrm>
            <a:off x="2468880" y="3185160"/>
            <a:ext cx="8869680" cy="140208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lang="it-IT">
                <a:solidFill>
                  <a:srgbClr val="212529"/>
                </a:solidFill>
                <a:latin typeface="Arial"/>
              </a:rPr>
              <a:t>Acqua alta: sali in alto, mai in cantina.</a:t>
            </a:r>
          </a:p>
        </p:txBody>
      </p:sp>
      <p:sp>
        <p:nvSpPr>
          <p:cNvPr id="11" name="Cartoncin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540000">
            <a:off x="960119" y="4693920"/>
            <a:ext cx="11887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ADB5BD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2" name="Pittogramma" descr="Pittogramma: un telefono con il numero 1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40000">
            <a:off x="1043330" y="4777130"/>
            <a:ext cx="1022299" cy="1022299"/>
          </a:xfrm>
          <a:prstGeom prst="rect">
            <a:avLst/>
          </a:prstGeom>
        </p:spPr>
      </p:pic>
      <p:sp>
        <p:nvSpPr>
          <p:cNvPr id="13" name="Ricordiamo 3"/>
          <p:cNvSpPr txBox="1"/>
          <p:nvPr/>
        </p:nvSpPr>
        <p:spPr>
          <a:xfrm>
            <a:off x="2468880" y="4587240"/>
            <a:ext cx="8869680" cy="140208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 lang="it-IT">
                <a:solidFill>
                  <a:srgbClr val="212529"/>
                </a:solidFill>
                <a:latin typeface="Arial"/>
              </a:rPr>
              <a:t>Fumo o fiamme: allontanati e chiama il 112.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48080"/>
            <a:ext cx="5014074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30630"/>
          </a:xfrm>
        </p:spPr>
        <p:txBody>
          <a:bodyPr wrap="square" anchor="b">
            <a:noAutofit/>
          </a:bodyPr>
          <a:lstStyle/>
          <a:p>
            <a:pPr algn="l"/>
            <a:r>
              <a:rPr sz="4600" b="0" lang="it-IT">
                <a:solidFill>
                  <a:srgbClr val="003366"/>
                </a:solidFill>
                <a:latin typeface="Edu NSW ACT Cursive"/>
              </a:rPr>
              <a:t>Per saperne di più</a:t>
            </a:r>
          </a:p>
        </p:txBody>
      </p:sp>
      <p:sp>
        <p:nvSpPr>
          <p:cNvPr id="4" name="Riquadr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5960"/>
            <a:ext cx="10972800" cy="4526280"/>
          </a:xfrm>
          <a:prstGeom prst="roundRect">
            <a:avLst>
              <a:gd name="adj" fmla="val 2424"/>
            </a:avLst>
          </a:prstGeom>
          <a:noFill/>
          <a:ln w="19050">
            <a:solidFill>
              <a:srgbClr val="00336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Linguetta"/>
          <p:cNvSpPr/>
          <p:nvPr/>
        </p:nvSpPr>
        <p:spPr>
          <a:xfrm>
            <a:off x="868680" y="1508760"/>
            <a:ext cx="4014155" cy="590550"/>
          </a:xfrm>
          <a:prstGeom prst="round2SameRect">
            <a:avLst>
              <a:gd name="adj1" fmla="val 28000"/>
              <a:gd name="adj2" fmla="val 0"/>
            </a:avLst>
          </a:prstGeom>
          <a:solidFill>
            <a:srgbClr val="DCEEFA"/>
          </a:solidFill>
          <a:ln w="15875">
            <a:solidFill>
              <a:srgbClr val="003366"/>
            </a:solidFill>
          </a:ln>
        </p:spPr>
        <p:txBody>
          <a:bodyPr rtlCol="0" anchor="ctr" wrap="none" lIns="182880" rIns="182880" tIns="0" bIns="0">
            <a:noAutofit/>
          </a:bodyPr>
          <a:lstStyle/>
          <a:p>
            <a:pPr algn="l"/>
            <a:r>
              <a:rPr sz="3000" b="0" lang="it-IT">
                <a:solidFill>
                  <a:srgbClr val="003366"/>
                </a:solidFill>
                <a:latin typeface="Edu NSW ACT Cursive"/>
              </a:rPr>
              <a:t>Le pagine del sito</a:t>
            </a:r>
          </a:p>
        </p:txBody>
      </p:sp>
      <p:sp>
        <p:nvSpPr>
          <p:cNvPr id="6" name="Fonti"/>
          <p:cNvSpPr txBox="1"/>
          <p:nvPr/>
        </p:nvSpPr>
        <p:spPr>
          <a:xfrm>
            <a:off x="914400" y="2148840"/>
            <a:ext cx="10424160" cy="420624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3"/>
              </a:rPr>
              <a:t>Scuole di Genzano di Roma e rischi locali</a:t>
            </a:r>
          </a:p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4"/>
              </a:rPr>
              <a:t>Rischi principali in parole semplici</a:t>
            </a:r>
          </a:p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5"/>
              </a:rPr>
              <a:t>Rischio sismico</a:t>
            </a:r>
          </a:p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6"/>
              </a:rPr>
              <a:t>Rischio idrogeologico</a:t>
            </a:r>
          </a:p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7"/>
              </a:rPr>
              <a:t>Rischio incendi boschivi</a:t>
            </a:r>
          </a:p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8"/>
              </a:rPr>
              <a:t>Rischio vulcanico (Colli Albani)</a:t>
            </a:r>
          </a:p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9"/>
              </a:rPr>
              <a:t>Scheda «La geografia sismica dell’Italia»</a:t>
            </a:r>
          </a:p>
          <a:p>
            <a:pPr marL="384048" indent="-384048">
              <a:spcAft>
                <a:spcPts val="400"/>
              </a:spcAft>
              <a:buClr>
                <a:srgbClr val="003366"/>
              </a:buClr>
              <a:buFont typeface="Arial"/>
              <a:buChar char="•"/>
            </a:pPr>
            <a:r>
              <a:rPr sz="2400" b="0" lang="it-IT" u="sng">
                <a:solidFill>
                  <a:srgbClr val="003366"/>
                </a:solidFill>
                <a:latin typeface="Arial"/>
                <a:hlinkClick r:id="rId10"/>
              </a:rPr>
              <a:t>Percorsi didattici: Percorso 1</a:t>
            </a:r>
          </a:p>
          <a:p>
            <a:pPr>
              <a:spcBef>
                <a:spcPts val="1000"/>
              </a:spcBef>
            </a:pPr>
            <a:r>
              <a:rPr sz="2400" b="0" lang="it-IT">
                <a:solidFill>
                  <a:srgbClr val="212529"/>
                </a:solidFill>
                <a:latin typeface="Arial"/>
              </a:rPr>
              <a:t>Tutte le pagine sono su protezionecivilegenzano.it.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ennellata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85672"/>
            <a:ext cx="2309164" cy="2011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28600"/>
            <a:ext cx="10972800" cy="1280160"/>
          </a:xfrm>
        </p:spPr>
        <p:txBody>
          <a:bodyPr wrap="square" anchor="b">
            <a:noAutofit/>
          </a:bodyPr>
          <a:lstStyle/>
          <a:p>
            <a:pPr algn="l"/>
            <a:r>
              <a:rPr sz="4800" b="0" lang="it-IT">
                <a:solidFill>
                  <a:srgbClr val="003366"/>
                </a:solidFill>
                <a:latin typeface="Edu NSW ACT Cursive"/>
              </a:rPr>
              <a:t>Grazie!</a:t>
            </a:r>
          </a:p>
        </p:txBody>
      </p:sp>
      <p:sp>
        <p:nvSpPr>
          <p:cNvPr id="4" name="Crediti"/>
          <p:cNvSpPr txBox="1"/>
          <p:nvPr/>
        </p:nvSpPr>
        <p:spPr>
          <a:xfrm>
            <a:off x="640080" y="1645920"/>
            <a:ext cx="10972800" cy="2560320"/>
          </a:xfrm>
          <a:prstGeom prst="rect">
            <a:avLst/>
          </a:prstGeom>
          <a:noFill/>
        </p:spPr>
        <p:txBody>
          <a:bodyPr wrap="square" anchor="t" lIns="73152" rIns="73152">
            <a:noAutofit/>
          </a:bodyPr>
          <a:lstStyle/>
          <a:p>
            <a:pPr algn="l">
              <a:spcAft>
                <a:spcPts val="600"/>
              </a:spcAft>
            </a:pPr>
            <a:r>
              <a:rPr sz="2400" b="0" lang="it-IT">
                <a:solidFill>
                  <a:srgbClr val="212529"/>
                </a:solidFill>
                <a:latin typeface="Arial"/>
              </a:rPr>
              <a:t>Testi e disegni: Gruppo Comunale Volontari di Protezione Civile di Genzano di Roma.</a:t>
            </a:r>
          </a:p>
          <a:p>
            <a:pPr algn="l">
              <a:spcAft>
                <a:spcPts val="600"/>
              </a:spcAft>
            </a:pPr>
            <a:r>
              <a:rPr sz="2400" b="0" lang="it-IT">
                <a:solidFill>
                  <a:srgbClr val="212529"/>
                </a:solidFill>
                <a:latin typeface="Arial"/>
              </a:rPr>
              <a:t>Pittogrammi: Sergio Palao, ARASAAC (arasaac.org), proprietà del Governo di Aragona.</a:t>
            </a:r>
          </a:p>
          <a:p>
            <a:pPr algn="l">
              <a:spcAft>
                <a:spcPts val="0"/>
              </a:spcAft>
            </a:pPr>
            <a:r>
              <a:rPr sz="2400" b="0" lang="it-IT">
                <a:solidFill>
                  <a:srgbClr val="212529"/>
                </a:solidFill>
                <a:latin typeface="Arial"/>
              </a:rPr>
              <a:t>Licenza: CC BY-NC-SA 4.0. Si può riusare citando la fonte, senza scopo di lucro.</a:t>
            </a:r>
          </a:p>
        </p:txBody>
      </p:sp>
      <p:pic>
        <p:nvPicPr>
          <p:cNvPr id="5" name="Logo Quality Label" descr="Logo Quality Label del Corpo europeo di solidarietà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" y="4434840"/>
            <a:ext cx="1645920" cy="1645920"/>
          </a:xfrm>
          <a:prstGeom prst="rect">
            <a:avLst/>
          </a:prstGeom>
        </p:spPr>
      </p:pic>
      <p:sp>
        <p:nvSpPr>
          <p:cNvPr id="6" name="Codice di accreditamento"/>
          <p:cNvSpPr txBox="1"/>
          <p:nvPr/>
        </p:nvSpPr>
        <p:spPr>
          <a:xfrm>
            <a:off x="2560320" y="4526280"/>
            <a:ext cx="3749039" cy="1463040"/>
          </a:xfrm>
          <a:prstGeom prst="rect">
            <a:avLst/>
          </a:prstGeom>
          <a:noFill/>
        </p:spPr>
        <p:txBody>
          <a:bodyPr wrap="square" anchor="ctr" lIns="73152" rIns="73152">
            <a:noAutofit/>
          </a:bodyPr>
          <a:lstStyle/>
          <a:p>
            <a:r>
              <a:rPr sz="2400" b="0" lang="it-IT">
                <a:solidFill>
                  <a:srgbClr val="212529"/>
                </a:solidFill>
                <a:latin typeface="Arial"/>
              </a:rPr>
              <a:t>Corpo europeo di solidarietà</a:t>
            </a:r>
          </a:p>
          <a:p>
            <a:r>
              <a:rPr sz="2600" b="1" lang="it-IT">
                <a:solidFill>
                  <a:srgbClr val="003366"/>
                </a:solidFill>
                <a:latin typeface="Arial"/>
              </a:rPr>
              <a:t>Codice E10435833</a:t>
            </a:r>
          </a:p>
        </p:txBody>
      </p:sp>
      <p:pic>
        <p:nvPicPr>
          <p:cNvPr id="7" name="Logo FE.PI.VOL." descr="Logo del Coordinamento FE.PI.VOL., Federazione Pronto Intervento Volontaria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434840"/>
            <a:ext cx="1645920" cy="1645920"/>
          </a:xfrm>
          <a:prstGeom prst="rect">
            <a:avLst/>
          </a:prstGeom>
        </p:spPr>
      </p:pic>
      <p:pic>
        <p:nvPicPr>
          <p:cNvPr id="8" name="Logo SNPC Volontariato" descr="Logo del Servizio nazionale della protezione civile, Volontariat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4348772"/>
            <a:ext cx="1508760" cy="18180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ppunti illustrati">
      <a:dk1>
        <a:srgbClr val="212529"/>
      </a:dk1>
      <a:lt1>
        <a:srgbClr val="FFFFFF"/>
      </a:lt1>
      <a:dk2>
        <a:srgbClr val="003366"/>
      </a:dk2>
      <a:lt2>
        <a:srgbClr val="FFFDF7"/>
      </a:lt2>
      <a:accent1>
        <a:srgbClr val="003366"/>
      </a:accent1>
      <a:accent2>
        <a:srgbClr val="B45309"/>
      </a:accent2>
      <a:accent3>
        <a:srgbClr val="146C43"/>
      </a:accent3>
      <a:accent4>
        <a:srgbClr val="B02A37"/>
      </a:accent4>
      <a:accent5>
        <a:srgbClr val="0369A1"/>
      </a:accent5>
      <a:accent6>
        <a:srgbClr val="6F42C1"/>
      </a:accent6>
      <a:hlink>
        <a:srgbClr val="003366"/>
      </a:hlink>
      <a:folHlink>
        <a:srgbClr val="4A2C7F"/>
      </a:folHlink>
    </a:clrScheme>
    <a:fontScheme name="Appunti illustrati">
      <a:majorFont>
        <a:latin typeface="Edu NSW ACT Cursiv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PresentationFormat>Widescreen</PresentationFormat>
  <Slides>14</Slides>
  <Notes>14</Notes>
  <HiddenSlides>0</HiddenSlides>
  <MMClips>0</MMClips>
  <ScaleCrop>false</ScaleCrop>
  <Company>Gruppo Comunale Volontari di Protezione Civile di Genzano di Roma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Lezione 3: I rischi del nostro territorio</dc:title>
  <dc:subject>Percorso 1 · Protezione Civile di base · Primaria, classi III-V</dc:subject>
  <dc:creator>Gruppo Comunale Volontari di Protezione Civile di Genzano di Roma</dc:creator>
  <cp:keywords>protezione civile; scuola primaria; educazione civica; Genzano di Roma</cp:keywords>
  <dc:description>Slide per chi conduce le lezioni nelle scuole, con le note per chi parla in ogni slide.</dc:description>
  <cp:lastModifiedBy>Gruppo Comunale Volontari di Protezione Civile di Genzano di Roma</cp:lastModifiedBy>
  <cp:revision>1</cp:revision>
  <dcterms:created xsi:type="dcterms:W3CDTF">2026-10-16T09:00:00Z</dcterms:created>
  <dcterms:modified xsi:type="dcterms:W3CDTF">2026-10-16T09:00:00Z</dcterms:modified>
  <cp:category>Formazione</cp:category>
  <dc:language>it-IT</dc:language>
  <cp:lastPrinted>2026-10-16T09:00:00Z</cp:lastPrinted>
</cp:coreProperties>
</file>