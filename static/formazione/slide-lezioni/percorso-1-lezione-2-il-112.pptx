
<file path=[Content_Types].xml><?xml version="1.0" encoding="utf-8"?>
<Types xmlns="http://schemas.openxmlformats.org/package/2006/content-types">
  <Default Extension="fntdata" ContentType="application/x-fontdata"/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embeddedFontLst>
    <p:embeddedFont>
      <p:font typeface="Edu NSW ACT Cursive" pitchFamily="66" charset="0"/>
      <p:regular r:id="rIdCarattere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Carattere1" Type="http://schemas.openxmlformats.org/officeDocument/2006/relationships/font" Target="fonts/font1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lang="it-IT"/>
              <a:t>Cosa dire: Saluta e ricorda la lezione scorsa: la Protezione Civile è una squadra di tante squadre. Oggi scopriamo il numero che fa arrivare la squadra giusta: il 112.</a:t>
            </a:r>
          </a:p>
          <a:p>
            <a:r>
              <a:rPr sz="1400" lang="it-IT"/>
              <a:t>Domanda alla classe: Chi sa a memoria il numero di telefono di casa o di un genitore?</a:t>
            </a:r>
          </a:p>
          <a:p>
            <a:r>
              <a:rPr sz="1400" lang="it-IT"/>
              <a:t>Tempo: 2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lang="it-IT"/>
              <a:t>Cosa dire: Leggi i tre punti. Anticipa che alla fine farete un gioco di ruolo: una telefonata per finta.</a:t>
            </a:r>
          </a:p>
          <a:p>
            <a:r>
              <a:rPr sz="1400" lang="it-IT"/>
              <a:t>Domanda alla classe: Avete mai visto qualcuno chiamare i soccorsi?</a:t>
            </a:r>
          </a:p>
          <a:p>
            <a:r>
              <a:rPr sz="1400" lang="it-IT"/>
              <a:t>Tempo: 2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lang="it-IT"/>
              <a:t>Cosa dire: Leggi la storia e lascia rispondere. Poi racconta come finisce: Flavio e Silvia corrono dalla mamma di Flavio, che chiama subito il 112, e restano lontani dalla casa. Se fossero stati soli e il pericolo fosse stato vero, avrebbero potuto chiamare loro.</a:t>
            </a:r>
          </a:p>
          <a:p>
            <a:r>
              <a:rPr sz="1400" lang="it-IT"/>
              <a:t>Domanda alla classe: Che cosa NON devono fare Flavio e Silvia?</a:t>
            </a:r>
          </a:p>
          <a:p>
            <a:r>
              <a:rPr sz="1400" lang="it-IT"/>
              <a:t>Tempo: 4 minuti</a:t>
            </a:r>
          </a:p>
          <a:p>
            <a:r>
              <a:rPr sz="1400" lang="it-IT"/>
              <a:t>Attenzione: Risposta attesa: non avvicinarsi a guardare e non entrare nella casa. Se un bambino racconta un incendio vissuto, ascoltalo e sottolinea che cosa è andato bene: qualcuno ha chiamato i soccorsi.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lang="it-IT"/>
              <a:t>Cosa dire: Nel Lazio il 112, il Numero Unico Europeo di Emergenza, è l’unico numero da chiamare per qualsiasi emergenza: un incendio, una persona che sta male, un incidente. La chiamata arriva alla centrale del 112: l’operatore capisce di che aiuto c’è bisogno e avvisa chi serve, cioè Vigili del Fuoco, emergenza sanitaria, forze dell’ordine o squadre antincendio. Si chiama gratis, anche da un cellulare senza credito.</a:t>
            </a:r>
          </a:p>
          <a:p>
            <a:r>
              <a:rPr sz="1400" lang="it-IT"/>
              <a:t>Domanda alla classe: Perché secondo voi è meglio ricordare un numero solo invece di tanti?</a:t>
            </a:r>
          </a:p>
          <a:p>
            <a:r>
              <a:rPr sz="1400" lang="it-IT"/>
              <a:t>Tempo: 5 minuti</a:t>
            </a:r>
          </a:p>
          <a:p>
            <a:r>
              <a:rPr sz="1400" lang="it-IT"/>
              <a:t>Attenzione: Un numero solo si ricorda meglio, soprattutto quando si ha paura. Non presentare il 115 o il 118 come numeri da chiamare: nel Lazio il cittadino chiama sempre il 112.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lang="it-IT"/>
              <a:t>Cosa dire: Il 112 si chiama quando c’è un pericolo serio: un incendio, una persona che sta male, un incidente. Non si chiama per gioco: chi chiama per scherzo occupa la linea che serve a chi è in pericolo, e fare uno scherzo al 112 è un reato.</a:t>
            </a:r>
          </a:p>
          <a:p>
            <a:r>
              <a:rPr sz="1400" lang="it-IT"/>
              <a:t>Domanda alla classe: Vi viene in mente un’altra situazione in cui si chiama il 112?</a:t>
            </a:r>
          </a:p>
          <a:p>
            <a:r>
              <a:rPr sz="1400" lang="it-IT"/>
              <a:t>Tempo: 5 minuti</a:t>
            </a:r>
          </a:p>
          <a:p>
            <a:r>
              <a:rPr sz="1400" lang="it-IT"/>
              <a:t>Attenzione: Per le segnalazioni non urgenti di protezione civile esiste la Sala Operativa della Regione Lazio, 803 555: è un’informazione per gli adulti, ai bambini basta il 112.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lang="it-IT"/>
              <a:t>Cosa dire: Di’ chiaramente che il 112 lo può chiamare anche un bambino, quando il pericolo è vero e non c’è un adulto vicino. L’operatore parla con chi chiama, fa le domande che servono e lo guida.</a:t>
            </a:r>
          </a:p>
          <a:p>
            <a:r>
              <a:rPr sz="1400" lang="it-IT"/>
              <a:t>Domanda alla classe: Chi è l’adulto che potete avvisare a scuola? E a casa?</a:t>
            </a:r>
          </a:p>
          <a:p>
            <a:r>
              <a:rPr sz="1400" lang="it-IT"/>
              <a:t>Tempo: 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lang="it-IT"/>
              <a:t>Cosa dire: Queste sono le quattro cose della scheda che userete nel gioco: chi sei, dove sei, che cosa è successo, se ci sono feriti. L’operatore può chiederle in un ordine diverso, per esempio prima che cosa è successo e dove: non importa l’ordine, importa rispondere con calma, una cosa alla volta.</a:t>
            </a:r>
          </a:p>
          <a:p>
            <a:r>
              <a:rPr sz="1400" lang="it-IT"/>
              <a:t>Domanda alla classe: Quale delle quattro è più difficile da dire, secondo voi?</a:t>
            </a:r>
          </a:p>
          <a:p>
            <a:r>
              <a:rPr sz="1400" lang="it-IT"/>
              <a:t>Tempo: 6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lang="it-IT"/>
              <a:t>Cosa dire: Chi chiama deve dire dove si trova: via e numero civico, città. Se non conosce l’indirizzo, un punto di riferimento: una piazza, un edificio conosciuto. Dallo smartphone la posizione può arrivare da sola alla centrale, se la localizzazione è attiva, ma non sostituisce una buona descrizione del luogo.</a:t>
            </a:r>
          </a:p>
          <a:p>
            <a:r>
              <a:rPr sz="1400" lang="it-IT"/>
              <a:t>Domanda alla classe: Chi sa dire l’indirizzo della nostra scuola?</a:t>
            </a:r>
          </a:p>
          <a:p>
            <a:r>
              <a:rPr sz="1400" lang="it-IT"/>
              <a:t>Tempo: 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lang="it-IT"/>
              <a:t>Cosa dire: Durante la telefonata si parla lentamente e chiaramente e si risponde alle domande. Non si riattacca prima che l’operatore abbia tutte le informazioni: se ti dice di restare in linea, resti in linea. Se ci sono più persone, ne basta una al telefono; le altre aiutano, per esempio allontanando chi è in pericolo. Non si richiama più volte se la chiamata è già partita.</a:t>
            </a:r>
          </a:p>
          <a:p>
            <a:r>
              <a:rPr sz="1400" lang="it-IT"/>
              <a:t>Domanda alla classe: Perché secondo voi è importante non riattaccare?</a:t>
            </a:r>
          </a:p>
          <a:p>
            <a:r>
              <a:rPr sz="1400" lang="it-IT"/>
              <a:t>Tempo: 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lang="it-IT"/>
              <a:t>Cosa dire: Due idee sbagliate molto diffuse. Nel Lazio dal 2017 l’unico numero di emergenza per il cittadino è il 112: è la centrale a mandare vigili del fuoco, ambulanza o forze dell’ordine. Il nostro Gruppo non risponde alle chiamate dei cittadini: lo attivano il Sindaco, il Centro Operativo Comunale o la Sala Operativa regionale. Chiamare la sede del Gruppo in emergenza fa perdere tempo prezioso.</a:t>
            </a:r>
          </a:p>
          <a:p>
            <a:r>
              <a:rPr sz="1400" lang="it-IT"/>
              <a:t>Domanda alla classe: Se un albero cade sulla strada davanti a casa, chi chiamate?</a:t>
            </a:r>
          </a:p>
          <a:p>
            <a:r>
              <a:rPr sz="1400" lang="it-IT"/>
              <a:t>Tempo: 3 minuti</a:t>
            </a:r>
          </a:p>
          <a:p>
            <a:r>
              <a:rPr sz="1400" lang="it-IT"/>
              <a:t>Attenzione: Risposta: il 112, dicendo il punto esatto. Se poi arrivano i volontari, è perché li ha attivati il Comune o la Sala Operativa.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lang="it-IT"/>
              <a:t>Cosa dire: Distribuisci la scheda. Ogni coppia completa i due dialoghi (la nonna caduta in cucina, il fumo dalla finestra del vicino) e li recita: un bambino fa l’operatore, l’altro chi chiama; poi si scambiano i ruoli. Alla fine fai recitare due o tre coppie davanti alla classe. Per chi fa più fatica c’è la scheda «Il numero 112», più semplice.</a:t>
            </a:r>
          </a:p>
          <a:p>
            <a:r>
              <a:rPr sz="1400" lang="it-IT"/>
              <a:t>Domanda alla classe: Che cosa vi ha chiesto per prima cosa l’operatore?</a:t>
            </a:r>
          </a:p>
          <a:p>
            <a:r>
              <a:rPr sz="1400" lang="it-IT"/>
              <a:t>Tempo: 17 minuti</a:t>
            </a:r>
          </a:p>
          <a:p>
            <a:r>
              <a:rPr sz="1400" lang="it-IT"/>
              <a:t>Attenzione: Durante il gioco si usa un telefono finto o la mano: non si compone mai il 112 vero. La scheda nomina il 118 e il 115: sono i servizi a cui la centrale passa la chiamata, non numeri da comporre.</a:t>
            </a:r>
          </a:p>
          <a:p>
            <a:r>
              <a:rPr sz="1400" lang="it-IT"/>
              <a:t>Scheda da distribuire: https://www.protezionecivilegenzano.it/formazione/schede-stampabili/chiamo-112-primaria/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lang="it-IT"/>
              <a:t>Cosa dire: Fai ripetere insieme il numero e le quattro cose. Compito per casa: imparare a memoria l’indirizzo di casa e il numero di telefono di un genitore.</a:t>
            </a:r>
          </a:p>
          <a:p>
            <a:r>
              <a:rPr sz="1400" lang="it-IT"/>
              <a:t>Domanda alla classe: Chi sa ripetere le quattro cose senza guardare?</a:t>
            </a:r>
          </a:p>
          <a:p>
            <a:r>
              <a:rPr sz="1400" lang="it-IT"/>
              <a:t>Tempo: 4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lang="it-IT"/>
              <a:t>Cosa dire: Questa slide serve all’insegnante: elenca le pagine del sito da cui vengono i contenuti della lezione. Non serve leggerla alla classe.</a:t>
            </a:r>
          </a:p>
          <a:p>
            <a:r>
              <a:rPr sz="1400" lang="it-IT"/>
              <a:t>Tempo: 0 minuti (slide per l’insegnante, non conta nell’ora)</a:t>
            </a:r>
          </a:p>
          <a:p>
            <a:r>
              <a:rPr sz="1400" lang="it-IT"/>
              <a:t>Indirizzi completi:</a:t>
            </a:r>
          </a:p>
          <a:p>
            <a:r>
              <a:rPr sz="1400" lang="it-IT"/>
              <a:t>- Chiamare il 112: come fare bene una segnalazione: https://www.protezionecivilegenzano.it/comunicazioni/2026-10-08-segnalare-emergenze-112-come-fare/</a:t>
            </a:r>
          </a:p>
          <a:p>
            <a:r>
              <a:rPr sz="1400" lang="it-IT"/>
              <a:t>- Scheda «Chiamo il 112 — Primaria»: https://www.protezionecivilegenzano.it/formazione/schede-stampabili/chiamo-112-primaria/</a:t>
            </a:r>
          </a:p>
          <a:p>
            <a:r>
              <a:rPr sz="1400" lang="it-IT"/>
              <a:t>- Scheda «Il numero 112 — Primaria»: https://www.protezionecivilegenzano.it/formazione/schede-stampabili/il-numero-112-primaria/</a:t>
            </a:r>
          </a:p>
          <a:p>
            <a:r>
              <a:rPr sz="1400" lang="it-IT"/>
              <a:t>- Biblioteca delle idee sbagliate: il numero unico: https://www.protezionecivilegenzano.it/rischi-prevenzione/idee-sbagliate/#numero-unico</a:t>
            </a:r>
          </a:p>
          <a:p>
            <a:r>
              <a:rPr sz="1400" lang="it-IT"/>
              <a:t>- Biblioteca delle idee sbagliate: chiamare il Gruppo: https://www.protezionecivilegenzano.it/rischi-prevenzione/idee-sbagliate/#chiamare-gruppo</a:t>
            </a:r>
          </a:p>
          <a:p>
            <a:r>
              <a:rPr sz="1400" lang="it-IT"/>
              <a:t>- Rischio incendi boschivi: https://www.protezionecivilegenzano.it/rischi-prevenzione/rischio-incendio/</a:t>
            </a:r>
          </a:p>
          <a:p>
            <a:r>
              <a:rPr sz="1400" lang="it-IT"/>
              <a:t>- Percorsi didattici: Percorso 1: https://www.protezionecivilegenzano.it/formazione/percorsi-didattici/#percorso-1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lang="it-IT"/>
              <a:t>Cosa dire: Saluta e annuncia il prossimo incontro: i rischi del nostro territorio.</a:t>
            </a:r>
          </a:p>
          <a:p>
            <a:r>
              <a:rPr sz="1400" lang="it-IT"/>
              <a:t>Domanda alla classe: Avete una domanda sul 112?</a:t>
            </a:r>
          </a:p>
          <a:p>
            <a:r>
              <a:rPr sz="1400" lang="it-IT"/>
              <a:t>Tempo: 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50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50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50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50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50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50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50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50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7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7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7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50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50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9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50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hyperlink" Target="https://www.protezionecivilegenzano.it/formazione/schede-stampabili/chiamo-112-primaria/" TargetMode="External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8.png"/><Relationship Id="rId6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hyperlink" Target="https://www.protezionecivilegenzano.it/comunicazioni/2026-10-08-segnalare-emergenze-112-come-fare/" TargetMode="External"/><Relationship Id="rId4" Type="http://schemas.openxmlformats.org/officeDocument/2006/relationships/hyperlink" Target="https://www.protezionecivilegenzano.it/formazione/schede-stampabili/chiamo-112-primaria/" TargetMode="External"/><Relationship Id="rId5" Type="http://schemas.openxmlformats.org/officeDocument/2006/relationships/hyperlink" Target="https://www.protezionecivilegenzano.it/formazione/schede-stampabili/il-numero-112-primaria/" TargetMode="External"/><Relationship Id="rId6" Type="http://schemas.openxmlformats.org/officeDocument/2006/relationships/hyperlink" Target="https://www.protezionecivilegenzano.it/rischi-prevenzione/idee-sbagliate/#numero-unico" TargetMode="External"/><Relationship Id="rId7" Type="http://schemas.openxmlformats.org/officeDocument/2006/relationships/hyperlink" Target="https://www.protezionecivilegenzano.it/rischi-prevenzione/idee-sbagliate/#chiamare-gruppo" TargetMode="External"/><Relationship Id="rId8" Type="http://schemas.openxmlformats.org/officeDocument/2006/relationships/hyperlink" Target="https://www.protezionecivilegenzano.it/rischi-prevenzione/rischio-incendio/" TargetMode="External"/><Relationship Id="rId9" Type="http://schemas.openxmlformats.org/officeDocument/2006/relationships/hyperlink" Target="https://www.protezionecivilegenzano.it/formazione/percorsi-didattici/#percorso-1" TargetMode="External"/><Relationship Id="rId10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ennellata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471265"/>
            <a:ext cx="6113272" cy="2011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1325880"/>
            <a:ext cx="7223760" cy="2563977"/>
          </a:xfrm>
        </p:spPr>
        <p:txBody>
          <a:bodyPr wrap="square" anchor="b">
            <a:noAutofit/>
          </a:bodyPr>
          <a:lstStyle/>
          <a:p>
            <a:pPr algn="l">
              <a:lnSpc>
                <a:spcPct val="78000"/>
              </a:lnSpc>
            </a:pPr>
            <a:r>
              <a:rPr sz="6400" b="0" lang="it-IT">
                <a:solidFill>
                  <a:srgbClr val="003366"/>
                </a:solidFill>
                <a:latin typeface="Edu NSW ACT Cursive"/>
              </a:rPr>
              <a:t>Il 112, il numero</a:t>
            </a:r>
            <a:br/>
            <a:r>
              <a:rPr sz="6400" b="0" lang="it-IT">
                <a:solidFill>
                  <a:srgbClr val="003366"/>
                </a:solidFill>
                <a:latin typeface="Edu NSW ACT Cursive"/>
              </a:rPr>
              <a:t>delle emergenze</a:t>
            </a:r>
          </a:p>
        </p:txBody>
      </p:sp>
      <p:sp>
        <p:nvSpPr>
          <p:cNvPr id="3" name="Percorso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 anchor="t" lIns="73152" rIns="73152">
            <a:noAutofit/>
          </a:bodyPr>
          <a:lstStyle/>
          <a:p>
            <a:pPr algn="l">
              <a:spcAft>
                <a:spcPts val="200"/>
              </a:spcAft>
            </a:pPr>
            <a:r>
              <a:rPr sz="2400" b="1" lang="it-IT">
                <a:solidFill>
                  <a:srgbClr val="003366"/>
                </a:solidFill>
                <a:latin typeface="Arial"/>
              </a:rPr>
              <a:t>Percorso 1 · Protezione Civile di base</a:t>
            </a:r>
          </a:p>
          <a:p>
            <a:pPr algn="l">
              <a:spcAft>
                <a:spcPts val="0"/>
              </a:spcAft>
            </a:pPr>
            <a:r>
              <a:rPr sz="2400" b="0" lang="it-IT">
                <a:solidFill>
                  <a:srgbClr val="003366"/>
                </a:solidFill>
                <a:latin typeface="Arial"/>
              </a:rPr>
              <a:t>Primaria, classi III-V</a:t>
            </a:r>
          </a:p>
        </p:txBody>
      </p:sp>
      <p:sp>
        <p:nvSpPr>
          <p:cNvPr id="5" name="Lezione"/>
          <p:cNvSpPr/>
          <p:nvPr/>
        </p:nvSpPr>
        <p:spPr>
          <a:xfrm rot="21420000">
            <a:off x="685800" y="4301337"/>
            <a:ext cx="3684889" cy="822960"/>
          </a:xfrm>
          <a:prstGeom prst="rect">
            <a:avLst/>
          </a:prstGeom>
          <a:solidFill>
            <a:srgbClr val="FFF0A8"/>
          </a:solidFill>
          <a:ln>
            <a:noFill/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 wrap="none" lIns="109728" rIns="109728" tIns="36576" bIns="36576">
            <a:noAutofit/>
          </a:bodyPr>
          <a:lstStyle/>
          <a:p>
            <a:pPr algn="ctr"/>
            <a:r>
              <a:rPr sz="3400" b="0" lang="it-IT">
                <a:solidFill>
                  <a:srgbClr val="003366"/>
                </a:solidFill>
                <a:latin typeface="Edu NSW ACT Cursive"/>
              </a:rPr>
              <a:t>Lezione 2 di 4</a:t>
            </a:r>
          </a:p>
        </p:txBody>
      </p:sp>
      <p:sp>
        <p:nvSpPr>
          <p:cNvPr id="6" name="Durata"/>
          <p:cNvSpPr/>
          <p:nvPr/>
        </p:nvSpPr>
        <p:spPr>
          <a:xfrm rot="120000">
            <a:off x="4736449" y="4347057"/>
            <a:ext cx="1920240" cy="777240"/>
          </a:xfrm>
          <a:prstGeom prst="rect">
            <a:avLst/>
          </a:prstGeom>
          <a:solidFill>
            <a:srgbClr val="DCEEFA"/>
          </a:solidFill>
          <a:ln>
            <a:noFill/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 wrap="none" lIns="109728" rIns="109728" tIns="36576" bIns="36576">
            <a:noAutofit/>
          </a:bodyPr>
          <a:lstStyle/>
          <a:p>
            <a:pPr algn="ctr"/>
            <a:r>
              <a:rPr sz="3400" b="0" lang="it-IT">
                <a:solidFill>
                  <a:srgbClr val="003366"/>
                </a:solidFill>
                <a:latin typeface="Edu NSW ACT Cursive"/>
              </a:rPr>
              <a:t>Un’ora</a:t>
            </a:r>
          </a:p>
        </p:txBody>
      </p:sp>
      <p:pic>
        <p:nvPicPr>
          <p:cNvPr id="7" name="Logo del Gruppo" descr="Logo del Gruppo Comunale Volontari di Protezione Civile di Genzano di Rom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320040"/>
            <a:ext cx="1325880" cy="1325880"/>
          </a:xfrm>
          <a:prstGeom prst="rect">
            <a:avLst/>
          </a:prstGeom>
        </p:spPr>
      </p:pic>
      <p:sp>
        <p:nvSpPr>
          <p:cNvPr id="8" name="Cartoncin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20000">
            <a:off x="8275320" y="2057400"/>
            <a:ext cx="310896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ADB5BD"/>
            </a:solidFill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9" name="Pittogramma" descr="Pittogramma: un telefono cellulare con il numero 1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20000">
            <a:off x="8492947" y="2275027"/>
            <a:ext cx="2673705" cy="2673705"/>
          </a:xfrm>
          <a:prstGeom prst="rect">
            <a:avLst/>
          </a:prstGeom>
        </p:spPr>
      </p:pic>
      <p:sp>
        <p:nvSpPr>
          <p:cNvPr id="10" name="Firma"/>
          <p:cNvSpPr txBox="1"/>
          <p:nvPr/>
        </p:nvSpPr>
        <p:spPr>
          <a:xfrm>
            <a:off x="640080" y="5989320"/>
            <a:ext cx="10972800" cy="502920"/>
          </a:xfrm>
          <a:prstGeom prst="rect">
            <a:avLst/>
          </a:prstGeom>
          <a:noFill/>
        </p:spPr>
        <p:txBody>
          <a:bodyPr wrap="square" anchor="t" lIns="73152" r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0" lang="it-IT">
                <a:solidFill>
                  <a:srgbClr val="003366"/>
                </a:solidFill>
                <a:latin typeface="Arial"/>
              </a:rPr>
              <a:t>Gruppo Comunale Volontari di Protezione Civile · Genzano di Roma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ennellata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48080"/>
            <a:ext cx="4313618" cy="2011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228600"/>
            <a:ext cx="10972800" cy="1230630"/>
          </a:xfrm>
        </p:spPr>
        <p:txBody>
          <a:bodyPr wrap="square" anchor="b">
            <a:noAutofit/>
          </a:bodyPr>
          <a:lstStyle/>
          <a:p>
            <a:pPr algn="l"/>
            <a:r>
              <a:rPr sz="4600" b="0" lang="it-IT">
                <a:solidFill>
                  <a:srgbClr val="003366"/>
                </a:solidFill>
                <a:latin typeface="Edu NSW ACT Cursive"/>
              </a:rPr>
              <a:t>Oggi scopriamo</a:t>
            </a:r>
          </a:p>
        </p:txBody>
      </p:sp>
      <p:sp>
        <p:nvSpPr>
          <p:cNvPr id="4" name="Riquadr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600200"/>
            <a:ext cx="7818120" cy="4526280"/>
          </a:xfrm>
          <a:prstGeom prst="roundRect">
            <a:avLst>
              <a:gd name="adj" fmla="val 2424"/>
            </a:avLst>
          </a:prstGeom>
          <a:noFill/>
          <a:ln w="19050">
            <a:solidFill>
              <a:srgbClr val="003366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Numero"/>
          <p:cNvSpPr/>
          <p:nvPr/>
        </p:nvSpPr>
        <p:spPr>
          <a:xfrm>
            <a:off x="914400" y="2110740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3366"/>
            </a:solidFill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3400" b="0" lang="it-IT">
                <a:solidFill>
                  <a:srgbClr val="003366"/>
                </a:solidFill>
                <a:latin typeface="Edu NSW ACT Cursive"/>
              </a:rPr>
              <a:t>1</a:t>
            </a:r>
          </a:p>
        </p:txBody>
      </p:sp>
      <p:sp>
        <p:nvSpPr>
          <p:cNvPr id="6" name="Obiettivo 1"/>
          <p:cNvSpPr txBox="1"/>
          <p:nvPr/>
        </p:nvSpPr>
        <p:spPr>
          <a:xfrm>
            <a:off x="1874519" y="1783080"/>
            <a:ext cx="6355080" cy="1386840"/>
          </a:xfrm>
          <a:prstGeom prst="rect">
            <a:avLst/>
          </a:prstGeom>
          <a:noFill/>
        </p:spPr>
        <p:txBody>
          <a:bodyPr wrap="square" anchor="ctr" lIns="73152" r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0" lang="it-IT">
                <a:solidFill>
                  <a:srgbClr val="212529"/>
                </a:solidFill>
                <a:latin typeface="Arial"/>
              </a:rPr>
              <a:t>Quando si chiama il 112.</a:t>
            </a:r>
          </a:p>
        </p:txBody>
      </p:sp>
      <p:sp>
        <p:nvSpPr>
          <p:cNvPr id="7" name="Numero"/>
          <p:cNvSpPr/>
          <p:nvPr/>
        </p:nvSpPr>
        <p:spPr>
          <a:xfrm>
            <a:off x="914400" y="3497580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3366"/>
            </a:solidFill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3400" b="0" lang="it-IT">
                <a:solidFill>
                  <a:srgbClr val="003366"/>
                </a:solidFill>
                <a:latin typeface="Edu NSW ACT Cursive"/>
              </a:rPr>
              <a:t>2</a:t>
            </a:r>
          </a:p>
        </p:txBody>
      </p:sp>
      <p:sp>
        <p:nvSpPr>
          <p:cNvPr id="8" name="Obiettivo 2"/>
          <p:cNvSpPr txBox="1"/>
          <p:nvPr/>
        </p:nvSpPr>
        <p:spPr>
          <a:xfrm>
            <a:off x="1874519" y="3169920"/>
            <a:ext cx="6355080" cy="1386840"/>
          </a:xfrm>
          <a:prstGeom prst="rect">
            <a:avLst/>
          </a:prstGeom>
          <a:noFill/>
        </p:spPr>
        <p:txBody>
          <a:bodyPr wrap="square" anchor="ctr" lIns="73152" r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0" lang="it-IT">
                <a:solidFill>
                  <a:srgbClr val="212529"/>
                </a:solidFill>
                <a:latin typeface="Arial"/>
              </a:rPr>
              <a:t>Che cosa si dice all’operatore.</a:t>
            </a:r>
          </a:p>
        </p:txBody>
      </p:sp>
      <p:sp>
        <p:nvSpPr>
          <p:cNvPr id="9" name="Numero"/>
          <p:cNvSpPr/>
          <p:nvPr/>
        </p:nvSpPr>
        <p:spPr>
          <a:xfrm>
            <a:off x="914400" y="4884420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3366"/>
            </a:solidFill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3400" b="0" lang="it-IT">
                <a:solidFill>
                  <a:srgbClr val="003366"/>
                </a:solidFill>
                <a:latin typeface="Edu NSW ACT Cursive"/>
              </a:rPr>
              <a:t>3</a:t>
            </a:r>
          </a:p>
        </p:txBody>
      </p:sp>
      <p:sp>
        <p:nvSpPr>
          <p:cNvPr id="10" name="Obiettivo 3"/>
          <p:cNvSpPr txBox="1"/>
          <p:nvPr/>
        </p:nvSpPr>
        <p:spPr>
          <a:xfrm>
            <a:off x="1874519" y="4556760"/>
            <a:ext cx="6355080" cy="1386840"/>
          </a:xfrm>
          <a:prstGeom prst="rect">
            <a:avLst/>
          </a:prstGeom>
          <a:noFill/>
        </p:spPr>
        <p:txBody>
          <a:bodyPr wrap="square" anchor="ctr" lIns="73152" r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0" lang="it-IT">
                <a:solidFill>
                  <a:srgbClr val="212529"/>
                </a:solidFill>
                <a:latin typeface="Arial"/>
              </a:rPr>
              <a:t>Come ci si allena, con un gioco.</a:t>
            </a:r>
          </a:p>
        </p:txBody>
      </p:sp>
      <p:sp>
        <p:nvSpPr>
          <p:cNvPr id="11" name="Cartoncin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20000">
            <a:off x="8915400" y="2011680"/>
            <a:ext cx="265176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ADB5BD"/>
            </a:solidFill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12" name="Pittogramma" descr="Pittogramma: una mano compone un numero sul telefon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20000">
            <a:off x="9101023" y="2197303"/>
            <a:ext cx="2280513" cy="22805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ennellata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48080"/>
            <a:ext cx="6197079" cy="2011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228600"/>
            <a:ext cx="10972800" cy="1230630"/>
          </a:xfrm>
        </p:spPr>
        <p:txBody>
          <a:bodyPr wrap="square" anchor="b">
            <a:noAutofit/>
          </a:bodyPr>
          <a:lstStyle/>
          <a:p>
            <a:pPr algn="l"/>
            <a:r>
              <a:rPr sz="4600" b="0" lang="it-IT">
                <a:solidFill>
                  <a:srgbClr val="003366"/>
                </a:solidFill>
                <a:latin typeface="Edu NSW ACT Cursive"/>
              </a:rPr>
              <a:t>Flavio, Silvia e il fumo</a:t>
            </a:r>
          </a:p>
        </p:txBody>
      </p:sp>
      <p:sp>
        <p:nvSpPr>
          <p:cNvPr id="4" name="Cartoncin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21480000">
            <a:off x="777240" y="1783080"/>
            <a:ext cx="260604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ADB5BD"/>
            </a:solidFill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5" name="Pittogramma" descr="Pittogramma: una bambin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80000">
            <a:off x="959662" y="1965502"/>
            <a:ext cx="2241194" cy="2241194"/>
          </a:xfrm>
          <a:prstGeom prst="rect">
            <a:avLst/>
          </a:prstGeom>
        </p:spPr>
      </p:pic>
      <p:sp>
        <p:nvSpPr>
          <p:cNvPr id="6" name="Nome"/>
          <p:cNvSpPr/>
          <p:nvPr/>
        </p:nvSpPr>
        <p:spPr>
          <a:xfrm rot="120000">
            <a:off x="1051560" y="4617720"/>
            <a:ext cx="2103120" cy="713232"/>
          </a:xfrm>
          <a:prstGeom prst="rect">
            <a:avLst/>
          </a:prstGeom>
          <a:solidFill>
            <a:srgbClr val="DCEEFA"/>
          </a:solidFill>
          <a:ln>
            <a:noFill/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 wrap="none" lIns="109728" rIns="109728" tIns="36576" bIns="36576">
            <a:noAutofit/>
          </a:bodyPr>
          <a:lstStyle/>
          <a:p>
            <a:pPr algn="ctr"/>
            <a:r>
              <a:rPr sz="3200" b="0" lang="it-IT">
                <a:solidFill>
                  <a:srgbClr val="003366"/>
                </a:solidFill>
                <a:latin typeface="Edu NSW ACT Cursive"/>
              </a:rPr>
              <a:t>Silvia</a:t>
            </a:r>
          </a:p>
        </p:txBody>
      </p:sp>
      <p:sp>
        <p:nvSpPr>
          <p:cNvPr id="7" name="Foglietto della stori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21540000">
            <a:off x="3794760" y="1645920"/>
            <a:ext cx="7726679" cy="3154680"/>
          </a:xfrm>
          <a:prstGeom prst="rect">
            <a:avLst/>
          </a:prstGeom>
          <a:solidFill>
            <a:srgbClr val="FFF0A8"/>
          </a:solidFill>
          <a:ln>
            <a:noFill/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8" name="Storia"/>
          <p:cNvSpPr txBox="1"/>
          <p:nvPr/>
        </p:nvSpPr>
        <p:spPr>
          <a:xfrm>
            <a:off x="4069080" y="1783080"/>
            <a:ext cx="7223760" cy="2880360"/>
          </a:xfrm>
          <a:prstGeom prst="rect">
            <a:avLst/>
          </a:prstGeom>
          <a:noFill/>
        </p:spPr>
        <p:txBody>
          <a:bodyPr wrap="square" anchor="ctr" lIns="73152" rIns="73152">
            <a:noAutofit/>
          </a:bodyPr>
          <a:lstStyle/>
          <a:p>
            <a:pPr algn="l">
              <a:spcAft>
                <a:spcPts val="1200"/>
              </a:spcAft>
            </a:pPr>
            <a:r>
              <a:rPr sz="2800" b="0" lang="it-IT">
                <a:solidFill>
                  <a:srgbClr val="212529"/>
                </a:solidFill>
                <a:latin typeface="Arial"/>
              </a:rPr>
              <a:t>Flavio e Silvia giocano in giardino.</a:t>
            </a:r>
          </a:p>
          <a:p>
            <a:pPr algn="l">
              <a:spcAft>
                <a:spcPts val="1200"/>
              </a:spcAft>
            </a:pPr>
            <a:r>
              <a:rPr sz="2800" b="0" lang="it-IT">
                <a:solidFill>
                  <a:srgbClr val="212529"/>
                </a:solidFill>
                <a:latin typeface="Arial"/>
              </a:rPr>
              <a:t>Dalla finestra della casa di fronte esce fumo nero.</a:t>
            </a:r>
          </a:p>
          <a:p>
            <a:pPr algn="l">
              <a:spcAft>
                <a:spcPts val="0"/>
              </a:spcAft>
            </a:pPr>
            <a:r>
              <a:rPr sz="2800" b="0" lang="it-IT">
                <a:solidFill>
                  <a:srgbClr val="212529"/>
                </a:solidFill>
                <a:latin typeface="Arial"/>
              </a:rPr>
              <a:t>Silvia dice: «Bisogna chiamare qualcuno. Ma chi?»</a:t>
            </a:r>
          </a:p>
        </p:txBody>
      </p:sp>
      <p:sp>
        <p:nvSpPr>
          <p:cNvPr id="9" name="Riquadr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94760" y="5120640"/>
            <a:ext cx="7726679" cy="1188720"/>
          </a:xfrm>
          <a:prstGeom prst="roundRect">
            <a:avLst>
              <a:gd name="adj" fmla="val 9230"/>
            </a:avLst>
          </a:prstGeom>
          <a:noFill/>
          <a:ln w="19050">
            <a:solidFill>
              <a:srgbClr val="003366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Icona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0" y="5349240"/>
            <a:ext cx="731520" cy="731520"/>
          </a:xfrm>
          <a:prstGeom prst="rect">
            <a:avLst/>
          </a:prstGeom>
        </p:spPr>
      </p:pic>
      <p:sp>
        <p:nvSpPr>
          <p:cNvPr id="11" name="Domanda"/>
          <p:cNvSpPr txBox="1"/>
          <p:nvPr/>
        </p:nvSpPr>
        <p:spPr>
          <a:xfrm>
            <a:off x="4846320" y="5166360"/>
            <a:ext cx="6583680" cy="1097280"/>
          </a:xfrm>
          <a:prstGeom prst="rect">
            <a:avLst/>
          </a:prstGeom>
          <a:noFill/>
        </p:spPr>
        <p:txBody>
          <a:bodyPr wrap="square" anchor="ctr" lIns="73152" r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lang="it-IT">
                <a:solidFill>
                  <a:srgbClr val="003366"/>
                </a:solidFill>
                <a:latin typeface="Arial"/>
              </a:rPr>
              <a:t>Voi che cosa fareste?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ennellata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48080"/>
            <a:ext cx="9057322" cy="2011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228600"/>
            <a:ext cx="10972800" cy="1230630"/>
          </a:xfrm>
        </p:spPr>
        <p:txBody>
          <a:bodyPr wrap="square" anchor="b">
            <a:noAutofit/>
          </a:bodyPr>
          <a:lstStyle/>
          <a:p>
            <a:pPr algn="l"/>
            <a:r>
              <a:rPr sz="4600" b="0" lang="it-IT">
                <a:solidFill>
                  <a:srgbClr val="003366"/>
                </a:solidFill>
                <a:latin typeface="Edu NSW ACT Cursive"/>
              </a:rPr>
              <a:t>Un solo numero per le emergenze</a:t>
            </a:r>
          </a:p>
        </p:txBody>
      </p:sp>
      <p:sp>
        <p:nvSpPr>
          <p:cNvPr id="4" name="Numero grande"/>
          <p:cNvSpPr/>
          <p:nvPr/>
        </p:nvSpPr>
        <p:spPr>
          <a:xfrm>
            <a:off x="868680" y="1783080"/>
            <a:ext cx="3154680" cy="3154680"/>
          </a:xfrm>
          <a:prstGeom prst="ellipse">
            <a:avLst/>
          </a:prstGeom>
          <a:solidFill>
            <a:srgbClr val="FFF0A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3200" b="0" lang="it-IT">
                <a:solidFill>
                  <a:srgbClr val="003366"/>
                </a:solidFill>
                <a:latin typeface="Edu NSW ACT Cursive"/>
              </a:rPr>
              <a:t>112</a:t>
            </a:r>
          </a:p>
        </p:txBody>
      </p:sp>
      <p:sp>
        <p:nvSpPr>
          <p:cNvPr id="5" name="Testo"/>
          <p:cNvSpPr txBox="1"/>
          <p:nvPr/>
        </p:nvSpPr>
        <p:spPr>
          <a:xfrm>
            <a:off x="4434840" y="1691640"/>
            <a:ext cx="7132320" cy="2788920"/>
          </a:xfrm>
          <a:prstGeom prst="rect">
            <a:avLst/>
          </a:prstGeom>
          <a:noFill/>
        </p:spPr>
        <p:txBody>
          <a:bodyPr wrap="square" anchor="ctr" lIns="73152" rIns="73152">
            <a:noAutofit/>
          </a:bodyPr>
          <a:lstStyle/>
          <a:p>
            <a:pPr algn="l" marL="384048" indent="-384048">
              <a:spcAft>
                <a:spcPts val="1200"/>
              </a:spcAft>
              <a:buClr>
                <a:srgbClr val="003366"/>
              </a:buClr>
              <a:buFont typeface="Arial"/>
              <a:buChar char="•"/>
            </a:pPr>
            <a:r>
              <a:rPr sz="2700" b="0" lang="it-IT">
                <a:solidFill>
                  <a:srgbClr val="212529"/>
                </a:solidFill>
                <a:latin typeface="Arial"/>
              </a:rPr>
              <a:t>Nel Lazio è </a:t>
            </a:r>
            <a:r>
              <a:rPr sz="2700" b="0" lang="it-IT">
                <a:solidFill>
                  <a:srgbClr val="212529"/>
                </a:solidFill>
                <a:highlight>
                  <a:srgbClr val="FFF0A8"/>
                </a:highlight>
                <a:latin typeface="Arial"/>
              </a:rPr>
              <a:t>l’unico numero</a:t>
            </a:r>
            <a:r>
              <a:rPr sz="2700" b="0" lang="it-IT">
                <a:solidFill>
                  <a:srgbClr val="212529"/>
                </a:solidFill>
                <a:latin typeface="Arial"/>
              </a:rPr>
              <a:t> per ogni emergenza.</a:t>
            </a:r>
          </a:p>
          <a:p>
            <a:pPr algn="l" marL="384048" indent="-384048">
              <a:spcAft>
                <a:spcPts val="1200"/>
              </a:spcAft>
              <a:buClr>
                <a:srgbClr val="003366"/>
              </a:buClr>
              <a:buFont typeface="Arial"/>
              <a:buChar char="•"/>
            </a:pPr>
            <a:r>
              <a:rPr sz="2700" b="0" lang="it-IT">
                <a:solidFill>
                  <a:srgbClr val="212529"/>
                </a:solidFill>
                <a:latin typeface="Arial"/>
              </a:rPr>
              <a:t>Risponde un operatore: una persona vera.</a:t>
            </a:r>
          </a:p>
          <a:p>
            <a:pPr algn="l" marL="384048" indent="-384048">
              <a:spcAft>
                <a:spcPts val="1200"/>
              </a:spcAft>
              <a:buClr>
                <a:srgbClr val="003366"/>
              </a:buClr>
              <a:buFont typeface="Arial"/>
              <a:buChar char="•"/>
            </a:pPr>
            <a:r>
              <a:rPr sz="2700" b="0" lang="it-IT">
                <a:solidFill>
                  <a:srgbClr val="212529"/>
                </a:solidFill>
                <a:latin typeface="Arial"/>
              </a:rPr>
              <a:t>Manda i soccorsi giusti.</a:t>
            </a:r>
          </a:p>
          <a:p>
            <a:pPr algn="l" marL="384048" indent="-384048">
              <a:spcAft>
                <a:spcPts val="0"/>
              </a:spcAft>
              <a:buClr>
                <a:srgbClr val="003366"/>
              </a:buClr>
              <a:buFont typeface="Arial"/>
              <a:buChar char="•"/>
            </a:pPr>
            <a:r>
              <a:rPr sz="2700" b="0" lang="it-IT">
                <a:solidFill>
                  <a:srgbClr val="212529"/>
                </a:solidFill>
                <a:latin typeface="Arial"/>
              </a:rPr>
              <a:t>È </a:t>
            </a:r>
            <a:r>
              <a:rPr sz="2700" b="0" lang="it-IT">
                <a:solidFill>
                  <a:srgbClr val="212529"/>
                </a:solidFill>
                <a:highlight>
                  <a:srgbClr val="DCEEFA"/>
                </a:highlight>
                <a:latin typeface="Arial"/>
              </a:rPr>
              <a:t>gratis</a:t>
            </a:r>
            <a:r>
              <a:rPr sz="2700" b="0" lang="it-IT">
                <a:solidFill>
                  <a:srgbClr val="212529"/>
                </a:solidFill>
                <a:latin typeface="Arial"/>
              </a:rPr>
              <a:t>, anche senza credito.</a:t>
            </a:r>
          </a:p>
        </p:txBody>
      </p:sp>
      <p:sp>
        <p:nvSpPr>
          <p:cNvPr id="6" name="Cartoncin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21480000">
            <a:off x="5093208" y="4526280"/>
            <a:ext cx="10515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ADB5BD"/>
            </a:solidFill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7" name="Pittogramma" descr="Pittogramma: un vigile del fuoc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80000">
            <a:off x="5166817" y="4599889"/>
            <a:ext cx="904341" cy="904341"/>
          </a:xfrm>
          <a:prstGeom prst="rect">
            <a:avLst/>
          </a:prstGeom>
        </p:spPr>
      </p:pic>
      <p:sp>
        <p:nvSpPr>
          <p:cNvPr id="8" name="Soccorso"/>
          <p:cNvSpPr txBox="1"/>
          <p:nvPr/>
        </p:nvSpPr>
        <p:spPr>
          <a:xfrm>
            <a:off x="4434840" y="5641848"/>
            <a:ext cx="2377440" cy="1051560"/>
          </a:xfrm>
          <a:prstGeom prst="rect">
            <a:avLst/>
          </a:prstGeom>
          <a:noFill/>
        </p:spPr>
        <p:txBody>
          <a:bodyPr wrap="square" anchor="t" lIns="73152" rIns="73152">
            <a:noAutofit/>
          </a:bodyPr>
          <a:lstStyle/>
          <a:p>
            <a:pPr algn="ctr">
              <a:spcAft>
                <a:spcPts val="0"/>
              </a:spcAft>
            </a:pPr>
            <a:r>
              <a:rPr sz="2400" b="1" lang="it-IT">
                <a:solidFill>
                  <a:srgbClr val="003366"/>
                </a:solidFill>
                <a:latin typeface="Arial"/>
              </a:rPr>
              <a:t>Vigili del Fuoco</a:t>
            </a:r>
          </a:p>
        </p:txBody>
      </p:sp>
      <p:sp>
        <p:nvSpPr>
          <p:cNvPr id="9" name="Cartoncin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20000">
            <a:off x="7470648" y="4526280"/>
            <a:ext cx="10515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ADB5BD"/>
            </a:solidFill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10" name="Pittogramma" descr="Pittogramma: un’ambulanz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20000">
            <a:off x="7544257" y="4599889"/>
            <a:ext cx="904341" cy="904341"/>
          </a:xfrm>
          <a:prstGeom prst="rect">
            <a:avLst/>
          </a:prstGeom>
        </p:spPr>
      </p:pic>
      <p:sp>
        <p:nvSpPr>
          <p:cNvPr id="11" name="Soccorso"/>
          <p:cNvSpPr txBox="1"/>
          <p:nvPr/>
        </p:nvSpPr>
        <p:spPr>
          <a:xfrm>
            <a:off x="6812280" y="5641848"/>
            <a:ext cx="2377440" cy="1051560"/>
          </a:xfrm>
          <a:prstGeom prst="rect">
            <a:avLst/>
          </a:prstGeom>
          <a:noFill/>
        </p:spPr>
        <p:txBody>
          <a:bodyPr wrap="square" anchor="t" lIns="73152" rIns="73152">
            <a:noAutofit/>
          </a:bodyPr>
          <a:lstStyle/>
          <a:p>
            <a:pPr algn="ctr">
              <a:spcAft>
                <a:spcPts val="0"/>
              </a:spcAft>
            </a:pPr>
            <a:r>
              <a:rPr sz="2400" b="1" lang="it-IT">
                <a:solidFill>
                  <a:srgbClr val="003366"/>
                </a:solidFill>
                <a:latin typeface="Arial"/>
              </a:rPr>
              <a:t>Ambulanza</a:t>
            </a:r>
          </a:p>
        </p:txBody>
      </p:sp>
      <p:sp>
        <p:nvSpPr>
          <p:cNvPr id="12" name="Cartoncin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21540000">
            <a:off x="9848088" y="4526280"/>
            <a:ext cx="10515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ADB5BD"/>
            </a:solidFill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13" name="Pittogramma" descr="Pittogramma: un poliziott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540000">
            <a:off x="9921697" y="4599889"/>
            <a:ext cx="904341" cy="904341"/>
          </a:xfrm>
          <a:prstGeom prst="rect">
            <a:avLst/>
          </a:prstGeom>
        </p:spPr>
      </p:pic>
      <p:sp>
        <p:nvSpPr>
          <p:cNvPr id="14" name="Soccorso"/>
          <p:cNvSpPr txBox="1"/>
          <p:nvPr/>
        </p:nvSpPr>
        <p:spPr>
          <a:xfrm>
            <a:off x="9189720" y="5641848"/>
            <a:ext cx="2377440" cy="1051560"/>
          </a:xfrm>
          <a:prstGeom prst="rect">
            <a:avLst/>
          </a:prstGeom>
          <a:noFill/>
        </p:spPr>
        <p:txBody>
          <a:bodyPr wrap="square" anchor="t" lIns="73152" rIns="73152">
            <a:noAutofit/>
          </a:bodyPr>
          <a:lstStyle/>
          <a:p>
            <a:pPr algn="ctr">
              <a:spcAft>
                <a:spcPts val="0"/>
              </a:spcAft>
            </a:pPr>
            <a:r>
              <a:rPr sz="2400" b="1" lang="it-IT">
                <a:solidFill>
                  <a:srgbClr val="003366"/>
                </a:solidFill>
                <a:latin typeface="Arial"/>
              </a:rPr>
              <a:t>Forze dell’ordine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ennellata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48080"/>
            <a:ext cx="6925576" cy="2011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228600"/>
            <a:ext cx="10972800" cy="1230630"/>
          </a:xfrm>
        </p:spPr>
        <p:txBody>
          <a:bodyPr wrap="square" anchor="b">
            <a:noAutofit/>
          </a:bodyPr>
          <a:lstStyle/>
          <a:p>
            <a:pPr algn="l"/>
            <a:r>
              <a:rPr sz="4600" b="0" lang="it-IT">
                <a:solidFill>
                  <a:srgbClr val="003366"/>
                </a:solidFill>
                <a:latin typeface="Edu NSW ACT Cursive"/>
              </a:rPr>
              <a:t>Quando si chiama il 112?</a:t>
            </a:r>
          </a:p>
        </p:txBody>
      </p:sp>
      <p:sp>
        <p:nvSpPr>
          <p:cNvPr id="4" name="Riquadr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029968"/>
            <a:ext cx="6446520" cy="4297680"/>
          </a:xfrm>
          <a:prstGeom prst="roundRect">
            <a:avLst>
              <a:gd name="adj" fmla="val 2553"/>
            </a:avLst>
          </a:prstGeom>
          <a:solidFill>
            <a:srgbClr val="EDF7F0"/>
          </a:solidFill>
          <a:ln w="22225">
            <a:solidFill>
              <a:srgbClr val="146C43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Linguetta"/>
          <p:cNvSpPr/>
          <p:nvPr/>
        </p:nvSpPr>
        <p:spPr>
          <a:xfrm>
            <a:off x="868680" y="1481328"/>
            <a:ext cx="3416312" cy="629920"/>
          </a:xfrm>
          <a:prstGeom prst="round2SameRect">
            <a:avLst>
              <a:gd name="adj1" fmla="val 28000"/>
              <a:gd name="adj2" fmla="val 0"/>
            </a:avLst>
          </a:prstGeom>
          <a:solidFill>
            <a:srgbClr val="EDF7F0"/>
          </a:solidFill>
          <a:ln w="15875">
            <a:solidFill>
              <a:srgbClr val="146C43"/>
            </a:solidFill>
          </a:ln>
        </p:spPr>
        <p:txBody>
          <a:bodyPr rtlCol="0" anchor="ctr" wrap="none" lIns="685800" rIns="685800" tIns="0" bIns="0">
            <a:noAutofit/>
          </a:bodyPr>
          <a:lstStyle/>
          <a:p>
            <a:pPr algn="l"/>
            <a:r>
              <a:rPr sz="3200" b="0" lang="it-IT">
                <a:solidFill>
                  <a:srgbClr val="003366"/>
                </a:solidFill>
                <a:latin typeface="Edu NSW ACT Cursive"/>
              </a:rPr>
              <a:t>Sì, chiama</a:t>
            </a:r>
          </a:p>
        </p:txBody>
      </p:sp>
      <p:pic>
        <p:nvPicPr>
          <p:cNvPr id="6" name="Icona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39" y="1576832"/>
            <a:ext cx="438912" cy="438912"/>
          </a:xfrm>
          <a:prstGeom prst="rect">
            <a:avLst/>
          </a:prstGeom>
        </p:spPr>
      </p:pic>
      <p:sp>
        <p:nvSpPr>
          <p:cNvPr id="7" name="Testo"/>
          <p:cNvSpPr txBox="1"/>
          <p:nvPr/>
        </p:nvSpPr>
        <p:spPr>
          <a:xfrm>
            <a:off x="868680" y="2240280"/>
            <a:ext cx="6035040" cy="3931920"/>
          </a:xfrm>
          <a:prstGeom prst="rect">
            <a:avLst/>
          </a:prstGeom>
          <a:noFill/>
        </p:spPr>
        <p:txBody>
          <a:bodyPr wrap="square" anchor="t" lIns="73152" rIns="73152">
            <a:noAutofit/>
          </a:bodyPr>
          <a:lstStyle/>
          <a:p>
            <a:pPr algn="l" marL="384048" indent="-384048">
              <a:spcAft>
                <a:spcPts val="1200"/>
              </a:spcAft>
              <a:buClr>
                <a:srgbClr val="003366"/>
              </a:buClr>
              <a:buFont typeface="Arial"/>
              <a:buChar char="•"/>
            </a:pPr>
            <a:r>
              <a:rPr sz="2700" b="0" lang="it-IT">
                <a:solidFill>
                  <a:srgbClr val="212529"/>
                </a:solidFill>
                <a:latin typeface="Arial"/>
              </a:rPr>
              <a:t>Vedi fiamme o fumo che esce da una casa.</a:t>
            </a:r>
          </a:p>
          <a:p>
            <a:pPr algn="l" marL="384048" indent="-384048">
              <a:spcAft>
                <a:spcPts val="1200"/>
              </a:spcAft>
              <a:buClr>
                <a:srgbClr val="003366"/>
              </a:buClr>
              <a:buFont typeface="Arial"/>
              <a:buChar char="•"/>
            </a:pPr>
            <a:r>
              <a:rPr sz="2700" b="0" lang="it-IT">
                <a:solidFill>
                  <a:srgbClr val="212529"/>
                </a:solidFill>
                <a:latin typeface="Arial"/>
              </a:rPr>
              <a:t>Una persona sta male o è caduta e non si alza.</a:t>
            </a:r>
          </a:p>
          <a:p>
            <a:pPr algn="l" marL="384048" indent="-384048">
              <a:spcAft>
                <a:spcPts val="0"/>
              </a:spcAft>
              <a:buClr>
                <a:srgbClr val="003366"/>
              </a:buClr>
              <a:buFont typeface="Arial"/>
              <a:buChar char="•"/>
            </a:pPr>
            <a:r>
              <a:rPr sz="2700" b="0" lang="it-IT">
                <a:solidFill>
                  <a:srgbClr val="212529"/>
                </a:solidFill>
                <a:latin typeface="Arial"/>
              </a:rPr>
              <a:t>C’è un incidente.</a:t>
            </a:r>
          </a:p>
        </p:txBody>
      </p:sp>
      <p:sp>
        <p:nvSpPr>
          <p:cNvPr id="8" name="Riquadr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52360" y="2029968"/>
            <a:ext cx="4160520" cy="4297680"/>
          </a:xfrm>
          <a:prstGeom prst="roundRect">
            <a:avLst>
              <a:gd name="adj" fmla="val 2637"/>
            </a:avLst>
          </a:prstGeom>
          <a:solidFill>
            <a:srgbClr val="F8DFE5"/>
          </a:solidFill>
          <a:ln w="22225">
            <a:solidFill>
              <a:srgbClr val="B02A37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inguetta"/>
          <p:cNvSpPr/>
          <p:nvPr/>
        </p:nvSpPr>
        <p:spPr>
          <a:xfrm>
            <a:off x="7680960" y="1481328"/>
            <a:ext cx="1840520" cy="629920"/>
          </a:xfrm>
          <a:prstGeom prst="round2SameRect">
            <a:avLst>
              <a:gd name="adj1" fmla="val 28000"/>
              <a:gd name="adj2" fmla="val 0"/>
            </a:avLst>
          </a:prstGeom>
          <a:solidFill>
            <a:srgbClr val="F8DFE5"/>
          </a:solidFill>
          <a:ln w="15875">
            <a:solidFill>
              <a:srgbClr val="B02A37"/>
            </a:solidFill>
          </a:ln>
        </p:spPr>
        <p:txBody>
          <a:bodyPr rtlCol="0" anchor="ctr" wrap="none" lIns="685800" rIns="685800" tIns="0" bIns="0">
            <a:noAutofit/>
          </a:bodyPr>
          <a:lstStyle/>
          <a:p>
            <a:pPr algn="l"/>
            <a:r>
              <a:rPr sz="3200" b="0" lang="it-IT">
                <a:solidFill>
                  <a:srgbClr val="003366"/>
                </a:solidFill>
                <a:latin typeface="Edu NSW ACT Cursive"/>
              </a:rPr>
              <a:t>No</a:t>
            </a:r>
          </a:p>
        </p:txBody>
      </p:sp>
      <p:pic>
        <p:nvPicPr>
          <p:cNvPr id="10" name="Icona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1576832"/>
            <a:ext cx="438912" cy="438912"/>
          </a:xfrm>
          <a:prstGeom prst="rect">
            <a:avLst/>
          </a:prstGeom>
        </p:spPr>
      </p:pic>
      <p:sp>
        <p:nvSpPr>
          <p:cNvPr id="11" name="Testo"/>
          <p:cNvSpPr txBox="1"/>
          <p:nvPr/>
        </p:nvSpPr>
        <p:spPr>
          <a:xfrm>
            <a:off x="7680960" y="2240280"/>
            <a:ext cx="3749039" cy="3931920"/>
          </a:xfrm>
          <a:prstGeom prst="rect">
            <a:avLst/>
          </a:prstGeom>
          <a:noFill/>
        </p:spPr>
        <p:txBody>
          <a:bodyPr wrap="square" anchor="t" lIns="73152" rIns="73152">
            <a:noAutofit/>
          </a:bodyPr>
          <a:lstStyle/>
          <a:p>
            <a:pPr algn="l" marL="384048" indent="-384048">
              <a:spcAft>
                <a:spcPts val="1200"/>
              </a:spcAft>
              <a:buClr>
                <a:srgbClr val="003366"/>
              </a:buClr>
              <a:buFont typeface="Arial"/>
              <a:buChar char="•"/>
            </a:pPr>
            <a:r>
              <a:rPr sz="2700" b="0" lang="it-IT">
                <a:solidFill>
                  <a:srgbClr val="212529"/>
                </a:solidFill>
                <a:latin typeface="Arial"/>
              </a:rPr>
              <a:t>Per scherzo o per gioco.</a:t>
            </a:r>
          </a:p>
          <a:p>
            <a:pPr algn="l" marL="384048" indent="-384048">
              <a:spcAft>
                <a:spcPts val="0"/>
              </a:spcAft>
              <a:buClr>
                <a:srgbClr val="003366"/>
              </a:buClr>
              <a:buFont typeface="Arial"/>
              <a:buChar char="•"/>
            </a:pPr>
            <a:r>
              <a:rPr sz="2700" b="0" lang="it-IT">
                <a:solidFill>
                  <a:srgbClr val="212529"/>
                </a:solidFill>
                <a:latin typeface="Arial"/>
              </a:rPr>
              <a:t>Per cose che non sono emergenze, come la merenda dimenticata.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ennellata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48080"/>
            <a:ext cx="9230245" cy="2011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228600"/>
            <a:ext cx="10972800" cy="1230630"/>
          </a:xfrm>
        </p:spPr>
        <p:txBody>
          <a:bodyPr wrap="square" anchor="b">
            <a:noAutofit/>
          </a:bodyPr>
          <a:lstStyle/>
          <a:p>
            <a:pPr algn="l"/>
            <a:r>
              <a:rPr sz="4600" b="0" lang="it-IT">
                <a:solidFill>
                  <a:srgbClr val="003366"/>
                </a:solidFill>
                <a:latin typeface="Edu NSW ACT Cursive"/>
              </a:rPr>
              <a:t>Anche un bambino può chiamare</a:t>
            </a:r>
          </a:p>
        </p:txBody>
      </p:sp>
      <p:sp>
        <p:nvSpPr>
          <p:cNvPr id="4" name="Riquadr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60520" y="1600200"/>
            <a:ext cx="7406640" cy="4526280"/>
          </a:xfrm>
          <a:prstGeom prst="roundRect">
            <a:avLst>
              <a:gd name="adj" fmla="val 2424"/>
            </a:avLst>
          </a:prstGeom>
          <a:noFill/>
          <a:ln w="19050">
            <a:solidFill>
              <a:srgbClr val="003366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sto"/>
          <p:cNvSpPr txBox="1"/>
          <p:nvPr/>
        </p:nvSpPr>
        <p:spPr>
          <a:xfrm>
            <a:off x="4434840" y="1783080"/>
            <a:ext cx="6903720" cy="4160520"/>
          </a:xfrm>
          <a:prstGeom prst="rect">
            <a:avLst/>
          </a:prstGeom>
          <a:noFill/>
        </p:spPr>
        <p:txBody>
          <a:bodyPr wrap="square" anchor="ctr" lIns="73152" rIns="73152">
            <a:noAutofit/>
          </a:bodyPr>
          <a:lstStyle/>
          <a:p>
            <a:pPr algn="l" marL="384048" indent="-384048">
              <a:spcAft>
                <a:spcPts val="1200"/>
              </a:spcAft>
              <a:buClr>
                <a:srgbClr val="003366"/>
              </a:buClr>
              <a:buFont typeface="Arial"/>
              <a:buChar char="•"/>
            </a:pPr>
            <a:r>
              <a:rPr sz="2800" b="0" lang="it-IT">
                <a:solidFill>
                  <a:srgbClr val="212529"/>
                </a:solidFill>
                <a:latin typeface="Arial"/>
              </a:rPr>
              <a:t>Se c’è un adulto vicino, </a:t>
            </a:r>
            <a:r>
              <a:rPr sz="2800" b="0" lang="it-IT">
                <a:solidFill>
                  <a:srgbClr val="212529"/>
                </a:solidFill>
                <a:highlight>
                  <a:srgbClr val="FFF0A8"/>
                </a:highlight>
                <a:latin typeface="Arial"/>
              </a:rPr>
              <a:t>avvisalo subito</a:t>
            </a:r>
            <a:r>
              <a:rPr sz="2800" b="0" lang="it-IT">
                <a:solidFill>
                  <a:srgbClr val="212529"/>
                </a:solidFill>
                <a:latin typeface="Arial"/>
              </a:rPr>
              <a:t>.</a:t>
            </a:r>
          </a:p>
          <a:p>
            <a:pPr algn="l" marL="384048" indent="-384048">
              <a:spcAft>
                <a:spcPts val="1200"/>
              </a:spcAft>
              <a:buClr>
                <a:srgbClr val="003366"/>
              </a:buClr>
              <a:buFont typeface="Arial"/>
              <a:buChar char="•"/>
            </a:pPr>
            <a:r>
              <a:rPr sz="2800" b="0" lang="it-IT">
                <a:solidFill>
                  <a:srgbClr val="212529"/>
                </a:solidFill>
                <a:latin typeface="Arial"/>
              </a:rPr>
              <a:t>Se sei solo e il pericolo è vero, </a:t>
            </a:r>
            <a:r>
              <a:rPr sz="2800" b="0" lang="it-IT">
                <a:solidFill>
                  <a:srgbClr val="212529"/>
                </a:solidFill>
                <a:highlight>
                  <a:srgbClr val="FFF0A8"/>
                </a:highlight>
                <a:latin typeface="Arial"/>
              </a:rPr>
              <a:t>chiama tu il 112</a:t>
            </a:r>
            <a:r>
              <a:rPr sz="2800" b="0" lang="it-IT">
                <a:solidFill>
                  <a:srgbClr val="212529"/>
                </a:solidFill>
                <a:latin typeface="Arial"/>
              </a:rPr>
              <a:t>.</a:t>
            </a:r>
          </a:p>
          <a:p>
            <a:pPr algn="l" marL="384048" indent="-384048">
              <a:spcAft>
                <a:spcPts val="0"/>
              </a:spcAft>
              <a:buClr>
                <a:srgbClr val="003366"/>
              </a:buClr>
              <a:buFont typeface="Arial"/>
              <a:buChar char="•"/>
            </a:pPr>
            <a:r>
              <a:rPr sz="2800" b="0" lang="it-IT">
                <a:solidFill>
                  <a:srgbClr val="212529"/>
                </a:solidFill>
                <a:latin typeface="Arial"/>
              </a:rPr>
              <a:t>L’operatore ti fa le domande e ti guida.</a:t>
            </a:r>
          </a:p>
        </p:txBody>
      </p:sp>
      <p:sp>
        <p:nvSpPr>
          <p:cNvPr id="6" name="Cartoncin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21480000">
            <a:off x="777240" y="2057400"/>
            <a:ext cx="292608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ADB5BD"/>
            </a:solidFill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7" name="Pittogramma" descr="Pittogramma: un bambin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80000">
            <a:off x="982065" y="2262225"/>
            <a:ext cx="2516428" cy="25164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ennellata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48080"/>
            <a:ext cx="4711166" cy="2011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228600"/>
            <a:ext cx="10972800" cy="1230630"/>
          </a:xfrm>
        </p:spPr>
        <p:txBody>
          <a:bodyPr wrap="square" anchor="b">
            <a:noAutofit/>
          </a:bodyPr>
          <a:lstStyle/>
          <a:p>
            <a:pPr algn="l"/>
            <a:r>
              <a:rPr sz="4600" b="0" lang="it-IT">
                <a:solidFill>
                  <a:srgbClr val="003366"/>
                </a:solidFill>
                <a:latin typeface="Edu NSW ACT Cursive"/>
              </a:rPr>
              <a:t>Le 4 cose da dire</a:t>
            </a:r>
          </a:p>
        </p:txBody>
      </p:sp>
      <p:sp>
        <p:nvSpPr>
          <p:cNvPr id="4" name="Pas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691640"/>
            <a:ext cx="2434590" cy="4434840"/>
          </a:xfrm>
          <a:prstGeom prst="roundRect">
            <a:avLst>
              <a:gd name="adj" fmla="val 9389"/>
            </a:avLst>
          </a:prstGeom>
          <a:solidFill>
            <a:srgbClr val="DCEEFA"/>
          </a:solidFill>
          <a:ln w="15875">
            <a:solidFill>
              <a:srgbClr val="00336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Etichetta"/>
          <p:cNvSpPr txBox="1"/>
          <p:nvPr/>
        </p:nvSpPr>
        <p:spPr>
          <a:xfrm>
            <a:off x="685800" y="1737360"/>
            <a:ext cx="2343150" cy="868680"/>
          </a:xfrm>
          <a:prstGeom prst="rect">
            <a:avLst/>
          </a:prstGeom>
          <a:noFill/>
        </p:spPr>
        <p:txBody>
          <a:bodyPr wrap="square" anchor="ctr" lIns="73152" rIns="73152">
            <a:noAutofit/>
          </a:bodyPr>
          <a:lstStyle/>
          <a:p>
            <a:pPr algn="ctr"/>
            <a:r>
              <a:rPr sz="3800" b="0" lang="it-IT">
                <a:solidFill>
                  <a:srgbClr val="003366"/>
                </a:solidFill>
                <a:latin typeface="Edu NSW ACT Cursive"/>
              </a:rPr>
              <a:t>1</a:t>
            </a:r>
          </a:p>
        </p:txBody>
      </p:sp>
      <p:pic>
        <p:nvPicPr>
          <p:cNvPr id="6" name="Pittogramma" descr="Pittogramma: un bambin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715" y="2606040"/>
            <a:ext cx="1417320" cy="1417320"/>
          </a:xfrm>
          <a:prstGeom prst="rect">
            <a:avLst/>
          </a:prstGeom>
        </p:spPr>
      </p:pic>
      <p:sp>
        <p:nvSpPr>
          <p:cNvPr id="7" name="Passo, titolo"/>
          <p:cNvSpPr txBox="1"/>
          <p:nvPr/>
        </p:nvSpPr>
        <p:spPr>
          <a:xfrm>
            <a:off x="685800" y="4133087"/>
            <a:ext cx="2343150" cy="505968"/>
          </a:xfrm>
          <a:prstGeom prst="rect">
            <a:avLst/>
          </a:prstGeom>
          <a:noFill/>
        </p:spPr>
        <p:txBody>
          <a:bodyPr wrap="square" anchor="t" lIns="73152" rIns="73152">
            <a:noAutofit/>
          </a:bodyPr>
          <a:lstStyle/>
          <a:p>
            <a:pPr algn="ctr">
              <a:spcAft>
                <a:spcPts val="0"/>
              </a:spcAft>
            </a:pPr>
            <a:r>
              <a:rPr sz="2600" b="1" lang="it-IT">
                <a:solidFill>
                  <a:srgbClr val="003366"/>
                </a:solidFill>
                <a:latin typeface="Arial"/>
              </a:rPr>
              <a:t>Chi sei</a:t>
            </a:r>
          </a:p>
        </p:txBody>
      </p:sp>
      <p:sp>
        <p:nvSpPr>
          <p:cNvPr id="8" name="Passo, testo"/>
          <p:cNvSpPr txBox="1"/>
          <p:nvPr/>
        </p:nvSpPr>
        <p:spPr>
          <a:xfrm>
            <a:off x="685800" y="4639056"/>
            <a:ext cx="2343150" cy="1377695"/>
          </a:xfrm>
          <a:prstGeom prst="rect">
            <a:avLst/>
          </a:prstGeom>
          <a:noFill/>
        </p:spPr>
        <p:txBody>
          <a:bodyPr wrap="square" anchor="t" lIns="73152" rIns="73152">
            <a:noAutofit/>
          </a:bodyPr>
          <a:lstStyle/>
          <a:p>
            <a:pPr algn="ctr">
              <a:spcAft>
                <a:spcPts val="0"/>
              </a:spcAft>
            </a:pPr>
            <a:r>
              <a:rPr sz="2400" b="0" lang="it-IT">
                <a:solidFill>
                  <a:srgbClr val="212529"/>
                </a:solidFill>
                <a:latin typeface="Arial"/>
              </a:rPr>
              <a:t>Nome ed età.</a:t>
            </a:r>
          </a:p>
        </p:txBody>
      </p:sp>
      <p:pic>
        <p:nvPicPr>
          <p:cNvPr id="9" name="Freccia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1246" y="3799332"/>
            <a:ext cx="338328" cy="219456"/>
          </a:xfrm>
          <a:prstGeom prst="rect">
            <a:avLst/>
          </a:prstGeom>
        </p:spPr>
      </p:pic>
      <p:sp>
        <p:nvSpPr>
          <p:cNvPr id="10" name="Pas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86150" y="1691640"/>
            <a:ext cx="2434590" cy="4434840"/>
          </a:xfrm>
          <a:prstGeom prst="roundRect">
            <a:avLst>
              <a:gd name="adj" fmla="val 9389"/>
            </a:avLst>
          </a:prstGeom>
          <a:solidFill>
            <a:srgbClr val="FFF0A8"/>
          </a:solidFill>
          <a:ln w="15875">
            <a:solidFill>
              <a:srgbClr val="00336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Etichetta"/>
          <p:cNvSpPr txBox="1"/>
          <p:nvPr/>
        </p:nvSpPr>
        <p:spPr>
          <a:xfrm>
            <a:off x="3531870" y="1737360"/>
            <a:ext cx="2343150" cy="868680"/>
          </a:xfrm>
          <a:prstGeom prst="rect">
            <a:avLst/>
          </a:prstGeom>
          <a:noFill/>
        </p:spPr>
        <p:txBody>
          <a:bodyPr wrap="square" anchor="ctr" lIns="73152" rIns="73152">
            <a:noAutofit/>
          </a:bodyPr>
          <a:lstStyle/>
          <a:p>
            <a:pPr algn="ctr"/>
            <a:r>
              <a:rPr sz="3800" b="0" lang="it-IT">
                <a:solidFill>
                  <a:srgbClr val="003366"/>
                </a:solidFill>
                <a:latin typeface="Edu NSW ACT Cursive"/>
              </a:rPr>
              <a:t>2</a:t>
            </a:r>
          </a:p>
        </p:txBody>
      </p:sp>
      <p:pic>
        <p:nvPicPr>
          <p:cNvPr id="12" name="Pittogramma" descr="Pittogramma: una mapp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4785" y="2606040"/>
            <a:ext cx="1417320" cy="1417320"/>
          </a:xfrm>
          <a:prstGeom prst="rect">
            <a:avLst/>
          </a:prstGeom>
        </p:spPr>
      </p:pic>
      <p:sp>
        <p:nvSpPr>
          <p:cNvPr id="13" name="Passo, titolo"/>
          <p:cNvSpPr txBox="1"/>
          <p:nvPr/>
        </p:nvSpPr>
        <p:spPr>
          <a:xfrm>
            <a:off x="3531870" y="4133087"/>
            <a:ext cx="2343150" cy="505968"/>
          </a:xfrm>
          <a:prstGeom prst="rect">
            <a:avLst/>
          </a:prstGeom>
          <a:noFill/>
        </p:spPr>
        <p:txBody>
          <a:bodyPr wrap="square" anchor="t" lIns="73152" rIns="73152">
            <a:noAutofit/>
          </a:bodyPr>
          <a:lstStyle/>
          <a:p>
            <a:pPr algn="ctr">
              <a:spcAft>
                <a:spcPts val="0"/>
              </a:spcAft>
            </a:pPr>
            <a:r>
              <a:rPr sz="2600" b="1" lang="it-IT">
                <a:solidFill>
                  <a:srgbClr val="003366"/>
                </a:solidFill>
                <a:latin typeface="Arial"/>
              </a:rPr>
              <a:t>Dove sei</a:t>
            </a:r>
          </a:p>
        </p:txBody>
      </p:sp>
      <p:sp>
        <p:nvSpPr>
          <p:cNvPr id="14" name="Passo, testo"/>
          <p:cNvSpPr txBox="1"/>
          <p:nvPr/>
        </p:nvSpPr>
        <p:spPr>
          <a:xfrm>
            <a:off x="3531870" y="4639056"/>
            <a:ext cx="2343150" cy="1377695"/>
          </a:xfrm>
          <a:prstGeom prst="rect">
            <a:avLst/>
          </a:prstGeom>
          <a:noFill/>
        </p:spPr>
        <p:txBody>
          <a:bodyPr wrap="square" anchor="t" lIns="73152" rIns="73152">
            <a:noAutofit/>
          </a:bodyPr>
          <a:lstStyle/>
          <a:p>
            <a:pPr algn="ctr">
              <a:spcAft>
                <a:spcPts val="0"/>
              </a:spcAft>
            </a:pPr>
            <a:r>
              <a:rPr sz="2400" b="0" lang="it-IT">
                <a:solidFill>
                  <a:srgbClr val="212529"/>
                </a:solidFill>
                <a:latin typeface="Arial"/>
              </a:rPr>
              <a:t>Via, numero, città.</a:t>
            </a:r>
          </a:p>
        </p:txBody>
      </p:sp>
      <p:pic>
        <p:nvPicPr>
          <p:cNvPr id="15" name="Freccia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7316" y="3799332"/>
            <a:ext cx="338328" cy="219456"/>
          </a:xfrm>
          <a:prstGeom prst="rect">
            <a:avLst/>
          </a:prstGeom>
        </p:spPr>
      </p:pic>
      <p:sp>
        <p:nvSpPr>
          <p:cNvPr id="16" name="Pas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32220" y="1691640"/>
            <a:ext cx="2434590" cy="4434840"/>
          </a:xfrm>
          <a:prstGeom prst="roundRect">
            <a:avLst>
              <a:gd name="adj" fmla="val 9389"/>
            </a:avLst>
          </a:prstGeom>
          <a:solidFill>
            <a:srgbClr val="F8DFE5"/>
          </a:solidFill>
          <a:ln w="15875">
            <a:solidFill>
              <a:srgbClr val="00336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Etichetta"/>
          <p:cNvSpPr txBox="1"/>
          <p:nvPr/>
        </p:nvSpPr>
        <p:spPr>
          <a:xfrm>
            <a:off x="6377940" y="1737360"/>
            <a:ext cx="2343150" cy="868680"/>
          </a:xfrm>
          <a:prstGeom prst="rect">
            <a:avLst/>
          </a:prstGeom>
          <a:noFill/>
        </p:spPr>
        <p:txBody>
          <a:bodyPr wrap="square" anchor="ctr" lIns="73152" rIns="73152">
            <a:noAutofit/>
          </a:bodyPr>
          <a:lstStyle/>
          <a:p>
            <a:pPr algn="ctr"/>
            <a:r>
              <a:rPr sz="3800" b="0" lang="it-IT">
                <a:solidFill>
                  <a:srgbClr val="003366"/>
                </a:solidFill>
                <a:latin typeface="Edu NSW ACT Cursive"/>
              </a:rPr>
              <a:t>3</a:t>
            </a:r>
          </a:p>
        </p:txBody>
      </p:sp>
      <p:pic>
        <p:nvPicPr>
          <p:cNvPr id="18" name="Pittogramma" descr="Pittogramma: un cartello di pericol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0855" y="2606040"/>
            <a:ext cx="1417320" cy="1417320"/>
          </a:xfrm>
          <a:prstGeom prst="rect">
            <a:avLst/>
          </a:prstGeom>
        </p:spPr>
      </p:pic>
      <p:sp>
        <p:nvSpPr>
          <p:cNvPr id="19" name="Passo, titolo"/>
          <p:cNvSpPr txBox="1"/>
          <p:nvPr/>
        </p:nvSpPr>
        <p:spPr>
          <a:xfrm>
            <a:off x="6377940" y="4133087"/>
            <a:ext cx="2343150" cy="902208"/>
          </a:xfrm>
          <a:prstGeom prst="rect">
            <a:avLst/>
          </a:prstGeom>
          <a:noFill/>
        </p:spPr>
        <p:txBody>
          <a:bodyPr wrap="square" anchor="t" lIns="73152" rIns="73152">
            <a:noAutofit/>
          </a:bodyPr>
          <a:lstStyle/>
          <a:p>
            <a:pPr algn="ctr">
              <a:spcAft>
                <a:spcPts val="0"/>
              </a:spcAft>
            </a:pPr>
            <a:r>
              <a:rPr sz="2600" b="1" lang="it-IT">
                <a:solidFill>
                  <a:srgbClr val="003366"/>
                </a:solidFill>
                <a:latin typeface="Arial"/>
              </a:rPr>
              <a:t>Che cosa è successo</a:t>
            </a:r>
          </a:p>
        </p:txBody>
      </p:sp>
      <p:sp>
        <p:nvSpPr>
          <p:cNvPr id="20" name="Passo, testo"/>
          <p:cNvSpPr txBox="1"/>
          <p:nvPr/>
        </p:nvSpPr>
        <p:spPr>
          <a:xfrm>
            <a:off x="6377940" y="5035295"/>
            <a:ext cx="2343150" cy="981455"/>
          </a:xfrm>
          <a:prstGeom prst="rect">
            <a:avLst/>
          </a:prstGeom>
          <a:noFill/>
        </p:spPr>
        <p:txBody>
          <a:bodyPr wrap="square" anchor="t" lIns="73152" rIns="73152">
            <a:noAutofit/>
          </a:bodyPr>
          <a:lstStyle/>
          <a:p>
            <a:pPr algn="ctr">
              <a:spcAft>
                <a:spcPts val="0"/>
              </a:spcAft>
            </a:pPr>
            <a:r>
              <a:rPr sz="2400" b="0" lang="it-IT">
                <a:solidFill>
                  <a:srgbClr val="212529"/>
                </a:solidFill>
                <a:latin typeface="Arial"/>
              </a:rPr>
              <a:t>In poche parole.</a:t>
            </a:r>
          </a:p>
        </p:txBody>
      </p:sp>
      <p:pic>
        <p:nvPicPr>
          <p:cNvPr id="21" name="Freccia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3386" y="3799332"/>
            <a:ext cx="338328" cy="219456"/>
          </a:xfrm>
          <a:prstGeom prst="rect">
            <a:avLst/>
          </a:prstGeom>
        </p:spPr>
      </p:pic>
      <p:sp>
        <p:nvSpPr>
          <p:cNvPr id="22" name="Pas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78290" y="1691640"/>
            <a:ext cx="2434590" cy="4434840"/>
          </a:xfrm>
          <a:prstGeom prst="roundRect">
            <a:avLst>
              <a:gd name="adj" fmla="val 9389"/>
            </a:avLst>
          </a:prstGeom>
          <a:solidFill>
            <a:srgbClr val="EDF7F0"/>
          </a:solidFill>
          <a:ln w="15875">
            <a:solidFill>
              <a:srgbClr val="00336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Etichetta"/>
          <p:cNvSpPr txBox="1"/>
          <p:nvPr/>
        </p:nvSpPr>
        <p:spPr>
          <a:xfrm>
            <a:off x="9224010" y="1737360"/>
            <a:ext cx="2343150" cy="868680"/>
          </a:xfrm>
          <a:prstGeom prst="rect">
            <a:avLst/>
          </a:prstGeom>
          <a:noFill/>
        </p:spPr>
        <p:txBody>
          <a:bodyPr wrap="square" anchor="ctr" lIns="73152" rIns="73152">
            <a:noAutofit/>
          </a:bodyPr>
          <a:lstStyle/>
          <a:p>
            <a:pPr algn="ctr"/>
            <a:r>
              <a:rPr sz="3800" b="0" lang="it-IT">
                <a:solidFill>
                  <a:srgbClr val="003366"/>
                </a:solidFill>
                <a:latin typeface="Edu NSW ACT Cursive"/>
              </a:rPr>
              <a:t>4</a:t>
            </a:r>
          </a:p>
        </p:txBody>
      </p:sp>
      <p:pic>
        <p:nvPicPr>
          <p:cNvPr id="24" name="Pittogramma" descr="Pittogramma: un medic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86925" y="2606040"/>
            <a:ext cx="1417320" cy="1417320"/>
          </a:xfrm>
          <a:prstGeom prst="rect">
            <a:avLst/>
          </a:prstGeom>
        </p:spPr>
      </p:pic>
      <p:sp>
        <p:nvSpPr>
          <p:cNvPr id="25" name="Passo, titolo"/>
          <p:cNvSpPr txBox="1"/>
          <p:nvPr/>
        </p:nvSpPr>
        <p:spPr>
          <a:xfrm>
            <a:off x="9224010" y="4133087"/>
            <a:ext cx="2343150" cy="902208"/>
          </a:xfrm>
          <a:prstGeom prst="rect">
            <a:avLst/>
          </a:prstGeom>
          <a:noFill/>
        </p:spPr>
        <p:txBody>
          <a:bodyPr wrap="square" anchor="t" lIns="73152" rIns="73152">
            <a:noAutofit/>
          </a:bodyPr>
          <a:lstStyle/>
          <a:p>
            <a:pPr algn="ctr">
              <a:spcAft>
                <a:spcPts val="0"/>
              </a:spcAft>
            </a:pPr>
            <a:r>
              <a:rPr sz="2600" b="1" lang="it-IT">
                <a:solidFill>
                  <a:srgbClr val="003366"/>
                </a:solidFill>
                <a:latin typeface="Arial"/>
              </a:rPr>
              <a:t>Ci sono feriti?</a:t>
            </a:r>
          </a:p>
        </p:txBody>
      </p:sp>
      <p:sp>
        <p:nvSpPr>
          <p:cNvPr id="26" name="Passo, testo"/>
          <p:cNvSpPr txBox="1"/>
          <p:nvPr/>
        </p:nvSpPr>
        <p:spPr>
          <a:xfrm>
            <a:off x="9224010" y="5035295"/>
            <a:ext cx="2343150" cy="981455"/>
          </a:xfrm>
          <a:prstGeom prst="rect">
            <a:avLst/>
          </a:prstGeom>
          <a:noFill/>
        </p:spPr>
        <p:txBody>
          <a:bodyPr wrap="square" anchor="t" lIns="73152" rIns="73152">
            <a:noAutofit/>
          </a:bodyPr>
          <a:lstStyle/>
          <a:p>
            <a:pPr algn="ctr">
              <a:spcAft>
                <a:spcPts val="0"/>
              </a:spcAft>
            </a:pPr>
            <a:r>
              <a:rPr sz="2400" b="0" lang="it-IT">
                <a:solidFill>
                  <a:srgbClr val="212529"/>
                </a:solidFill>
                <a:latin typeface="Arial"/>
              </a:rPr>
              <a:t>Quanti, e come stanno.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ennellata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48080"/>
            <a:ext cx="6847585" cy="2011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228600"/>
            <a:ext cx="10972800" cy="1230630"/>
          </a:xfrm>
        </p:spPr>
        <p:txBody>
          <a:bodyPr wrap="square" anchor="b">
            <a:noAutofit/>
          </a:bodyPr>
          <a:lstStyle/>
          <a:p>
            <a:pPr algn="l"/>
            <a:r>
              <a:rPr sz="4600" b="0" lang="it-IT">
                <a:solidFill>
                  <a:srgbClr val="003366"/>
                </a:solidFill>
                <a:latin typeface="Edu NSW ACT Cursive"/>
              </a:rPr>
              <a:t>Dove sei? Allenati a dirlo</a:t>
            </a:r>
          </a:p>
        </p:txBody>
      </p:sp>
      <p:sp>
        <p:nvSpPr>
          <p:cNvPr id="4" name="Riquadr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600200"/>
            <a:ext cx="7406640" cy="4526280"/>
          </a:xfrm>
          <a:prstGeom prst="roundRect">
            <a:avLst>
              <a:gd name="adj" fmla="val 2424"/>
            </a:avLst>
          </a:prstGeom>
          <a:noFill/>
          <a:ln w="19050">
            <a:solidFill>
              <a:srgbClr val="003366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sto"/>
          <p:cNvSpPr txBox="1"/>
          <p:nvPr/>
        </p:nvSpPr>
        <p:spPr>
          <a:xfrm>
            <a:off x="914400" y="1783080"/>
            <a:ext cx="6903720" cy="4160520"/>
          </a:xfrm>
          <a:prstGeom prst="rect">
            <a:avLst/>
          </a:prstGeom>
          <a:noFill/>
        </p:spPr>
        <p:txBody>
          <a:bodyPr wrap="square" anchor="ctr" lIns="73152" rIns="73152">
            <a:noAutofit/>
          </a:bodyPr>
          <a:lstStyle/>
          <a:p>
            <a:pPr algn="l" marL="384048" indent="-384048">
              <a:spcAft>
                <a:spcPts val="1200"/>
              </a:spcAft>
              <a:buClr>
                <a:srgbClr val="003366"/>
              </a:buClr>
              <a:buFont typeface="Arial"/>
              <a:buChar char="•"/>
            </a:pPr>
            <a:r>
              <a:rPr sz="2800" b="0" lang="it-IT">
                <a:solidFill>
                  <a:srgbClr val="212529"/>
                </a:solidFill>
                <a:latin typeface="Arial"/>
              </a:rPr>
              <a:t>Impara a memoria il tuo </a:t>
            </a:r>
            <a:r>
              <a:rPr sz="2800" b="0" lang="it-IT">
                <a:solidFill>
                  <a:srgbClr val="212529"/>
                </a:solidFill>
                <a:highlight>
                  <a:srgbClr val="DCEEFA"/>
                </a:highlight>
                <a:latin typeface="Arial"/>
              </a:rPr>
              <a:t>indirizzo</a:t>
            </a:r>
            <a:r>
              <a:rPr sz="2800" b="0" lang="it-IT">
                <a:solidFill>
                  <a:srgbClr val="212529"/>
                </a:solidFill>
                <a:latin typeface="Arial"/>
              </a:rPr>
              <a:t>: via, numero, città.</a:t>
            </a:r>
          </a:p>
          <a:p>
            <a:pPr algn="l" marL="384048" indent="-384048">
              <a:spcAft>
                <a:spcPts val="1200"/>
              </a:spcAft>
              <a:buClr>
                <a:srgbClr val="003366"/>
              </a:buClr>
              <a:buFont typeface="Arial"/>
              <a:buChar char="•"/>
            </a:pPr>
            <a:r>
              <a:rPr sz="2800" b="0" lang="it-IT">
                <a:solidFill>
                  <a:srgbClr val="212529"/>
                </a:solidFill>
                <a:latin typeface="Arial"/>
              </a:rPr>
              <a:t>Fuori casa guarda intorno: una piazza, un edificio che tutti conoscono.</a:t>
            </a:r>
          </a:p>
          <a:p>
            <a:pPr algn="l" marL="384048" indent="-384048">
              <a:spcAft>
                <a:spcPts val="0"/>
              </a:spcAft>
              <a:buClr>
                <a:srgbClr val="003366"/>
              </a:buClr>
              <a:buFont typeface="Arial"/>
              <a:buChar char="•"/>
            </a:pPr>
            <a:r>
              <a:rPr sz="2800" b="0" lang="it-IT">
                <a:solidFill>
                  <a:srgbClr val="212529"/>
                </a:solidFill>
                <a:latin typeface="Arial"/>
              </a:rPr>
              <a:t>Il telefono può mandare la posizione, ma tu dilla lo stesso.</a:t>
            </a:r>
          </a:p>
        </p:txBody>
      </p:sp>
      <p:sp>
        <p:nvSpPr>
          <p:cNvPr id="6" name="Cartoncin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20000">
            <a:off x="8503920" y="2057400"/>
            <a:ext cx="292608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ADB5BD"/>
            </a:solidFill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7" name="Pittogramma" descr="Pittogramma: una cas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20000">
            <a:off x="8708745" y="2262225"/>
            <a:ext cx="2516428" cy="25164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ennellata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48080"/>
            <a:ext cx="5911697" cy="2011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228600"/>
            <a:ext cx="10972800" cy="1230630"/>
          </a:xfrm>
        </p:spPr>
        <p:txBody>
          <a:bodyPr wrap="square" anchor="b">
            <a:noAutofit/>
          </a:bodyPr>
          <a:lstStyle/>
          <a:p>
            <a:pPr algn="l"/>
            <a:r>
              <a:rPr sz="4600" b="0" lang="it-IT">
                <a:solidFill>
                  <a:srgbClr val="003366"/>
                </a:solidFill>
                <a:latin typeface="Edu NSW ACT Cursive"/>
              </a:rPr>
              <a:t>Durante la chiamata</a:t>
            </a:r>
          </a:p>
        </p:txBody>
      </p:sp>
      <p:sp>
        <p:nvSpPr>
          <p:cNvPr id="4" name="Riquadr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60520" y="1600200"/>
            <a:ext cx="7406640" cy="4526280"/>
          </a:xfrm>
          <a:prstGeom prst="roundRect">
            <a:avLst>
              <a:gd name="adj" fmla="val 2424"/>
            </a:avLst>
          </a:prstGeom>
          <a:noFill/>
          <a:ln w="19050">
            <a:solidFill>
              <a:srgbClr val="003366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sto"/>
          <p:cNvSpPr txBox="1"/>
          <p:nvPr/>
        </p:nvSpPr>
        <p:spPr>
          <a:xfrm>
            <a:off x="4434840" y="1783080"/>
            <a:ext cx="6903720" cy="4160520"/>
          </a:xfrm>
          <a:prstGeom prst="rect">
            <a:avLst/>
          </a:prstGeom>
          <a:noFill/>
        </p:spPr>
        <p:txBody>
          <a:bodyPr wrap="square" anchor="ctr" lIns="73152" rIns="73152">
            <a:noAutofit/>
          </a:bodyPr>
          <a:lstStyle/>
          <a:p>
            <a:pPr algn="l" marL="384048" indent="-384048">
              <a:spcAft>
                <a:spcPts val="1200"/>
              </a:spcAft>
              <a:buClr>
                <a:srgbClr val="003366"/>
              </a:buClr>
              <a:buFont typeface="Arial"/>
              <a:buChar char="•"/>
            </a:pPr>
            <a:r>
              <a:rPr sz="2800" b="0" lang="it-IT">
                <a:solidFill>
                  <a:srgbClr val="212529"/>
                </a:solidFill>
                <a:latin typeface="Arial"/>
              </a:rPr>
              <a:t>Parla </a:t>
            </a:r>
            <a:r>
              <a:rPr sz="2800" b="0" lang="it-IT">
                <a:solidFill>
                  <a:srgbClr val="212529"/>
                </a:solidFill>
                <a:highlight>
                  <a:srgbClr val="FFF0A8"/>
                </a:highlight>
                <a:latin typeface="Arial"/>
              </a:rPr>
              <a:t>piano e chiaro</a:t>
            </a:r>
            <a:r>
              <a:rPr sz="2800" b="0" lang="it-IT">
                <a:solidFill>
                  <a:srgbClr val="212529"/>
                </a:solidFill>
                <a:latin typeface="Arial"/>
              </a:rPr>
              <a:t>.</a:t>
            </a:r>
          </a:p>
          <a:p>
            <a:pPr algn="l" marL="384048" indent="-384048">
              <a:spcAft>
                <a:spcPts val="1200"/>
              </a:spcAft>
              <a:buClr>
                <a:srgbClr val="003366"/>
              </a:buClr>
              <a:buFont typeface="Arial"/>
              <a:buChar char="•"/>
            </a:pPr>
            <a:r>
              <a:rPr sz="2800" b="0" lang="it-IT">
                <a:solidFill>
                  <a:srgbClr val="212529"/>
                </a:solidFill>
                <a:latin typeface="Arial"/>
              </a:rPr>
              <a:t>Rispondi alle domande dell’operatore.</a:t>
            </a:r>
          </a:p>
          <a:p>
            <a:pPr algn="l" marL="384048" indent="-384048">
              <a:spcAft>
                <a:spcPts val="1200"/>
              </a:spcAft>
              <a:buClr>
                <a:srgbClr val="003366"/>
              </a:buClr>
              <a:buFont typeface="Arial"/>
              <a:buChar char="•"/>
            </a:pPr>
            <a:r>
              <a:rPr sz="2800" b="0" lang="it-IT">
                <a:solidFill>
                  <a:srgbClr val="212529"/>
                </a:solidFill>
                <a:highlight>
                  <a:srgbClr val="F8DFE5"/>
                </a:highlight>
                <a:latin typeface="Arial"/>
              </a:rPr>
              <a:t>Non riattaccare</a:t>
            </a:r>
            <a:r>
              <a:rPr sz="2800" b="0" lang="it-IT">
                <a:solidFill>
                  <a:srgbClr val="212529"/>
                </a:solidFill>
                <a:latin typeface="Arial"/>
              </a:rPr>
              <a:t> finché l’operatore non ha finito.</a:t>
            </a:r>
          </a:p>
          <a:p>
            <a:pPr algn="l" marL="384048" indent="-384048">
              <a:spcAft>
                <a:spcPts val="0"/>
              </a:spcAft>
              <a:buClr>
                <a:srgbClr val="003366"/>
              </a:buClr>
              <a:buFont typeface="Arial"/>
              <a:buChar char="•"/>
            </a:pPr>
            <a:r>
              <a:rPr sz="2800" b="0" lang="it-IT">
                <a:solidFill>
                  <a:srgbClr val="212529"/>
                </a:solidFill>
                <a:latin typeface="Arial"/>
              </a:rPr>
              <a:t>Se siete in tanti, chiama uno solo: gli altri aiutano.</a:t>
            </a:r>
          </a:p>
        </p:txBody>
      </p:sp>
      <p:sp>
        <p:nvSpPr>
          <p:cNvPr id="6" name="Cartoncin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21480000">
            <a:off x="777240" y="2057400"/>
            <a:ext cx="292608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ADB5BD"/>
            </a:solidFill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7" name="Pittogramma" descr="Pittogramma: una persona seduta, tranquill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80000">
            <a:off x="982065" y="2262225"/>
            <a:ext cx="2516428" cy="25164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ennellata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48080"/>
            <a:ext cx="4517796" cy="2011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228600"/>
            <a:ext cx="10972800" cy="1230630"/>
          </a:xfrm>
        </p:spPr>
        <p:txBody>
          <a:bodyPr wrap="square" anchor="b">
            <a:noAutofit/>
          </a:bodyPr>
          <a:lstStyle/>
          <a:p>
            <a:pPr algn="l"/>
            <a:r>
              <a:rPr sz="4600" b="0" lang="it-IT">
                <a:solidFill>
                  <a:srgbClr val="003366"/>
                </a:solidFill>
                <a:latin typeface="Edu NSW ACT Cursive"/>
              </a:rPr>
              <a:t>Occhio all’errore</a:t>
            </a:r>
          </a:p>
        </p:txBody>
      </p:sp>
      <p:sp>
        <p:nvSpPr>
          <p:cNvPr id="4" name="Riquadr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645920"/>
            <a:ext cx="10972800" cy="4526280"/>
          </a:xfrm>
          <a:prstGeom prst="roundRect">
            <a:avLst>
              <a:gd name="adj" fmla="val 2424"/>
            </a:avLst>
          </a:prstGeom>
          <a:solidFill>
            <a:srgbClr val="F8DFE5"/>
          </a:solidFill>
          <a:ln w="22225">
            <a:solidFill>
              <a:srgbClr val="B02A37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Icona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1783080"/>
            <a:ext cx="685800" cy="685800"/>
          </a:xfrm>
          <a:prstGeom prst="rect">
            <a:avLst/>
          </a:prstGeom>
        </p:spPr>
      </p:pic>
      <p:sp>
        <p:nvSpPr>
          <p:cNvPr id="6" name="Errori"/>
          <p:cNvSpPr txBox="1"/>
          <p:nvPr/>
        </p:nvSpPr>
        <p:spPr>
          <a:xfrm>
            <a:off x="914400" y="1783080"/>
            <a:ext cx="9784080" cy="4251960"/>
          </a:xfrm>
          <a:prstGeom prst="rect">
            <a:avLst/>
          </a:prstGeom>
          <a:noFill/>
        </p:spPr>
        <p:txBody>
          <a:bodyPr wrap="square" anchor="ctr" lIns="73152" rIns="73152">
            <a:noAutofit/>
          </a:bodyPr>
          <a:lstStyle/>
          <a:p>
            <a:pPr>
              <a:spcAft>
                <a:spcPts val="400"/>
              </a:spcAft>
            </a:pPr>
            <a:r>
              <a:rPr sz="2800" b="1" lang="it-IT">
                <a:solidFill>
                  <a:srgbClr val="B02A37"/>
                </a:solidFill>
                <a:latin typeface="Arial"/>
              </a:rPr>
              <a:t>«Per gli incendi il 115, per l’ambulanza il 118.»</a:t>
            </a:r>
          </a:p>
          <a:p>
            <a:pPr>
              <a:spcAft>
                <a:spcPts val="1800"/>
              </a:spcAft>
            </a:pPr>
            <a:r>
              <a:rPr sz="2800" b="0" lang="it-IT">
                <a:solidFill>
                  <a:srgbClr val="212529"/>
                </a:solidFill>
                <a:latin typeface="Arial"/>
              </a:rPr>
              <a:t>Nel Lazio si chiama sempre il 112.</a:t>
            </a:r>
          </a:p>
          <a:p>
            <a:pPr>
              <a:spcAft>
                <a:spcPts val="400"/>
              </a:spcAft>
            </a:pPr>
            <a:r>
              <a:rPr sz="2800" b="1" lang="it-IT">
                <a:solidFill>
                  <a:srgbClr val="B02A37"/>
                </a:solidFill>
                <a:latin typeface="Arial"/>
              </a:rPr>
              <a:t>«In emergenza chiamo i volontari del Gruppo.»</a:t>
            </a:r>
          </a:p>
          <a:p>
            <a:pPr>
              <a:spcAft>
                <a:spcPts val="0"/>
              </a:spcAft>
            </a:pPr>
            <a:r>
              <a:rPr sz="2800" b="0" lang="it-IT">
                <a:solidFill>
                  <a:srgbClr val="212529"/>
                </a:solidFill>
                <a:latin typeface="Arial"/>
              </a:rPr>
              <a:t>Li attivano il Sindaco o la Sala Operativa: tu chiami il 112.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ennellata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48080"/>
            <a:ext cx="7496340" cy="2011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228600"/>
            <a:ext cx="10972800" cy="1230630"/>
          </a:xfrm>
        </p:spPr>
        <p:txBody>
          <a:bodyPr wrap="square" anchor="b">
            <a:noAutofit/>
          </a:bodyPr>
          <a:lstStyle/>
          <a:p>
            <a:pPr algn="l"/>
            <a:r>
              <a:rPr sz="4600" b="0" lang="it-IT">
                <a:solidFill>
                  <a:srgbClr val="003366"/>
                </a:solidFill>
                <a:latin typeface="Edu NSW ACT Cursive"/>
              </a:rPr>
              <a:t>Gioco di ruolo: la telefonata</a:t>
            </a:r>
          </a:p>
        </p:txBody>
      </p:sp>
      <p:sp>
        <p:nvSpPr>
          <p:cNvPr id="4" name="Riquadr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938528"/>
            <a:ext cx="7635240" cy="3154680"/>
          </a:xfrm>
          <a:prstGeom prst="roundRect">
            <a:avLst>
              <a:gd name="adj" fmla="val 3478"/>
            </a:avLst>
          </a:prstGeom>
          <a:noFill/>
          <a:ln w="19050">
            <a:solidFill>
              <a:srgbClr val="003366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Linguetta"/>
          <p:cNvSpPr/>
          <p:nvPr/>
        </p:nvSpPr>
        <p:spPr>
          <a:xfrm>
            <a:off x="868680" y="1481328"/>
            <a:ext cx="2654625" cy="590550"/>
          </a:xfrm>
          <a:prstGeom prst="round2SameRect">
            <a:avLst>
              <a:gd name="adj1" fmla="val 28000"/>
              <a:gd name="adj2" fmla="val 0"/>
            </a:avLst>
          </a:prstGeom>
          <a:solidFill>
            <a:srgbClr val="DCEEFA"/>
          </a:solidFill>
          <a:ln w="15875">
            <a:solidFill>
              <a:srgbClr val="003366"/>
            </a:solidFill>
          </a:ln>
        </p:spPr>
        <p:txBody>
          <a:bodyPr rtlCol="0" anchor="ctr" wrap="none" lIns="182880" rIns="182880" tIns="0" bIns="0">
            <a:noAutofit/>
          </a:bodyPr>
          <a:lstStyle/>
          <a:p>
            <a:pPr algn="l"/>
            <a:r>
              <a:rPr sz="3000" b="0" lang="it-IT">
                <a:solidFill>
                  <a:srgbClr val="003366"/>
                </a:solidFill>
                <a:latin typeface="Edu NSW ACT Cursive"/>
              </a:rPr>
              <a:t>Come si fa</a:t>
            </a:r>
          </a:p>
        </p:txBody>
      </p:sp>
      <p:sp>
        <p:nvSpPr>
          <p:cNvPr id="6" name="Numero"/>
          <p:cNvSpPr/>
          <p:nvPr/>
        </p:nvSpPr>
        <p:spPr>
          <a:xfrm>
            <a:off x="868680" y="2284475"/>
            <a:ext cx="603504" cy="60350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3366"/>
            </a:solidFill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3000" b="0" lang="it-IT">
                <a:solidFill>
                  <a:srgbClr val="003366"/>
                </a:solidFill>
                <a:latin typeface="Edu NSW ACT Cursive"/>
              </a:rPr>
              <a:t>1</a:t>
            </a:r>
          </a:p>
        </p:txBody>
      </p:sp>
      <p:sp>
        <p:nvSpPr>
          <p:cNvPr id="7" name="Passo 1"/>
          <p:cNvSpPr txBox="1"/>
          <p:nvPr/>
        </p:nvSpPr>
        <p:spPr>
          <a:xfrm>
            <a:off x="1645920" y="2121408"/>
            <a:ext cx="6492240" cy="929640"/>
          </a:xfrm>
          <a:prstGeom prst="rect">
            <a:avLst/>
          </a:prstGeom>
          <a:noFill/>
        </p:spPr>
        <p:txBody>
          <a:bodyPr wrap="square" anchor="ctr" lIns="73152" r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2600" b="0" lang="it-IT">
                <a:solidFill>
                  <a:srgbClr val="212529"/>
                </a:solidFill>
                <a:latin typeface="Arial"/>
              </a:rPr>
              <a:t>In coppia: uno fa l’operatore, l’altro chiama.</a:t>
            </a:r>
          </a:p>
        </p:txBody>
      </p:sp>
      <p:sp>
        <p:nvSpPr>
          <p:cNvPr id="8" name="Numero"/>
          <p:cNvSpPr/>
          <p:nvPr/>
        </p:nvSpPr>
        <p:spPr>
          <a:xfrm>
            <a:off x="868680" y="3214115"/>
            <a:ext cx="603504" cy="60350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3366"/>
            </a:solidFill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3000" b="0" lang="it-IT">
                <a:solidFill>
                  <a:srgbClr val="003366"/>
                </a:solidFill>
                <a:latin typeface="Edu NSW ACT Cursive"/>
              </a:rPr>
              <a:t>2</a:t>
            </a:r>
          </a:p>
        </p:txBody>
      </p:sp>
      <p:sp>
        <p:nvSpPr>
          <p:cNvPr id="9" name="Passo 2"/>
          <p:cNvSpPr txBox="1"/>
          <p:nvPr/>
        </p:nvSpPr>
        <p:spPr>
          <a:xfrm>
            <a:off x="1645920" y="3051048"/>
            <a:ext cx="6492240" cy="929640"/>
          </a:xfrm>
          <a:prstGeom prst="rect">
            <a:avLst/>
          </a:prstGeom>
          <a:noFill/>
        </p:spPr>
        <p:txBody>
          <a:bodyPr wrap="square" anchor="ctr" lIns="73152" r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2600" b="0" lang="it-IT">
                <a:solidFill>
                  <a:srgbClr val="212529"/>
                </a:solidFill>
                <a:latin typeface="Arial"/>
              </a:rPr>
              <a:t>Completate e recitate i due dialoghi della scheda.</a:t>
            </a:r>
          </a:p>
        </p:txBody>
      </p:sp>
      <p:sp>
        <p:nvSpPr>
          <p:cNvPr id="10" name="Numero"/>
          <p:cNvSpPr/>
          <p:nvPr/>
        </p:nvSpPr>
        <p:spPr>
          <a:xfrm>
            <a:off x="868680" y="4143756"/>
            <a:ext cx="603504" cy="60350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3366"/>
            </a:solidFill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3000" b="0" lang="it-IT">
                <a:solidFill>
                  <a:srgbClr val="003366"/>
                </a:solidFill>
                <a:latin typeface="Edu NSW ACT Cursive"/>
              </a:rPr>
              <a:t>3</a:t>
            </a:r>
          </a:p>
        </p:txBody>
      </p:sp>
      <p:sp>
        <p:nvSpPr>
          <p:cNvPr id="11" name="Passo 3"/>
          <p:cNvSpPr txBox="1"/>
          <p:nvPr/>
        </p:nvSpPr>
        <p:spPr>
          <a:xfrm>
            <a:off x="1645920" y="3980688"/>
            <a:ext cx="6492240" cy="929640"/>
          </a:xfrm>
          <a:prstGeom prst="rect">
            <a:avLst/>
          </a:prstGeom>
          <a:noFill/>
        </p:spPr>
        <p:txBody>
          <a:bodyPr wrap="square" anchor="ctr" lIns="73152" r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2600" b="0" lang="it-IT">
                <a:solidFill>
                  <a:srgbClr val="212529"/>
                </a:solidFill>
                <a:latin typeface="Arial"/>
              </a:rPr>
              <a:t>Poi scambiatevi i ruoli.</a:t>
            </a:r>
          </a:p>
        </p:txBody>
      </p:sp>
      <p:sp>
        <p:nvSpPr>
          <p:cNvPr id="12" name="Materiale"/>
          <p:cNvSpPr txBox="1"/>
          <p:nvPr/>
        </p:nvSpPr>
        <p:spPr>
          <a:xfrm>
            <a:off x="640080" y="5212080"/>
            <a:ext cx="7772400" cy="1371600"/>
          </a:xfrm>
          <a:prstGeom prst="rect">
            <a:avLst/>
          </a:prstGeom>
          <a:noFill/>
        </p:spPr>
        <p:txBody>
          <a:bodyPr wrap="square" anchor="t" lIns="73152" rIns="73152">
            <a:noAutofit/>
          </a:bodyPr>
          <a:lstStyle/>
          <a:p>
            <a:pPr>
              <a:spcAft>
                <a:spcPts val="600"/>
              </a:spcAft>
            </a:pPr>
            <a:r>
              <a:rPr sz="2400" b="1" lang="it-IT">
                <a:solidFill>
                  <a:srgbClr val="212529"/>
                </a:solidFill>
                <a:latin typeface="Arial"/>
              </a:rPr>
              <a:t>Scheda: </a:t>
            </a:r>
            <a:r>
              <a:rPr sz="2400" b="0" lang="it-IT" u="sng">
                <a:solidFill>
                  <a:srgbClr val="003366"/>
                </a:solidFill>
                <a:latin typeface="Arial"/>
                <a:hlinkClick r:id="rId3"/>
              </a:rPr>
              <a:t>Scheda «Chiamo il 112 — Primaria»</a:t>
            </a:r>
          </a:p>
          <a:p>
            <a:r>
              <a:rPr sz="2400" b="0" lang="it-IT">
                <a:solidFill>
                  <a:srgbClr val="212529"/>
                </a:solidFill>
                <a:latin typeface="Arial"/>
              </a:rPr>
              <a:t>Una scheda per bambino. Per chi fa più fatica: «Il numero 112».</a:t>
            </a:r>
          </a:p>
        </p:txBody>
      </p:sp>
      <p:sp>
        <p:nvSpPr>
          <p:cNvPr id="13" name="Durata"/>
          <p:cNvSpPr/>
          <p:nvPr/>
        </p:nvSpPr>
        <p:spPr>
          <a:xfrm rot="180000">
            <a:off x="8686800" y="1691640"/>
            <a:ext cx="2788920" cy="1097280"/>
          </a:xfrm>
          <a:prstGeom prst="rect">
            <a:avLst/>
          </a:prstGeom>
          <a:solidFill>
            <a:srgbClr val="FFF0A8"/>
          </a:solidFill>
          <a:ln>
            <a:noFill/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 wrap="none" lIns="109728" rIns="109728" tIns="36576" bIns="36576">
            <a:noAutofit/>
          </a:bodyPr>
          <a:lstStyle/>
          <a:p>
            <a:pPr algn="ctr"/>
            <a:r>
              <a:rPr sz="4000" b="0" lang="it-IT">
                <a:solidFill>
                  <a:srgbClr val="003366"/>
                </a:solidFill>
                <a:latin typeface="Edu NSW ACT Cursive"/>
              </a:rPr>
              <a:t>17 minuti</a:t>
            </a:r>
          </a:p>
        </p:txBody>
      </p:sp>
      <p:sp>
        <p:nvSpPr>
          <p:cNvPr id="14" name="Cartoncin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21480000">
            <a:off x="8961120" y="3246120"/>
            <a:ext cx="246888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ADB5BD"/>
            </a:solidFill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15" name="Pittogramma" descr="Pittogramma: una mano compone un numero sul telefon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480000">
            <a:off x="9133941" y="3418941"/>
            <a:ext cx="2123236" cy="212323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ennellata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48080"/>
            <a:ext cx="3326904" cy="2011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228600"/>
            <a:ext cx="10972800" cy="1230630"/>
          </a:xfrm>
        </p:spPr>
        <p:txBody>
          <a:bodyPr wrap="square" anchor="b">
            <a:noAutofit/>
          </a:bodyPr>
          <a:lstStyle/>
          <a:p>
            <a:pPr algn="l"/>
            <a:r>
              <a:rPr sz="4600" b="0" lang="it-IT">
                <a:solidFill>
                  <a:srgbClr val="003366"/>
                </a:solidFill>
                <a:latin typeface="Edu NSW ACT Cursive"/>
              </a:rPr>
              <a:t>Ricordiamo</a:t>
            </a:r>
          </a:p>
        </p:txBody>
      </p:sp>
      <p:sp>
        <p:nvSpPr>
          <p:cNvPr id="4" name="Riquadr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600200"/>
            <a:ext cx="10972800" cy="4572000"/>
          </a:xfrm>
          <a:prstGeom prst="roundRect">
            <a:avLst>
              <a:gd name="adj" fmla="val 2400"/>
            </a:avLst>
          </a:prstGeom>
          <a:solidFill>
            <a:srgbClr val="EDF7F0"/>
          </a:solidFill>
          <a:ln w="22225">
            <a:solidFill>
              <a:srgbClr val="146C43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Cartoncin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21480000">
            <a:off x="960119" y="1889759"/>
            <a:ext cx="11887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ADB5BD"/>
            </a:solidFill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6" name="Pittogramma" descr="Pittogramma: un telefono con il numero 1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80000">
            <a:off x="1043330" y="1972970"/>
            <a:ext cx="1022299" cy="1022299"/>
          </a:xfrm>
          <a:prstGeom prst="rect">
            <a:avLst/>
          </a:prstGeom>
        </p:spPr>
      </p:pic>
      <p:sp>
        <p:nvSpPr>
          <p:cNvPr id="7" name="Ricordiamo 1"/>
          <p:cNvSpPr txBox="1"/>
          <p:nvPr/>
        </p:nvSpPr>
        <p:spPr>
          <a:xfrm>
            <a:off x="2468880" y="1783080"/>
            <a:ext cx="8869680" cy="1402080"/>
          </a:xfrm>
          <a:prstGeom prst="rect">
            <a:avLst/>
          </a:prstGeom>
          <a:noFill/>
        </p:spPr>
        <p:txBody>
          <a:bodyPr wrap="square" anchor="ctr" lIns="73152" r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1" lang="it-IT">
                <a:solidFill>
                  <a:srgbClr val="212529"/>
                </a:solidFill>
                <a:latin typeface="Arial"/>
              </a:rPr>
              <a:t>112: un numero solo per tutte le emergenze.</a:t>
            </a:r>
          </a:p>
        </p:txBody>
      </p:sp>
      <p:sp>
        <p:nvSpPr>
          <p:cNvPr id="8" name="Cartoncin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20000">
            <a:off x="960119" y="3291840"/>
            <a:ext cx="11887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ADB5BD"/>
            </a:solidFill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9" name="Pittogramma" descr="Pittogramma: una mapp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20000">
            <a:off x="1043330" y="3375050"/>
            <a:ext cx="1022299" cy="1022299"/>
          </a:xfrm>
          <a:prstGeom prst="rect">
            <a:avLst/>
          </a:prstGeom>
        </p:spPr>
      </p:pic>
      <p:sp>
        <p:nvSpPr>
          <p:cNvPr id="10" name="Ricordiamo 2"/>
          <p:cNvSpPr txBox="1"/>
          <p:nvPr/>
        </p:nvSpPr>
        <p:spPr>
          <a:xfrm>
            <a:off x="2468880" y="3185160"/>
            <a:ext cx="8869680" cy="1402080"/>
          </a:xfrm>
          <a:prstGeom prst="rect">
            <a:avLst/>
          </a:prstGeom>
          <a:noFill/>
        </p:spPr>
        <p:txBody>
          <a:bodyPr wrap="square" anchor="ctr" lIns="73152" r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1" lang="it-IT">
                <a:solidFill>
                  <a:srgbClr val="212529"/>
                </a:solidFill>
                <a:latin typeface="Arial"/>
              </a:rPr>
              <a:t>Di’ chi sei, dove sei, che cosa è successo, se ci sono feriti.</a:t>
            </a:r>
          </a:p>
        </p:txBody>
      </p:sp>
      <p:sp>
        <p:nvSpPr>
          <p:cNvPr id="11" name="Cartoncin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21540000">
            <a:off x="960119" y="4693920"/>
            <a:ext cx="11887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ADB5BD"/>
            </a:solidFill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12" name="Pittogramma" descr="Pittogramma: una persona seduta, tranquill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540000">
            <a:off x="1043330" y="4777130"/>
            <a:ext cx="1022299" cy="1022299"/>
          </a:xfrm>
          <a:prstGeom prst="rect">
            <a:avLst/>
          </a:prstGeom>
        </p:spPr>
      </p:pic>
      <p:sp>
        <p:nvSpPr>
          <p:cNvPr id="13" name="Ricordiamo 3"/>
          <p:cNvSpPr txBox="1"/>
          <p:nvPr/>
        </p:nvSpPr>
        <p:spPr>
          <a:xfrm>
            <a:off x="2468880" y="4587240"/>
            <a:ext cx="8869680" cy="1402080"/>
          </a:xfrm>
          <a:prstGeom prst="rect">
            <a:avLst/>
          </a:prstGeom>
          <a:noFill/>
        </p:spPr>
        <p:txBody>
          <a:bodyPr wrap="square" anchor="ctr" lIns="73152" r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1" lang="it-IT">
                <a:solidFill>
                  <a:srgbClr val="212529"/>
                </a:solidFill>
                <a:latin typeface="Arial"/>
              </a:rPr>
              <a:t>Parla con calma e non riattaccare.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ennellata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48080"/>
            <a:ext cx="5014074" cy="2011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228600"/>
            <a:ext cx="10972800" cy="1230630"/>
          </a:xfrm>
        </p:spPr>
        <p:txBody>
          <a:bodyPr wrap="square" anchor="b">
            <a:noAutofit/>
          </a:bodyPr>
          <a:lstStyle/>
          <a:p>
            <a:pPr algn="l"/>
            <a:r>
              <a:rPr sz="4600" b="0" lang="it-IT">
                <a:solidFill>
                  <a:srgbClr val="003366"/>
                </a:solidFill>
                <a:latin typeface="Edu NSW ACT Cursive"/>
              </a:rPr>
              <a:t>Per saperne di più</a:t>
            </a:r>
          </a:p>
        </p:txBody>
      </p:sp>
      <p:sp>
        <p:nvSpPr>
          <p:cNvPr id="4" name="Riquadr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965960"/>
            <a:ext cx="10972800" cy="4526280"/>
          </a:xfrm>
          <a:prstGeom prst="roundRect">
            <a:avLst>
              <a:gd name="adj" fmla="val 2424"/>
            </a:avLst>
          </a:prstGeom>
          <a:noFill/>
          <a:ln w="19050">
            <a:solidFill>
              <a:srgbClr val="003366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Linguetta"/>
          <p:cNvSpPr/>
          <p:nvPr/>
        </p:nvSpPr>
        <p:spPr>
          <a:xfrm>
            <a:off x="868680" y="1508760"/>
            <a:ext cx="4014155" cy="590550"/>
          </a:xfrm>
          <a:prstGeom prst="round2SameRect">
            <a:avLst>
              <a:gd name="adj1" fmla="val 28000"/>
              <a:gd name="adj2" fmla="val 0"/>
            </a:avLst>
          </a:prstGeom>
          <a:solidFill>
            <a:srgbClr val="DCEEFA"/>
          </a:solidFill>
          <a:ln w="15875">
            <a:solidFill>
              <a:srgbClr val="003366"/>
            </a:solidFill>
          </a:ln>
        </p:spPr>
        <p:txBody>
          <a:bodyPr rtlCol="0" anchor="ctr" wrap="none" lIns="182880" rIns="182880" tIns="0" bIns="0">
            <a:noAutofit/>
          </a:bodyPr>
          <a:lstStyle/>
          <a:p>
            <a:pPr algn="l"/>
            <a:r>
              <a:rPr sz="3000" b="0" lang="it-IT">
                <a:solidFill>
                  <a:srgbClr val="003366"/>
                </a:solidFill>
                <a:latin typeface="Edu NSW ACT Cursive"/>
              </a:rPr>
              <a:t>Le pagine del sito</a:t>
            </a:r>
          </a:p>
        </p:txBody>
      </p:sp>
      <p:sp>
        <p:nvSpPr>
          <p:cNvPr id="6" name="Fonti"/>
          <p:cNvSpPr txBox="1"/>
          <p:nvPr/>
        </p:nvSpPr>
        <p:spPr>
          <a:xfrm>
            <a:off x="914400" y="2148840"/>
            <a:ext cx="10424160" cy="4206240"/>
          </a:xfrm>
          <a:prstGeom prst="rect">
            <a:avLst/>
          </a:prstGeom>
          <a:noFill/>
        </p:spPr>
        <p:txBody>
          <a:bodyPr wrap="square" anchor="t" lIns="73152" rIns="73152">
            <a:noAutofit/>
          </a:bodyPr>
          <a:lstStyle/>
          <a:p>
            <a:pPr marL="384048" indent="-384048">
              <a:spcAft>
                <a:spcPts val="400"/>
              </a:spcAft>
              <a:buClr>
                <a:srgbClr val="003366"/>
              </a:buClr>
              <a:buFont typeface="Arial"/>
              <a:buChar char="•"/>
            </a:pPr>
            <a:r>
              <a:rPr sz="2400" b="0" lang="it-IT" u="sng">
                <a:solidFill>
                  <a:srgbClr val="003366"/>
                </a:solidFill>
                <a:latin typeface="Arial"/>
                <a:hlinkClick r:id="rId3"/>
              </a:rPr>
              <a:t>Chiamare il 112: come fare bene una segnalazione</a:t>
            </a:r>
          </a:p>
          <a:p>
            <a:pPr marL="384048" indent="-384048">
              <a:spcAft>
                <a:spcPts val="400"/>
              </a:spcAft>
              <a:buClr>
                <a:srgbClr val="003366"/>
              </a:buClr>
              <a:buFont typeface="Arial"/>
              <a:buChar char="•"/>
            </a:pPr>
            <a:r>
              <a:rPr sz="2400" b="0" lang="it-IT" u="sng">
                <a:solidFill>
                  <a:srgbClr val="003366"/>
                </a:solidFill>
                <a:latin typeface="Arial"/>
                <a:hlinkClick r:id="rId4"/>
              </a:rPr>
              <a:t>Scheda «Chiamo il 112 — Primaria»</a:t>
            </a:r>
          </a:p>
          <a:p>
            <a:pPr marL="384048" indent="-384048">
              <a:spcAft>
                <a:spcPts val="400"/>
              </a:spcAft>
              <a:buClr>
                <a:srgbClr val="003366"/>
              </a:buClr>
              <a:buFont typeface="Arial"/>
              <a:buChar char="•"/>
            </a:pPr>
            <a:r>
              <a:rPr sz="2400" b="0" lang="it-IT" u="sng">
                <a:solidFill>
                  <a:srgbClr val="003366"/>
                </a:solidFill>
                <a:latin typeface="Arial"/>
                <a:hlinkClick r:id="rId5"/>
              </a:rPr>
              <a:t>Scheda «Il numero 112 — Primaria»</a:t>
            </a:r>
          </a:p>
          <a:p>
            <a:pPr marL="384048" indent="-384048">
              <a:spcAft>
                <a:spcPts val="400"/>
              </a:spcAft>
              <a:buClr>
                <a:srgbClr val="003366"/>
              </a:buClr>
              <a:buFont typeface="Arial"/>
              <a:buChar char="•"/>
            </a:pPr>
            <a:r>
              <a:rPr sz="2400" b="0" lang="it-IT" u="sng">
                <a:solidFill>
                  <a:srgbClr val="003366"/>
                </a:solidFill>
                <a:latin typeface="Arial"/>
                <a:hlinkClick r:id="rId6"/>
              </a:rPr>
              <a:t>Biblioteca delle idee sbagliate: il numero unico</a:t>
            </a:r>
          </a:p>
          <a:p>
            <a:pPr marL="384048" indent="-384048">
              <a:spcAft>
                <a:spcPts val="400"/>
              </a:spcAft>
              <a:buClr>
                <a:srgbClr val="003366"/>
              </a:buClr>
              <a:buFont typeface="Arial"/>
              <a:buChar char="•"/>
            </a:pPr>
            <a:r>
              <a:rPr sz="2400" b="0" lang="it-IT" u="sng">
                <a:solidFill>
                  <a:srgbClr val="003366"/>
                </a:solidFill>
                <a:latin typeface="Arial"/>
                <a:hlinkClick r:id="rId7"/>
              </a:rPr>
              <a:t>Biblioteca delle idee sbagliate: chiamare il Gruppo</a:t>
            </a:r>
          </a:p>
          <a:p>
            <a:pPr marL="384048" indent="-384048">
              <a:spcAft>
                <a:spcPts val="400"/>
              </a:spcAft>
              <a:buClr>
                <a:srgbClr val="003366"/>
              </a:buClr>
              <a:buFont typeface="Arial"/>
              <a:buChar char="•"/>
            </a:pPr>
            <a:r>
              <a:rPr sz="2400" b="0" lang="it-IT" u="sng">
                <a:solidFill>
                  <a:srgbClr val="003366"/>
                </a:solidFill>
                <a:latin typeface="Arial"/>
                <a:hlinkClick r:id="rId8"/>
              </a:rPr>
              <a:t>Rischio incendi boschivi</a:t>
            </a:r>
          </a:p>
          <a:p>
            <a:pPr marL="384048" indent="-384048">
              <a:spcAft>
                <a:spcPts val="400"/>
              </a:spcAft>
              <a:buClr>
                <a:srgbClr val="003366"/>
              </a:buClr>
              <a:buFont typeface="Arial"/>
              <a:buChar char="•"/>
            </a:pPr>
            <a:r>
              <a:rPr sz="2400" b="0" lang="it-IT" u="sng">
                <a:solidFill>
                  <a:srgbClr val="003366"/>
                </a:solidFill>
                <a:latin typeface="Arial"/>
                <a:hlinkClick r:id="rId9"/>
              </a:rPr>
              <a:t>Percorsi didattici: Percorso 1</a:t>
            </a:r>
          </a:p>
          <a:p>
            <a:pPr>
              <a:spcBef>
                <a:spcPts val="1000"/>
              </a:spcBef>
            </a:pPr>
            <a:r>
              <a:rPr sz="2400" b="0" lang="it-IT">
                <a:solidFill>
                  <a:srgbClr val="212529"/>
                </a:solidFill>
                <a:latin typeface="Arial"/>
              </a:rPr>
              <a:t>Tutte le pagine sono su protezionecivilegenzano.it.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ennellata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85672"/>
            <a:ext cx="2309164" cy="2011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228600"/>
            <a:ext cx="10972800" cy="1280160"/>
          </a:xfrm>
        </p:spPr>
        <p:txBody>
          <a:bodyPr wrap="square" anchor="b">
            <a:noAutofit/>
          </a:bodyPr>
          <a:lstStyle/>
          <a:p>
            <a:pPr algn="l"/>
            <a:r>
              <a:rPr sz="4800" b="0" lang="it-IT">
                <a:solidFill>
                  <a:srgbClr val="003366"/>
                </a:solidFill>
                <a:latin typeface="Edu NSW ACT Cursive"/>
              </a:rPr>
              <a:t>Grazie!</a:t>
            </a:r>
          </a:p>
        </p:txBody>
      </p:sp>
      <p:sp>
        <p:nvSpPr>
          <p:cNvPr id="4" name="Crediti"/>
          <p:cNvSpPr txBox="1"/>
          <p:nvPr/>
        </p:nvSpPr>
        <p:spPr>
          <a:xfrm>
            <a:off x="640080" y="1645920"/>
            <a:ext cx="10972800" cy="2560320"/>
          </a:xfrm>
          <a:prstGeom prst="rect">
            <a:avLst/>
          </a:prstGeom>
          <a:noFill/>
        </p:spPr>
        <p:txBody>
          <a:bodyPr wrap="square" anchor="t" lIns="73152" rIns="73152">
            <a:noAutofit/>
          </a:bodyPr>
          <a:lstStyle/>
          <a:p>
            <a:pPr algn="l">
              <a:spcAft>
                <a:spcPts val="600"/>
              </a:spcAft>
            </a:pPr>
            <a:r>
              <a:rPr sz="2400" b="0" lang="it-IT">
                <a:solidFill>
                  <a:srgbClr val="212529"/>
                </a:solidFill>
                <a:latin typeface="Arial"/>
              </a:rPr>
              <a:t>Testi e disegni: Gruppo Comunale Volontari di Protezione Civile di Genzano di Roma.</a:t>
            </a:r>
          </a:p>
          <a:p>
            <a:pPr algn="l">
              <a:spcAft>
                <a:spcPts val="600"/>
              </a:spcAft>
            </a:pPr>
            <a:r>
              <a:rPr sz="2400" b="0" lang="it-IT">
                <a:solidFill>
                  <a:srgbClr val="212529"/>
                </a:solidFill>
                <a:latin typeface="Arial"/>
              </a:rPr>
              <a:t>Pittogrammi: Sergio Palao, ARASAAC (arasaac.org), proprietà del Governo di Aragona.</a:t>
            </a:r>
          </a:p>
          <a:p>
            <a:pPr algn="l">
              <a:spcAft>
                <a:spcPts val="0"/>
              </a:spcAft>
            </a:pPr>
            <a:r>
              <a:rPr sz="2400" b="0" lang="it-IT">
                <a:solidFill>
                  <a:srgbClr val="212529"/>
                </a:solidFill>
                <a:latin typeface="Arial"/>
              </a:rPr>
              <a:t>Licenza: CC BY-NC-SA 4.0. Si può riusare citando la fonte, senza scopo di lucro.</a:t>
            </a:r>
          </a:p>
        </p:txBody>
      </p:sp>
      <p:pic>
        <p:nvPicPr>
          <p:cNvPr id="5" name="Logo Quality Label" descr="Logo Quality Label del Corpo europeo di solidarietà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39" y="4434840"/>
            <a:ext cx="1645920" cy="1645920"/>
          </a:xfrm>
          <a:prstGeom prst="rect">
            <a:avLst/>
          </a:prstGeom>
        </p:spPr>
      </p:pic>
      <p:sp>
        <p:nvSpPr>
          <p:cNvPr id="6" name="Codice di accreditamento"/>
          <p:cNvSpPr txBox="1"/>
          <p:nvPr/>
        </p:nvSpPr>
        <p:spPr>
          <a:xfrm>
            <a:off x="2560320" y="4526280"/>
            <a:ext cx="3749039" cy="1463040"/>
          </a:xfrm>
          <a:prstGeom prst="rect">
            <a:avLst/>
          </a:prstGeom>
          <a:noFill/>
        </p:spPr>
        <p:txBody>
          <a:bodyPr wrap="square" anchor="ctr" lIns="73152" rIns="73152">
            <a:noAutofit/>
          </a:bodyPr>
          <a:lstStyle/>
          <a:p>
            <a:r>
              <a:rPr sz="2400" b="0" lang="it-IT">
                <a:solidFill>
                  <a:srgbClr val="212529"/>
                </a:solidFill>
                <a:latin typeface="Arial"/>
              </a:rPr>
              <a:t>Corpo europeo di solidarietà</a:t>
            </a:r>
          </a:p>
          <a:p>
            <a:r>
              <a:rPr sz="2600" b="1" lang="it-IT">
                <a:solidFill>
                  <a:srgbClr val="003366"/>
                </a:solidFill>
                <a:latin typeface="Arial"/>
              </a:rPr>
              <a:t>Codice E10435833</a:t>
            </a:r>
          </a:p>
        </p:txBody>
      </p:sp>
      <p:pic>
        <p:nvPicPr>
          <p:cNvPr id="7" name="Logo FE.PI.VOL." descr="Logo del Coordinamento FE.PI.VOL., Federazione Pronto Intervento Volontaria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4434840"/>
            <a:ext cx="1645920" cy="1645920"/>
          </a:xfrm>
          <a:prstGeom prst="rect">
            <a:avLst/>
          </a:prstGeom>
        </p:spPr>
      </p:pic>
      <p:pic>
        <p:nvPicPr>
          <p:cNvPr id="8" name="Logo SNPC Volontariato" descr="Logo del Servizio nazionale della protezione civile, Volontariat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0" y="4348772"/>
            <a:ext cx="1508760" cy="18180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ppunti illustrati">
      <a:dk1>
        <a:srgbClr val="212529"/>
      </a:dk1>
      <a:lt1>
        <a:srgbClr val="FFFFFF"/>
      </a:lt1>
      <a:dk2>
        <a:srgbClr val="003366"/>
      </a:dk2>
      <a:lt2>
        <a:srgbClr val="FFFDF7"/>
      </a:lt2>
      <a:accent1>
        <a:srgbClr val="003366"/>
      </a:accent1>
      <a:accent2>
        <a:srgbClr val="B45309"/>
      </a:accent2>
      <a:accent3>
        <a:srgbClr val="146C43"/>
      </a:accent3>
      <a:accent4>
        <a:srgbClr val="B02A37"/>
      </a:accent4>
      <a:accent5>
        <a:srgbClr val="0369A1"/>
      </a:accent5>
      <a:accent6>
        <a:srgbClr val="6F42C1"/>
      </a:accent6>
      <a:hlink>
        <a:srgbClr val="003366"/>
      </a:hlink>
      <a:folHlink>
        <a:srgbClr val="4A2C7F"/>
      </a:folHlink>
    </a:clrScheme>
    <a:fontScheme name="Appunti illustrati">
      <a:majorFont>
        <a:latin typeface="Edu NSW ACT Cursiv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PresentationFormat>Widescreen</PresentationFormat>
  <Slides>14</Slides>
  <Notes>14</Notes>
  <HiddenSlides>0</HiddenSlides>
  <MMClips>0</MMClips>
  <ScaleCrop>false</ScaleCrop>
  <Company>Gruppo Comunale Volontari di Protezione Civile di Genzano di Roma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Lezione 2: Il 112, il numero delle emergenze</dc:title>
  <dc:subject>Percorso 1 · Protezione Civile di base · Primaria, classi III-V</dc:subject>
  <dc:creator>Gruppo Comunale Volontari di Protezione Civile di Genzano di Roma</dc:creator>
  <cp:keywords>protezione civile; scuola primaria; educazione civica; Genzano di Roma</cp:keywords>
  <dc:description>Slide per chi conduce le lezioni nelle scuole, con le note per chi parla in ogni slide.</dc:description>
  <cp:lastModifiedBy>Gruppo Comunale Volontari di Protezione Civile di Genzano di Roma</cp:lastModifiedBy>
  <cp:revision>1</cp:revision>
  <dcterms:created xsi:type="dcterms:W3CDTF">2026-10-16T09:00:00Z</dcterms:created>
  <dcterms:modified xsi:type="dcterms:W3CDTF">2026-10-16T09:00:00Z</dcterms:modified>
  <cp:category>Formazione</cp:category>
  <dc:language>it-IT</dc:language>
  <cp:lastPrinted>2026-10-16T09:00:00Z</cp:lastPrinted>
</cp:coreProperties>
</file>